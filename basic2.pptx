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399" r:id="rId3"/>
    <p:sldId id="402" r:id="rId4"/>
    <p:sldId id="403" r:id="rId5"/>
    <p:sldId id="404" r:id="rId6"/>
    <p:sldId id="405" r:id="rId7"/>
    <p:sldId id="409" r:id="rId8"/>
    <p:sldId id="406" r:id="rId9"/>
    <p:sldId id="410" r:id="rId10"/>
    <p:sldId id="407" r:id="rId11"/>
    <p:sldId id="408" r:id="rId12"/>
    <p:sldId id="257" r:id="rId13"/>
    <p:sldId id="379" r:id="rId14"/>
    <p:sldId id="425" r:id="rId15"/>
    <p:sldId id="454" r:id="rId16"/>
    <p:sldId id="455" r:id="rId17"/>
    <p:sldId id="394" r:id="rId18"/>
    <p:sldId id="395" r:id="rId19"/>
    <p:sldId id="411" r:id="rId20"/>
    <p:sldId id="413" r:id="rId21"/>
    <p:sldId id="412" r:id="rId22"/>
    <p:sldId id="416" r:id="rId23"/>
    <p:sldId id="383" r:id="rId24"/>
    <p:sldId id="417" r:id="rId25"/>
    <p:sldId id="418" r:id="rId26"/>
    <p:sldId id="419" r:id="rId27"/>
    <p:sldId id="420" r:id="rId28"/>
    <p:sldId id="422" r:id="rId29"/>
    <p:sldId id="423" r:id="rId30"/>
    <p:sldId id="424" r:id="rId31"/>
    <p:sldId id="421" r:id="rId32"/>
    <p:sldId id="426" r:id="rId33"/>
    <p:sldId id="386" r:id="rId34"/>
    <p:sldId id="428" r:id="rId35"/>
    <p:sldId id="442" r:id="rId36"/>
    <p:sldId id="441" r:id="rId37"/>
    <p:sldId id="387" r:id="rId38"/>
    <p:sldId id="437" r:id="rId39"/>
    <p:sldId id="438" r:id="rId40"/>
    <p:sldId id="388" r:id="rId41"/>
    <p:sldId id="443" r:id="rId42"/>
    <p:sldId id="323" r:id="rId43"/>
    <p:sldId id="446" r:id="rId44"/>
    <p:sldId id="447" r:id="rId45"/>
    <p:sldId id="448" r:id="rId46"/>
    <p:sldId id="390" r:id="rId47"/>
    <p:sldId id="451" r:id="rId48"/>
    <p:sldId id="452" r:id="rId49"/>
    <p:sldId id="391" r:id="rId50"/>
    <p:sldId id="392" r:id="rId51"/>
    <p:sldId id="431" r:id="rId52"/>
    <p:sldId id="432" r:id="rId53"/>
    <p:sldId id="433" r:id="rId54"/>
    <p:sldId id="434" r:id="rId55"/>
    <p:sldId id="435" r:id="rId56"/>
    <p:sldId id="436" r:id="rId57"/>
    <p:sldId id="453" r:id="rId58"/>
    <p:sldId id="372" r:id="rId59"/>
    <p:sldId id="361" r:id="rId60"/>
    <p:sldId id="319" r:id="rId61"/>
    <p:sldId id="429" r:id="rId62"/>
    <p:sldId id="349" r:id="rId63"/>
    <p:sldId id="324" r:id="rId64"/>
    <p:sldId id="373" r:id="rId65"/>
    <p:sldId id="321" r:id="rId66"/>
    <p:sldId id="374" r:id="rId67"/>
    <p:sldId id="364" r:id="rId68"/>
    <p:sldId id="363" r:id="rId69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816C0C-9EAD-5045-A1AE-D0071E40A392}">
          <p14:sldIdLst>
            <p14:sldId id="256"/>
            <p14:sldId id="399"/>
            <p14:sldId id="402"/>
            <p14:sldId id="403"/>
            <p14:sldId id="404"/>
            <p14:sldId id="405"/>
            <p14:sldId id="409"/>
            <p14:sldId id="406"/>
            <p14:sldId id="410"/>
            <p14:sldId id="407"/>
            <p14:sldId id="408"/>
            <p14:sldId id="257"/>
          </p14:sldIdLst>
        </p14:section>
        <p14:section name="Введение" id="{A1773918-1110-2748-AACB-08DF525C6FC1}">
          <p14:sldIdLst>
            <p14:sldId id="379"/>
            <p14:sldId id="425"/>
            <p14:sldId id="454"/>
            <p14:sldId id="455"/>
            <p14:sldId id="394"/>
            <p14:sldId id="395"/>
          </p14:sldIdLst>
        </p14:section>
        <p14:section name="Основы" id="{1AB134E5-B0D4-AC41-99C7-28F18DDF3453}">
          <p14:sldIdLst>
            <p14:sldId id="411"/>
            <p14:sldId id="413"/>
            <p14:sldId id="412"/>
            <p14:sldId id="416"/>
            <p14:sldId id="383"/>
            <p14:sldId id="417"/>
            <p14:sldId id="418"/>
            <p14:sldId id="419"/>
            <p14:sldId id="420"/>
            <p14:sldId id="422"/>
            <p14:sldId id="423"/>
            <p14:sldId id="424"/>
            <p14:sldId id="421"/>
            <p14:sldId id="426"/>
          </p14:sldIdLst>
        </p14:section>
        <p14:section name="Ветки" id="{5309686B-1D9A-0445-9BF6-69CE17370B77}">
          <p14:sldIdLst>
            <p14:sldId id="386"/>
            <p14:sldId id="428"/>
            <p14:sldId id="442"/>
            <p14:sldId id="441"/>
            <p14:sldId id="387"/>
            <p14:sldId id="437"/>
            <p14:sldId id="438"/>
            <p14:sldId id="388"/>
            <p14:sldId id="443"/>
            <p14:sldId id="323"/>
            <p14:sldId id="446"/>
            <p14:sldId id="447"/>
            <p14:sldId id="448"/>
          </p14:sldIdLst>
        </p14:section>
        <p14:section name="GitHub" id="{9200F8DE-E056-B34E-8304-9E64981B3DBC}">
          <p14:sldIdLst>
            <p14:sldId id="390"/>
            <p14:sldId id="451"/>
            <p14:sldId id="452"/>
            <p14:sldId id="391"/>
            <p14:sldId id="392"/>
          </p14:sldIdLst>
        </p14:section>
        <p14:section name="Best practices" id="{AAA71CEA-55FE-9444-AE9F-B7C93E8ACC47}">
          <p14:sldIdLst>
            <p14:sldId id="431"/>
            <p14:sldId id="432"/>
            <p14:sldId id="433"/>
            <p14:sldId id="434"/>
            <p14:sldId id="435"/>
            <p14:sldId id="436"/>
            <p14:sldId id="453"/>
            <p14:sldId id="372"/>
            <p14:sldId id="361"/>
            <p14:sldId id="319"/>
            <p14:sldId id="429"/>
            <p14:sldId id="349"/>
            <p14:sldId id="324"/>
            <p14:sldId id="373"/>
            <p14:sldId id="321"/>
            <p14:sldId id="374"/>
            <p14:sldId id="364"/>
            <p14:sldId id="3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9ED5"/>
    <a:srgbClr val="4DA72E"/>
    <a:srgbClr val="C00000"/>
    <a:srgbClr val="EF3B2C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43"/>
    <p:restoredTop sz="82235"/>
  </p:normalViewPr>
  <p:slideViewPr>
    <p:cSldViewPr snapToGrid="0">
      <p:cViewPr varScale="1">
        <p:scale>
          <a:sx n="110" d="100"/>
          <a:sy n="110" d="100"/>
        </p:scale>
        <p:origin x="968" y="176"/>
      </p:cViewPr>
      <p:guideLst/>
    </p:cSldViewPr>
  </p:slideViewPr>
  <p:outlineViewPr>
    <p:cViewPr>
      <p:scale>
        <a:sx n="33" d="100"/>
        <a:sy n="33" d="100"/>
      </p:scale>
      <p:origin x="0" y="-119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5F5216-AE74-114D-86F8-D8BCED9ED3D1}" type="datetimeFigureOut">
              <a:rPr lang="en-RU" smtClean="0"/>
              <a:t>9/13/25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E0D41-93C9-A64D-BD89-67176F36031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409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Кирилл</a:t>
            </a:r>
          </a:p>
          <a:p>
            <a:r>
              <a:rPr lang="ru-RU" dirty="0"/>
              <a:t>Центр </a:t>
            </a:r>
            <a:r>
              <a:rPr lang="ru-RU" dirty="0" err="1"/>
              <a:t>онкогематологи</a:t>
            </a:r>
            <a:r>
              <a:rPr lang="ru-RU" dirty="0"/>
              <a:t> Димы Рогачева</a:t>
            </a:r>
          </a:p>
          <a:p>
            <a:r>
              <a:rPr lang="ru-RU" dirty="0"/>
              <a:t>Используем </a:t>
            </a:r>
            <a:r>
              <a:rPr lang="en-US" dirty="0"/>
              <a:t>Git </a:t>
            </a:r>
            <a:r>
              <a:rPr lang="ru-RU" dirty="0"/>
              <a:t>1) для совместной работы 2) для коммуникации и 3) отчетности, у нас вокруг него построена работа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58880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5461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C1EE-6CAF-F85D-8FBE-31E05578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93FA1-CA46-8F19-4204-E1B6B3D77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5A0B8-451D-6A15-5B0F-61562C6AC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86C30-B0DC-7CAB-1E97-0C2D31F7B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8976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106CC-39DA-30CE-3303-F71E29E2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B436D-20D6-11E3-2016-BB969132E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F78DC-2453-D319-ABE5-E5B60CCC6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6C8C8-5021-7287-2C2D-53C9E8AC6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98775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8C3E-F7E9-8AB3-C8CD-459C8823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EBDA6-4DCB-78ED-C68A-179346A0F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1D292-C67E-D0FB-EB3A-F049D7DB3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425-F994-10FE-A37F-9C21514AB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04348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91EA9-6571-6DFC-CBED-3DC5C864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42BE7-9A50-2E05-E925-A03DEE2D2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80B39-2D9A-5831-324D-DC955CCE1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CFFA7-DD8E-5E93-36EC-5D3DFC492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98222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A316-A02D-E558-2BEB-A65B555D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A4C07-C950-B6F5-5943-997701990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C853B-12F9-A2C1-859B-64758F088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0DE96-59A8-F36D-4F96-4FE859845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13384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1DAEF-5182-1445-30C1-F25E7899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28063-47ED-7409-643D-4018E653C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74776-9020-BDD4-3002-500B4650B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проектом</a:t>
            </a:r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AC8E0-DAE2-B1A6-5A4C-B71D0BE53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19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966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AEC6A-F4E9-04D9-D19C-62DE3ED7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B3AA8F-D9D5-D152-3DFA-D860924BD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D7E2E-9551-723D-7ACF-AD2C56A1F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проектом</a:t>
            </a:r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EE7F7-0C41-8D6C-B360-F9F211449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98859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AD502-23E2-4FF2-8252-C46628DB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C9CFB-1CC0-7022-E0BF-77E69DFCC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AF05A-37B1-F580-E775-2C4EB36C7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9FEA7-45FF-515B-0C3A-71C1034C6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22670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FEC5-04D1-7B7C-460F-AD2F8D7DC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6280F-1A96-A1F5-7939-D20CC2EB3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239A6-8554-2271-3B86-38BA7A8E3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E74BB-D484-8EBC-4FD0-418122DB7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58101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9C169-C05E-336F-F602-F3635075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E98F6-C807-7939-CD9E-00C9B3252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07D4E-E291-03F2-20BE-37E9F906B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422C6-1795-CE5A-C187-D5E6E22CB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61233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9C4CC-19C2-8348-B08B-C603F3E5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03D71-BC62-E437-5D09-992E93FA0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33471-5523-B4FB-6195-F9767C650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839FF-DFAD-0B6A-13CB-7AA79FF9CA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48869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0FA4-173F-00C1-E704-01F256D5E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85822-4EB3-43CA-D1F0-205B0B6A7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6BFB0-9472-9DE2-5026-EC7AFA877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Сказать про создаем коммит / делаем коммит / коммитим (как в </a:t>
            </a:r>
            <a:r>
              <a:rPr lang="ru-RU" sz="1200"/>
              <a:t>англ.)</a:t>
            </a:r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51435-FAAC-8A16-49B6-D860318BA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37840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3EC7-1110-4AA0-C536-89F5E2F72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D20FA-D314-5495-A4A8-3E8C0E229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C9353-5D47-8A68-1C87-28EC16854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1EC88-6452-73DE-AC26-D9DFC4C86B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058314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13D1-039A-EB7B-5F18-07ABDF19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61A9C-AF73-FDD8-2D60-80986F3D9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4A9CF-10C4-B9A8-8BEA-2275C02BB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6EB3C-07C1-045D-A15E-4027805D0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058320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FCEA-2E6B-D2AC-8939-A775A6DD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19251-1992-CC44-DABD-4E6CF9E68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CBAE1-A410-AB8E-9208-6F82EC6FB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5DA59-A459-12BA-517A-8F052413B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30872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9013-1AD0-D8F3-BDAB-908E7FCAF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8AEC9F-C65E-B780-5ED1-5415C4B7C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124B1-4311-3C55-E95E-ADC5FFA51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CBF91-D563-5D75-B6D4-1C74631FC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96200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F3731-7126-F8E4-0B2D-C4F2812A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1654E-AA02-930D-9358-89556B243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078B9-914C-1959-C466-9D1BD6B6F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5FA83-14EB-AF02-9F67-03762BDB4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62716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F167-87AA-E7BA-064F-9862388A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1522D-1F2E-6657-C117-6D240AD2A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4277F-E593-3709-27FD-4900C85D2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Закон Миллера 7 +</a:t>
            </a:r>
            <a:r>
              <a:rPr lang="en-US" sz="1200" dirty="0"/>
              <a:t>/-</a:t>
            </a:r>
            <a:r>
              <a:rPr lang="ru-RU" sz="1200" dirty="0"/>
              <a:t> 2</a:t>
            </a:r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A183F-00AB-98F4-817E-4DF22AE65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57248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07725-5863-547B-5988-BA6E6F73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7AE1F-282C-DA93-36F8-DFC904147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FB39A-73F9-572E-DD06-521ECB771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AE381-149F-FA47-B324-2714A4235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56667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0371-2C71-6132-41E9-3A57E9DA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AF1B8-2A82-35A2-E694-99AFDCA55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F49BA-F94F-9762-A888-6F13E2EB3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E5942-4CBD-0656-EEDA-B55B4080F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416478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008AD-86EE-0D89-BF55-45DB5EAF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599DF-FEFF-26BD-B5B8-03C11CC43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EE201-28B4-8F06-04EC-8DB55BB96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6382E-6D6B-75AB-6E99-8719D82E5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75821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DCFE3-A33C-BA57-4F5A-CB49DF2F9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5AD76-C5AB-4DBC-87EA-C288B3659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56382-9CBD-57FF-DA44-AA82A9EE4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20822-BEA1-2F10-AD86-AA80690B7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062511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A0638-52A8-BD94-A47F-1CF8935AE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714D0-A173-A0F1-3BBE-83DA01049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07BD7-47A7-310B-2663-B5F762F69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92A2C-A2EA-FAAC-EB43-BDA23F194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82864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E057-5CC9-16FF-8BAF-5D1BA101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15500-7237-0CE5-FF04-0DDBA12F5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36150-00AC-B87B-8478-C648BA269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7A4A2-560C-EA4B-3E95-88EE1B245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37463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79511-CEE3-A9D2-DBD2-E4B27101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A8BA2-ED98-2D53-789F-5AA837D9D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E161F-5863-FE1F-0644-435C9F799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31364-C640-3F24-69DD-01AB67A4C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39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6551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3959-0803-0779-CE08-2EF41F8ED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1B57C-09E6-763B-704A-800BE2EA4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23F48-6D84-8D60-AA2E-952BE3DD1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636E9-8970-D880-8DE2-947745CF8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559705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8E2AC-CD99-4F90-B838-0E05D6C9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6A490-4518-2499-C55C-C58E22132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1940E-083F-9E4C-AFCE-872045C40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498F6-6BEF-5782-56DB-9BC97F711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671919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030061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8BCB-87CC-8DB5-D19E-4FAD9D49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FA149-F070-31F8-2A75-EAC233D56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12D55-2C6E-5858-F447-4D5E91E1A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5ADE4-FA31-1432-1644-5541828C0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604277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D058-58AC-E692-4101-5FC5CA6C8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471D9-F49E-D2A3-8914-B44BCFA6D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8AE0B-934C-FECF-6B17-B33E07DC3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D328C-9169-0F43-65A4-DC07399AC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056545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6D82-DC14-1179-9C3A-09E50279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1C37B-5B77-D36A-F8A2-231A2F663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DB90-F4F0-49F7-59CE-E763FD409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37AE2-8EE1-CAF1-1F7E-4DCD465E2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430903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66884-D250-1642-BBD7-30398BBE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EE951-FB25-C52D-F41C-6DDFE8FD3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20AA6-414C-9E10-1809-A868FA720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FB49C-2597-3508-537B-2DB0C9DEE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124164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94FE7-D0E1-A21A-9223-7565BFD6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68FDC-ECFD-85C7-2F44-A2006D727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14CB4-1859-7533-193E-6F24A8C5A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6AC9A-9489-F756-65A7-EEA1CD692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49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859827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63CB7-F48F-DA79-CB15-8753F10B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AF89B-C4B2-145B-86AB-ECBD58A9A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29ED7-301E-0CD8-083E-9A5076F21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32002-3B31-A4AB-176D-DFB5F9791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50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762684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56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476544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99644-0C7C-476B-736D-43F52193C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FC1A1-7833-55A4-441F-2EA3FE90A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08EBA-1443-2D8C-4DE9-E8E748AAC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31A3E-3390-FAB1-8AE5-9B4330C9E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57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12105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0C47-E9D0-6B5B-C35F-A98DE516D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81A527-69E5-9933-B95C-3C0940056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E1104-DDC6-BCE9-D907-23726CACB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D3812-FCC1-1A07-98BD-11F7D70D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52749-6B69-A61F-4003-0DAF54C58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07418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0542-0D8E-4B69-B30D-EB28FA3F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73B2E-8BFA-40C1-BCB2-416D102CC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EE93C-58F7-6518-217B-7070CE0E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55055-D9B9-E10C-4B2F-910849B8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3C712-E1C5-704B-4AA1-483D5563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8020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870E-1BAD-EA30-82E3-01DDF380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61B0F-650C-0858-BDCB-099228AC5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D223A-C3B4-CD6E-55DD-340AF99E2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FD5A8-1BC0-6563-02C4-824B6B70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27C00-F961-2B9C-083E-588BC93D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9319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382D-E888-E151-8903-7BE6DEB7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70E31-F8AA-9C67-9444-D59EA39C29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FBA1C-1C63-560E-6826-A7A9888E3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92CA7-D2F5-F0B8-7087-FE19E3F2F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030AE-DE84-695E-F22D-EBB45B16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CAE0A-2C3F-B2CD-5D1D-13EAF439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5744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F7D2-2CBA-9BC8-FE3C-814EDF2F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F0B56-DCE0-6967-AE23-E507A280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8077E-500F-3393-1789-BDCD15D46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AD54F-2BA4-4B45-03E4-3D265D23F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3B450-EED0-089F-FC19-F69997931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57329-9551-7A6D-6511-37ACD306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9C973-5BDE-16BA-F256-A58EE29F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3D7A0-3E26-EC14-CBB6-F3268903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0469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89AE-E204-0602-EE0E-36729B818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2D9B9-9F00-2B3A-ACC9-669C3CFC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13B9E-D8DD-F047-3CB7-A3EE6FFD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6AAEE-F519-7D64-2DCF-BED1ACC48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3163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B32BC-0579-61F2-DD3B-3B2C4554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618E5-9A28-57BA-FE28-DF7D0C45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A64B8-6B30-C1A0-C9D0-A6FA59F6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5198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5469-D030-525E-398A-A2CEA742E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FDFFD-5EC5-E5B6-F00C-DF823F7E5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3AD57-4311-E9F7-1957-9ED7C1BAE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FD0CD-9F83-9CE7-8C92-231031447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75AAE-8A99-3DCB-C383-8E412197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5F478-B5E5-94EA-A71A-32661849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23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A60BB-2FD4-92A4-D670-576996452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D0873-A45C-7EFB-0C12-22A9D13DE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E4438-31E0-31B6-388D-765F1D189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0FF21-AD80-1A5C-7649-8B56090D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876FE-95AA-4A75-5D84-2C3FB01D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AD267-F868-60EA-EEE2-1005DE4A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9577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5003-A5EA-3A1F-3C44-FD9D0D54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9472B-17F4-7DD9-AE2D-40CD0F27B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87EC1-4DB8-FBDC-8616-DE4339F8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68F33-155A-3ECF-4082-1BD00AA39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55CD0-4FF1-2FA3-1170-55802F20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6433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129C9-7189-7D9F-EB10-0415D7D91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60134-2FD2-482E-0B30-B952BD290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49905-A601-1B1D-1CFF-B0B0B2B6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7242A-D017-3F10-1D14-DB9A0F7F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83465-DCAF-CF68-315D-78C0BCD4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23270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C80FC-BAC1-F498-988F-9C4014E5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9409C-0B98-DB5F-09D9-504660503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5715A-752D-A969-3F1D-DDAF7477B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09F9A-9089-6443-AB94-B837FAF2A1B8}" type="datetimeFigureOut">
              <a:rPr lang="en-RU" smtClean="0"/>
              <a:t>9/13/25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840E3-49BB-945C-FC4C-A2C1130A8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FE91F-DBFB-B16A-DC91-10DA18B67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FFFA5-7565-224F-B0A0-BC25F36D181C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4861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B83D-7A21-B03C-7AD4-CFE6AC70A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2756" y="2488211"/>
            <a:ext cx="5362833" cy="1021752"/>
          </a:xfrm>
        </p:spPr>
        <p:txBody>
          <a:bodyPr/>
          <a:lstStyle/>
          <a:p>
            <a:pPr algn="l"/>
            <a:r>
              <a:rPr lang="ru-RU" dirty="0">
                <a:latin typeface="+mn-lt"/>
              </a:rPr>
              <a:t>Основы </a:t>
            </a:r>
            <a:r>
              <a:rPr lang="en-US" dirty="0">
                <a:latin typeface="+mn-lt"/>
              </a:rPr>
              <a:t>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01DEA-0D10-7D5A-AAAC-74FDA712D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8340" y="4369789"/>
            <a:ext cx="9144000" cy="1655762"/>
          </a:xfrm>
        </p:spPr>
        <p:txBody>
          <a:bodyPr/>
          <a:lstStyle/>
          <a:p>
            <a:r>
              <a:rPr lang="en-GB" dirty="0"/>
              <a:t>Kirill Voronin &lt;</a:t>
            </a:r>
            <a:r>
              <a:rPr lang="en-GB" dirty="0" err="1"/>
              <a:t>imvoroninkir@gmail.com</a:t>
            </a:r>
            <a:r>
              <a:rPr lang="en-GB" dirty="0"/>
              <a:t>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BA2B7-D495-146D-7FDE-843D61CE0A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208"/>
          <a:stretch>
            <a:fillRect/>
          </a:stretch>
        </p:blipFill>
        <p:spPr>
          <a:xfrm>
            <a:off x="7374238" y="2319637"/>
            <a:ext cx="1423773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39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D44E3-389E-B157-199F-524A5F47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0DF9-CEC2-F526-8316-E36ED896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использует </a:t>
            </a:r>
            <a:r>
              <a:rPr lang="en-US" dirty="0"/>
              <a:t>Git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4EAE3-032F-646C-26E8-65A72EDC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98623"/>
            <a:ext cx="7329616" cy="524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66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C56D8-FC61-E4F0-0204-62C5E442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0D98-FB7A-4AAD-40ED-293CDBC1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использует </a:t>
            </a:r>
            <a:r>
              <a:rPr lang="en-US" dirty="0"/>
              <a:t>Git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2C600-B6AE-EB3A-8E8F-7FA08D6E1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98623"/>
            <a:ext cx="7329616" cy="5248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33D109-8268-7B14-8D81-8C6A02F1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717" y="1609834"/>
            <a:ext cx="6037063" cy="524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4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D5C3-FDD4-E099-2D3F-45FCAF20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5E28-14C3-A2C5-4E6D-735BDD04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использует </a:t>
            </a:r>
            <a:r>
              <a:rPr lang="en-US" dirty="0"/>
              <a:t>Git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A2ED3-783F-1B02-5047-0156C91B0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98623"/>
            <a:ext cx="7329616" cy="5248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4B72A7-6739-F675-24B1-6EC15CFFA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39" y="1609834"/>
            <a:ext cx="6037063" cy="5248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964E4D-05CA-A71C-F021-FD5FA8E87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979" y="1387412"/>
            <a:ext cx="7772400" cy="519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80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04DF-6C8D-AE95-0F49-A9C0EDCB7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2200-6ACA-E528-20AA-C443938F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использует </a:t>
            </a:r>
            <a:r>
              <a:rPr lang="en-US" dirty="0"/>
              <a:t>Git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CEA70-A790-1CAB-AD81-50780BA6E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98623"/>
            <a:ext cx="7329616" cy="5248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1465A4-BFB9-A574-647C-C1F978E8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39" y="1609834"/>
            <a:ext cx="6037063" cy="5248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CB46F4-C223-99AA-A529-7F360878D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979" y="1387412"/>
            <a:ext cx="7772400" cy="519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CC9142-B137-43C6-DD9A-8FBDCE4B5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829" y="1551237"/>
            <a:ext cx="7772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93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78A0-E960-DD4B-71F5-D561F516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F7FE-3152-0AEE-31B4-DA2BD894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использует </a:t>
            </a:r>
            <a:r>
              <a:rPr lang="en-US" dirty="0"/>
              <a:t>Git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D0CD9-15B2-64E3-036E-AC7CE6C6B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498623"/>
            <a:ext cx="7329616" cy="52481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CDCA07-3E04-1527-DF2E-8D5A5693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39" y="1609834"/>
            <a:ext cx="6037063" cy="5248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B18799-890C-AA4C-5A9F-042978658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979" y="1387412"/>
            <a:ext cx="7772400" cy="519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76F7C2-83BB-F035-EA9A-45833B6B9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829" y="1551237"/>
            <a:ext cx="7772400" cy="502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CDC062-43CF-3A3B-5991-5CA43C8E2C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9757" y="2264971"/>
            <a:ext cx="7772400" cy="453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28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2556C-2E3E-EDD7-E237-4438648B6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BF68-B860-3745-8D52-BEEF5835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</a:t>
            </a:r>
            <a:r>
              <a:rPr lang="en-US" dirty="0"/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6B47C8-CE37-0CBA-F7FA-861D16DE9AF7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5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A8B3-DBBE-1C3D-9A48-25D4337C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</a:t>
            </a:r>
            <a:r>
              <a:rPr lang="en-US" dirty="0"/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4CF44CF-010B-0108-F13E-E1FA703BD771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Это удобно (со временем)</a:t>
            </a:r>
          </a:p>
        </p:txBody>
      </p:sp>
    </p:spTree>
    <p:extLst>
      <p:ext uri="{BB962C8B-B14F-4D97-AF65-F5344CB8AC3E}">
        <p14:creationId xmlns:p14="http://schemas.microsoft.com/office/powerpoint/2010/main" val="77297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66D9-1EF4-EC40-58A6-6CB5BE94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48F4-314D-5D6E-AD64-7B827335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</a:t>
            </a:r>
            <a:r>
              <a:rPr lang="en-US" dirty="0"/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D0C861-315D-45BF-D519-4AD69AB7D7D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Это удобно (со временем)</a:t>
            </a:r>
          </a:p>
          <a:p>
            <a:r>
              <a:rPr lang="ru-RU" dirty="0"/>
              <a:t>Домашнее задание</a:t>
            </a:r>
          </a:p>
          <a:p>
            <a:r>
              <a:rPr lang="ru-RU" dirty="0"/>
              <a:t>Проекты</a:t>
            </a:r>
          </a:p>
          <a:p>
            <a:r>
              <a:rPr lang="ru-RU" dirty="0"/>
              <a:t>Финальный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54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05FA-C11C-F51D-BF69-F65B7828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46080A-811D-99B4-3F0C-DCEFB0118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628" y="2273643"/>
            <a:ext cx="6910172" cy="4473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EFC00E-2B62-4491-F5C0-874BF4E6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</a:t>
            </a:r>
            <a:r>
              <a:rPr lang="en-US" dirty="0"/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8E8F86-4C7D-07C3-8E68-8B9ED6133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ru-RU" dirty="0"/>
              <a:t>Это удобно (со временем)</a:t>
            </a:r>
          </a:p>
          <a:p>
            <a:r>
              <a:rPr lang="ru-RU" dirty="0"/>
              <a:t>Домашнее задание</a:t>
            </a:r>
          </a:p>
          <a:p>
            <a:r>
              <a:rPr lang="ru-RU" dirty="0"/>
              <a:t>Проекты</a:t>
            </a:r>
          </a:p>
          <a:p>
            <a:r>
              <a:rPr lang="ru-RU" dirty="0"/>
              <a:t>Финальный проект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954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24575-BC33-C435-87E9-B185F19C2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1D448C-F2C3-B7E0-3610-7690AB9DC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628" y="2273643"/>
            <a:ext cx="6910172" cy="44739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7F52EE-F521-8D1B-CA79-32CAD5DF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1D68-E564-EC42-3378-4470F9019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ru-RU" dirty="0"/>
              <a:t>Это удобно (со временем)</a:t>
            </a:r>
          </a:p>
          <a:p>
            <a:r>
              <a:rPr lang="ru-RU" dirty="0"/>
              <a:t>Домашнее задание</a:t>
            </a:r>
          </a:p>
          <a:p>
            <a:r>
              <a:rPr lang="ru-RU" dirty="0"/>
              <a:t>Проекты</a:t>
            </a:r>
          </a:p>
          <a:p>
            <a:r>
              <a:rPr lang="ru-RU" dirty="0"/>
              <a:t>Финальный проект</a:t>
            </a:r>
            <a:endParaRPr lang="en-US" dirty="0"/>
          </a:p>
          <a:p>
            <a:r>
              <a:rPr lang="ru-RU" dirty="0"/>
              <a:t>Резюме</a:t>
            </a:r>
          </a:p>
        </p:txBody>
      </p:sp>
    </p:spTree>
    <p:extLst>
      <p:ext uri="{BB962C8B-B14F-4D97-AF65-F5344CB8AC3E}">
        <p14:creationId xmlns:p14="http://schemas.microsoft.com/office/powerpoint/2010/main" val="195790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49A5-D8D8-D051-3732-5F3E00B8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7DCFD-51F8-722F-FCB1-1AAB861D4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Освежим навыки с курса</a:t>
            </a:r>
          </a:p>
          <a:p>
            <a:r>
              <a:rPr lang="ru-RU" dirty="0"/>
              <a:t>Ответы на вопросы</a:t>
            </a:r>
          </a:p>
          <a:p>
            <a:r>
              <a:rPr lang="en-US" dirty="0"/>
              <a:t>Best practices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Создадим проект и совместный репозиторий для д/з</a:t>
            </a:r>
          </a:p>
          <a:p>
            <a:r>
              <a:rPr lang="ru-RU" dirty="0"/>
              <a:t>Каждый выполнит несколько шагов, синхронизируемся</a:t>
            </a:r>
            <a:endParaRPr lang="en-US" dirty="0"/>
          </a:p>
          <a:p>
            <a:r>
              <a:rPr lang="ru-RU" dirty="0"/>
              <a:t>Решим проблемы возникающие при совместной работе</a:t>
            </a:r>
          </a:p>
        </p:txBody>
      </p:sp>
    </p:spTree>
    <p:extLst>
      <p:ext uri="{BB962C8B-B14F-4D97-AF65-F5344CB8AC3E}">
        <p14:creationId xmlns:p14="http://schemas.microsoft.com/office/powerpoint/2010/main" val="1573435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23FD-DE50-B008-531E-27E72A95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AA88-DB0F-4BA8-FEFD-5AC9173B3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2620" cy="1325563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Git –</a:t>
            </a:r>
            <a:r>
              <a:rPr lang="ru-RU" dirty="0"/>
              <a:t> Система Контроля Версий </a:t>
            </a:r>
            <a:r>
              <a:rPr lang="en-US" dirty="0"/>
              <a:t>(VCS)</a:t>
            </a:r>
            <a:endParaRPr lang="en-RU" dirty="0"/>
          </a:p>
        </p:txBody>
      </p:sp>
      <p:pic>
        <p:nvPicPr>
          <p:cNvPr id="5" name="Picture 4" descr="A comic strip of a person sitting at a computer&#10;&#10;AI-generated content may be incorrect.">
            <a:extLst>
              <a:ext uri="{FF2B5EF4-FFF2-40B4-BE49-F238E27FC236}">
                <a16:creationId xmlns:a16="http://schemas.microsoft.com/office/drawing/2014/main" id="{52E531FC-F37B-60BD-C40E-6ECF9A514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12875"/>
            <a:ext cx="381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5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D6825-BA40-2A7E-4CA6-D130332F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D4C09-7D1E-0BEB-9647-BF8B412A8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97227"/>
            <a:ext cx="5844288" cy="36187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E6F0D2-9E28-E85E-F696-DC2DA765B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2637636"/>
            <a:ext cx="7772400" cy="466159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A9341FC-D211-04F9-4052-684548F3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2620" cy="1325563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Git –</a:t>
            </a:r>
            <a:r>
              <a:rPr lang="ru-RU" dirty="0"/>
              <a:t> Система Контроля Версий </a:t>
            </a:r>
            <a:r>
              <a:rPr lang="en-US" dirty="0"/>
              <a:t>(VCS)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08314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BD088-830A-ED6A-892C-F2594B89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C1EE1BE-D29D-C20C-09C5-502B2256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2620" cy="1325563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Git –</a:t>
            </a:r>
            <a:r>
              <a:rPr lang="ru-RU" dirty="0"/>
              <a:t> Система Контроля Версий </a:t>
            </a:r>
            <a:r>
              <a:rPr lang="en-US" dirty="0"/>
              <a:t>(VCS)</a:t>
            </a:r>
            <a:endParaRPr lang="en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A8463F-218E-CF5F-1A8B-65C93F8BA0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4329" y="1336488"/>
            <a:ext cx="7360595" cy="528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91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33368-DB1F-EC9A-8193-D6D21623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2EC5B60-73CD-3F48-8A84-2CEE8CAA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22620" cy="1325563"/>
          </a:xfrm>
        </p:spPr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Git –</a:t>
            </a:r>
            <a:r>
              <a:rPr lang="ru-RU" dirty="0"/>
              <a:t> Система Контроля Версий </a:t>
            </a:r>
            <a:r>
              <a:rPr lang="en-US" dirty="0"/>
              <a:t>(VCS)</a:t>
            </a:r>
            <a:endParaRPr lang="en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57A54A-B186-82DF-3398-1402BF45D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84" y="1336488"/>
            <a:ext cx="7443486" cy="528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90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6F5491-EDF9-9C08-9ABA-A572B8DC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5BCE-37B0-4395-6291-42C90EA8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Совместная работа</a:t>
            </a:r>
            <a:endParaRPr lang="en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6AFADD-2657-33FF-0429-9B0932B340AE}"/>
              </a:ext>
            </a:extLst>
          </p:cNvPr>
          <p:cNvSpPr txBox="1"/>
          <p:nvPr/>
        </p:nvSpPr>
        <p:spPr>
          <a:xfrm>
            <a:off x="838200" y="1690688"/>
            <a:ext cx="56977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Пример нездоровой коммуникации</a:t>
            </a:r>
          </a:p>
          <a:p>
            <a:br>
              <a:rPr lang="ru-RU" sz="2800" dirty="0"/>
            </a:br>
            <a:endParaRPr lang="ru-RU" sz="2800" dirty="0"/>
          </a:p>
          <a:p>
            <a:r>
              <a:rPr lang="ru-RU" sz="2800" dirty="0"/>
              <a:t>Пример здоровой коммуникации</a:t>
            </a:r>
          </a:p>
        </p:txBody>
      </p:sp>
    </p:spTree>
    <p:extLst>
      <p:ext uri="{BB962C8B-B14F-4D97-AF65-F5344CB8AC3E}">
        <p14:creationId xmlns:p14="http://schemas.microsoft.com/office/powerpoint/2010/main" val="217963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43BD1-F69B-7748-F438-5EAB69896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F132C-21B2-19E0-97D2-6A9E1882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Проблемы с установкой?</a:t>
            </a:r>
          </a:p>
          <a:p>
            <a:r>
              <a:rPr lang="ru-RU" dirty="0"/>
              <a:t>Вопросы по настройке (имя, </a:t>
            </a:r>
            <a:r>
              <a:rPr lang="en-US" dirty="0"/>
              <a:t>email)?</a:t>
            </a:r>
          </a:p>
          <a:p>
            <a:r>
              <a:rPr lang="ru-RU" dirty="0"/>
              <a:t>Были проблемы с терминалом?</a:t>
            </a:r>
          </a:p>
        </p:txBody>
      </p:sp>
    </p:spTree>
    <p:extLst>
      <p:ext uri="{BB962C8B-B14F-4D97-AF65-F5344CB8AC3E}">
        <p14:creationId xmlns:p14="http://schemas.microsoft.com/office/powerpoint/2010/main" val="3651752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031F-B541-6E72-8D04-A49CC73F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FCA3-7D04-FD1B-F7E7-2C8A5959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репозитория</a:t>
            </a:r>
            <a:endParaRPr lang="en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47DFAB-6338-D03E-0B14-726D48E7C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054" y="1571626"/>
            <a:ext cx="4064000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514E743-B961-42FC-59D6-EC621F0DA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386" y="1584326"/>
            <a:ext cx="40640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953696B-65DE-9708-6535-4CBCED753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118" y="3571875"/>
            <a:ext cx="4064000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A55381-D0CC-6875-E12D-1BE7BC9520F3}"/>
              </a:ext>
            </a:extLst>
          </p:cNvPr>
          <p:cNvCxnSpPr>
            <a:cxnSpLocks/>
          </p:cNvCxnSpPr>
          <p:nvPr/>
        </p:nvCxnSpPr>
        <p:spPr>
          <a:xfrm flipH="1">
            <a:off x="5116386" y="5090984"/>
            <a:ext cx="143269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968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6E106-DFB1-831F-3D64-1C0151E1C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EE0F-AFD2-47E2-C8B9-4DC2D11C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репозитория</a:t>
            </a:r>
            <a:endParaRPr lang="en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7DE6AB-C07F-B1DD-C288-4943BE5B9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51111" y="1571626"/>
            <a:ext cx="4035885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11867B3-0910-78CE-87C0-31839CE1F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5123762" y="1584326"/>
            <a:ext cx="4049248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C6E1A87-B88E-07B6-C1DB-C7BBF430F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2845576" y="3571875"/>
            <a:ext cx="4061084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CB93-CF30-BD77-8D95-09894791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5816-2EAC-AE83-C511-828424EE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репозитория</a:t>
            </a:r>
            <a:endParaRPr lang="en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6CA08-19C0-E554-6D64-8F231FAC0B5D}"/>
              </a:ext>
            </a:extLst>
          </p:cNvPr>
          <p:cNvSpPr txBox="1"/>
          <p:nvPr/>
        </p:nvSpPr>
        <p:spPr>
          <a:xfrm>
            <a:off x="838200" y="1690688"/>
            <a:ext cx="850668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В существующем проекте — в настройках проекта или</a:t>
            </a:r>
            <a:endParaRPr lang="en-US" sz="2800" dirty="0"/>
          </a:p>
          <a:p>
            <a:r>
              <a:rPr lang="en-US" sz="2800" dirty="0"/>
              <a:t>Tools ➔ Version Control ➔ Project Setup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В терминале </a:t>
            </a:r>
            <a:r>
              <a:rPr lang="en-US" sz="2800" dirty="0">
                <a:latin typeface="Monaco" pitchFamily="2" charset="77"/>
              </a:rPr>
              <a:t>git </a:t>
            </a:r>
            <a:r>
              <a:rPr lang="en-US" sz="2800" dirty="0" err="1">
                <a:latin typeface="Monaco" pitchFamily="2" charset="77"/>
              </a:rPr>
              <a:t>init</a:t>
            </a:r>
            <a:endParaRPr lang="en-US" sz="28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56393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5A74-8C0D-FEF3-0224-F3BF57DD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EC8E-44BE-E544-159F-9CC9D36DD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репозитория</a:t>
            </a:r>
            <a:endParaRPr lang="en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1AB58-5E0B-876F-23B7-CB9846F449D8}"/>
              </a:ext>
            </a:extLst>
          </p:cNvPr>
          <p:cNvSpPr txBox="1"/>
          <p:nvPr/>
        </p:nvSpPr>
        <p:spPr>
          <a:xfrm>
            <a:off x="838200" y="1690688"/>
            <a:ext cx="850668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В существующем проекте — в настройках проекта или</a:t>
            </a:r>
            <a:endParaRPr lang="en-US" sz="2800" dirty="0"/>
          </a:p>
          <a:p>
            <a:r>
              <a:rPr lang="en-US" sz="2800" dirty="0"/>
              <a:t>Tools ➔ Version Control ➔ Project Setup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В терминале </a:t>
            </a:r>
            <a:r>
              <a:rPr lang="en-US" sz="2800" dirty="0">
                <a:latin typeface="Monaco" pitchFamily="2" charset="77"/>
              </a:rPr>
              <a:t>git </a:t>
            </a:r>
            <a:r>
              <a:rPr lang="en-US" sz="2800" dirty="0" err="1">
                <a:latin typeface="Monaco" pitchFamily="2" charset="77"/>
              </a:rPr>
              <a:t>init</a:t>
            </a:r>
            <a:endParaRPr lang="en-US" sz="2800" dirty="0">
              <a:latin typeface="Monaco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D5C6B-4CFA-8234-33A2-1FE2114B3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464" y="2535259"/>
            <a:ext cx="6495535" cy="465786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676911-FFC4-6B1D-B372-88D4ABFB59FE}"/>
              </a:ext>
            </a:extLst>
          </p:cNvPr>
          <p:cNvCxnSpPr>
            <a:cxnSpLocks/>
          </p:cNvCxnSpPr>
          <p:nvPr/>
        </p:nvCxnSpPr>
        <p:spPr>
          <a:xfrm flipH="1" flipV="1">
            <a:off x="6944083" y="4568009"/>
            <a:ext cx="740716" cy="119860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014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D89B-E542-87FB-9590-C60D7F555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4F7328A-C2FA-2A53-DE76-01666EB60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4" y="1902940"/>
            <a:ext cx="4732026" cy="28152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8070B2-6371-1A72-10B1-30E2181C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Отслеживание изменений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EF7D943-58CF-027F-FF94-A98B22672B32}"/>
              </a:ext>
            </a:extLst>
          </p:cNvPr>
          <p:cNvGrpSpPr/>
          <p:nvPr/>
        </p:nvGrpSpPr>
        <p:grpSpPr>
          <a:xfrm>
            <a:off x="6096000" y="1902940"/>
            <a:ext cx="2127377" cy="4311137"/>
            <a:chOff x="5662424" y="1652448"/>
            <a:chExt cx="2286000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15126-D49A-E577-7707-9C5D3539AF37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30D3882-3555-72DD-621B-EA4E1A8EF1AC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914583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7743-6300-E922-C361-9D6603CB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D846039-9ACC-56AA-B0D0-FE2F7CE31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4360" y="1869354"/>
            <a:ext cx="4726015" cy="2854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8C1A45-DE2C-E393-460C-148718E1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Отслеживание изменений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302123-F25C-B22E-CC36-CBC147A2A2E8}"/>
              </a:ext>
            </a:extLst>
          </p:cNvPr>
          <p:cNvGrpSpPr/>
          <p:nvPr/>
        </p:nvGrpSpPr>
        <p:grpSpPr>
          <a:xfrm>
            <a:off x="6096000" y="1902940"/>
            <a:ext cx="6076495" cy="4311137"/>
            <a:chOff x="5662424" y="1652448"/>
            <a:chExt cx="6529576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E10ADD-C836-8158-0786-C769AA4D649D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C6D3D68-329A-E963-DB25-C4F267F4ADDC}"/>
                </a:ext>
              </a:extLst>
            </p:cNvPr>
            <p:cNvSpPr/>
            <p:nvPr/>
          </p:nvSpPr>
          <p:spPr>
            <a:xfrm>
              <a:off x="8342871" y="3068871"/>
              <a:ext cx="2286000" cy="731520"/>
            </a:xfrm>
            <a:prstGeom prst="rect">
              <a:avLst/>
            </a:prstGeom>
            <a:solidFill>
              <a:srgbClr val="4DA72E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Индекс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(staging area)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4AA1486D-B167-FD0D-4BAB-5CF770B925ED}"/>
                </a:ext>
              </a:extLst>
            </p:cNvPr>
            <p:cNvCxnSpPr>
              <a:cxnSpLocks/>
              <a:stCxn id="15" idx="3"/>
              <a:endCxn id="16" idx="0"/>
            </p:cNvCxnSpPr>
            <p:nvPr/>
          </p:nvCxnSpPr>
          <p:spPr>
            <a:xfrm>
              <a:off x="7948424" y="2018208"/>
              <a:ext cx="1537447" cy="1050663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F646B74-C2E4-8C20-F976-01117434EE6E}"/>
                </a:ext>
              </a:extLst>
            </p:cNvPr>
            <p:cNvSpPr txBox="1"/>
            <p:nvPr/>
          </p:nvSpPr>
          <p:spPr>
            <a:xfrm>
              <a:off x="9358331" y="2043589"/>
              <a:ext cx="2833669" cy="423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Добавляем в индекс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BE5C36-045D-52DC-6AE3-3C914C370F32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1427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C181-1813-1C7E-8F6F-F7D5C9F9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591FF42-F9BF-527F-180F-7E5C3CD97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55" y="1869354"/>
            <a:ext cx="7286939" cy="399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227218-F3A2-AC12-3EC5-DF75D9A7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Отслеживание изменений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313135-2A35-E4E0-67CD-5A90AE4F6486}"/>
              </a:ext>
            </a:extLst>
          </p:cNvPr>
          <p:cNvGrpSpPr/>
          <p:nvPr/>
        </p:nvGrpSpPr>
        <p:grpSpPr>
          <a:xfrm>
            <a:off x="6096000" y="1902940"/>
            <a:ext cx="6076495" cy="4311137"/>
            <a:chOff x="5662424" y="1652448"/>
            <a:chExt cx="6529576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DD45C25-9F43-3710-0614-964A17F7DE69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800F57-165C-66DE-E9A2-497A857675F1}"/>
                </a:ext>
              </a:extLst>
            </p:cNvPr>
            <p:cNvSpPr/>
            <p:nvPr/>
          </p:nvSpPr>
          <p:spPr>
            <a:xfrm>
              <a:off x="8342871" y="3068871"/>
              <a:ext cx="2286000" cy="731520"/>
            </a:xfrm>
            <a:prstGeom prst="rect">
              <a:avLst/>
            </a:prstGeom>
            <a:solidFill>
              <a:srgbClr val="4DA72E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Индекс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(staging area)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863C21-9F0A-C7E4-B9EC-A71A4978CCEE}"/>
                </a:ext>
              </a:extLst>
            </p:cNvPr>
            <p:cNvSpPr/>
            <p:nvPr/>
          </p:nvSpPr>
          <p:spPr>
            <a:xfrm>
              <a:off x="8342871" y="5125376"/>
              <a:ext cx="2286000" cy="731520"/>
            </a:xfrm>
            <a:prstGeom prst="rect">
              <a:avLst/>
            </a:prstGeom>
            <a:solidFill>
              <a:srgbClr val="E8E8E8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(repository)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F7F9FB77-1392-69D3-DE07-EC8C0385E9F7}"/>
                </a:ext>
              </a:extLst>
            </p:cNvPr>
            <p:cNvCxnSpPr>
              <a:cxnSpLocks/>
              <a:stCxn id="15" idx="3"/>
              <a:endCxn id="16" idx="0"/>
            </p:cNvCxnSpPr>
            <p:nvPr/>
          </p:nvCxnSpPr>
          <p:spPr>
            <a:xfrm>
              <a:off x="7948424" y="2018208"/>
              <a:ext cx="1537447" cy="1050663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B07C2A3C-CDC8-69C3-01E4-73251A9B890D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rot="5400000">
              <a:off x="8823379" y="4462883"/>
              <a:ext cx="132498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0B07DF2-740E-C23D-F014-272FD6A7E7AB}"/>
                </a:ext>
              </a:extLst>
            </p:cNvPr>
            <p:cNvSpPr txBox="1"/>
            <p:nvPr/>
          </p:nvSpPr>
          <p:spPr>
            <a:xfrm>
              <a:off x="9906000" y="4155106"/>
              <a:ext cx="22860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Создаем коммит</a:t>
              </a:r>
              <a:endParaRPr lang="en-US" sz="2000" dirty="0"/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(commit)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2D979E-C0E4-8172-754C-CD6006B01771}"/>
                </a:ext>
              </a:extLst>
            </p:cNvPr>
            <p:cNvSpPr txBox="1"/>
            <p:nvPr/>
          </p:nvSpPr>
          <p:spPr>
            <a:xfrm>
              <a:off x="9358331" y="2043589"/>
              <a:ext cx="2833669" cy="423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Добавляем в индекс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4C44679-D1CF-368B-ABFA-E034A656AECB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04147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34EE3-7591-8BF9-B519-45240C4E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2BEF214-A42C-B244-FFDF-6FFDA6453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03" y="1890257"/>
            <a:ext cx="4726015" cy="2837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500F32-A2A1-B3A5-BC21-FF4C6A6B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Отслеживание изменений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DB13D7-2F38-45ED-BBEC-6225BBFD03E9}"/>
              </a:ext>
            </a:extLst>
          </p:cNvPr>
          <p:cNvGrpSpPr/>
          <p:nvPr/>
        </p:nvGrpSpPr>
        <p:grpSpPr>
          <a:xfrm>
            <a:off x="6096000" y="1902940"/>
            <a:ext cx="6076495" cy="4311137"/>
            <a:chOff x="5662424" y="1652448"/>
            <a:chExt cx="6529576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168D13-74DB-45B4-230A-772A2965595B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DFCCDF-441E-7C2D-FA65-A9799B1D7252}"/>
                </a:ext>
              </a:extLst>
            </p:cNvPr>
            <p:cNvSpPr/>
            <p:nvPr/>
          </p:nvSpPr>
          <p:spPr>
            <a:xfrm>
              <a:off x="8342871" y="3068871"/>
              <a:ext cx="2286000" cy="731520"/>
            </a:xfrm>
            <a:prstGeom prst="rect">
              <a:avLst/>
            </a:prstGeom>
            <a:solidFill>
              <a:srgbClr val="4DA72E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Индекс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(staging area)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CDF2D3-8FEC-A3B6-520E-2A46E06F58C5}"/>
                </a:ext>
              </a:extLst>
            </p:cNvPr>
            <p:cNvSpPr/>
            <p:nvPr/>
          </p:nvSpPr>
          <p:spPr>
            <a:xfrm>
              <a:off x="8342871" y="5125376"/>
              <a:ext cx="2286000" cy="731520"/>
            </a:xfrm>
            <a:prstGeom prst="rect">
              <a:avLst/>
            </a:prstGeom>
            <a:solidFill>
              <a:srgbClr val="E8E8E8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(repository)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2A0B0631-9C32-3E1F-C01E-627650615A50}"/>
                </a:ext>
              </a:extLst>
            </p:cNvPr>
            <p:cNvCxnSpPr>
              <a:cxnSpLocks/>
              <a:stCxn id="15" idx="3"/>
              <a:endCxn id="16" idx="0"/>
            </p:cNvCxnSpPr>
            <p:nvPr/>
          </p:nvCxnSpPr>
          <p:spPr>
            <a:xfrm>
              <a:off x="7948424" y="2018208"/>
              <a:ext cx="1537447" cy="1050663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4D6D9F2D-A15A-8FD2-B5B0-9656543D1F89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rot="5400000">
              <a:off x="8823379" y="4462883"/>
              <a:ext cx="132498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5C72D3F9-0497-C4FB-D0DF-F33760BD2F2E}"/>
                </a:ext>
              </a:extLst>
            </p:cNvPr>
            <p:cNvCxnSpPr>
              <a:cxnSpLocks/>
              <a:stCxn id="17" idx="2"/>
              <a:endCxn id="15" idx="1"/>
            </p:cNvCxnSpPr>
            <p:nvPr/>
          </p:nvCxnSpPr>
          <p:spPr>
            <a:xfrm rot="5400000" flipH="1">
              <a:off x="5654804" y="2025829"/>
              <a:ext cx="3838688" cy="3823447"/>
            </a:xfrm>
            <a:prstGeom prst="curvedConnector4">
              <a:avLst>
                <a:gd name="adj1" fmla="val -14557"/>
                <a:gd name="adj2" fmla="val 118933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87915F-B6FA-2253-9D14-9EC06896C63F}"/>
                </a:ext>
              </a:extLst>
            </p:cNvPr>
            <p:cNvSpPr txBox="1"/>
            <p:nvPr/>
          </p:nvSpPr>
          <p:spPr>
            <a:xfrm>
              <a:off x="9906000" y="4155106"/>
              <a:ext cx="22860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Создаем коммит</a:t>
              </a:r>
              <a:endParaRPr lang="en-US" sz="2000" dirty="0"/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(commit)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F7434E4-76D3-322B-7D9B-F52218572900}"/>
                </a:ext>
              </a:extLst>
            </p:cNvPr>
            <p:cNvSpPr txBox="1"/>
            <p:nvPr/>
          </p:nvSpPr>
          <p:spPr>
            <a:xfrm>
              <a:off x="9358331" y="2043589"/>
              <a:ext cx="2833669" cy="423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Добавляем в индекс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29056E-5EFB-1389-7FBF-70DCF9190B84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4184E8E-2BE4-57B2-D7F4-9190075D0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96" y="3587258"/>
            <a:ext cx="4746416" cy="31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054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8668-432A-C11E-027C-2F5CF4F8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95B0218-E081-6042-98EB-C117BEF7B7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03" y="1890257"/>
            <a:ext cx="4726015" cy="28373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D84E49-0E2A-5A3F-B770-53042923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Чистая рабочая область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182BB16-F65A-264F-2B92-1A98AB9211BD}"/>
              </a:ext>
            </a:extLst>
          </p:cNvPr>
          <p:cNvGrpSpPr/>
          <p:nvPr/>
        </p:nvGrpSpPr>
        <p:grpSpPr>
          <a:xfrm>
            <a:off x="6096000" y="1902940"/>
            <a:ext cx="6076495" cy="4311137"/>
            <a:chOff x="5662424" y="1652448"/>
            <a:chExt cx="6529576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7EEAC8-DEF7-9C08-630D-6430D2B08BC5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984BB1-DFC0-38E3-A4C5-4FBCD9817E1B}"/>
                </a:ext>
              </a:extLst>
            </p:cNvPr>
            <p:cNvSpPr/>
            <p:nvPr/>
          </p:nvSpPr>
          <p:spPr>
            <a:xfrm>
              <a:off x="8342871" y="3068871"/>
              <a:ext cx="2286000" cy="731520"/>
            </a:xfrm>
            <a:prstGeom prst="rect">
              <a:avLst/>
            </a:prstGeom>
            <a:solidFill>
              <a:srgbClr val="4DA72E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Индекс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(staging area)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217708-F844-443D-2758-0D9775EFE364}"/>
                </a:ext>
              </a:extLst>
            </p:cNvPr>
            <p:cNvSpPr/>
            <p:nvPr/>
          </p:nvSpPr>
          <p:spPr>
            <a:xfrm>
              <a:off x="8342871" y="5125376"/>
              <a:ext cx="2286000" cy="731520"/>
            </a:xfrm>
            <a:prstGeom prst="rect">
              <a:avLst/>
            </a:prstGeom>
            <a:solidFill>
              <a:srgbClr val="E8E8E8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(repository)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0C4FFF5A-50F1-FE63-AAE0-43401FD5C27B}"/>
                </a:ext>
              </a:extLst>
            </p:cNvPr>
            <p:cNvCxnSpPr>
              <a:cxnSpLocks/>
              <a:stCxn id="15" idx="3"/>
              <a:endCxn id="16" idx="0"/>
            </p:cNvCxnSpPr>
            <p:nvPr/>
          </p:nvCxnSpPr>
          <p:spPr>
            <a:xfrm>
              <a:off x="7948424" y="2018208"/>
              <a:ext cx="1537447" cy="1050663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4F287051-A8C7-370E-A6A6-67BA5B322505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rot="5400000">
              <a:off x="8823379" y="4462883"/>
              <a:ext cx="132498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773A6D1D-A5ED-C99B-4F8E-50CEDC90F3DA}"/>
                </a:ext>
              </a:extLst>
            </p:cNvPr>
            <p:cNvCxnSpPr>
              <a:cxnSpLocks/>
              <a:stCxn id="17" idx="2"/>
              <a:endCxn id="15" idx="1"/>
            </p:cNvCxnSpPr>
            <p:nvPr/>
          </p:nvCxnSpPr>
          <p:spPr>
            <a:xfrm rot="5400000" flipH="1">
              <a:off x="5654804" y="2025829"/>
              <a:ext cx="3838688" cy="3823447"/>
            </a:xfrm>
            <a:prstGeom prst="curvedConnector4">
              <a:avLst>
                <a:gd name="adj1" fmla="val -14557"/>
                <a:gd name="adj2" fmla="val 118933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9074679-7CB6-390A-5423-79663C7F24E0}"/>
                </a:ext>
              </a:extLst>
            </p:cNvPr>
            <p:cNvSpPr txBox="1"/>
            <p:nvPr/>
          </p:nvSpPr>
          <p:spPr>
            <a:xfrm>
              <a:off x="9906000" y="4155106"/>
              <a:ext cx="22860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Создаем коммит</a:t>
              </a:r>
              <a:endParaRPr lang="en-US" sz="2000" dirty="0"/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(commit)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D58B95-D457-CBE2-2EEC-614D526EFA85}"/>
                </a:ext>
              </a:extLst>
            </p:cNvPr>
            <p:cNvSpPr txBox="1"/>
            <p:nvPr/>
          </p:nvSpPr>
          <p:spPr>
            <a:xfrm>
              <a:off x="9358331" y="2043589"/>
              <a:ext cx="2833669" cy="423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Добавляем в индекс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3A8FC9B-2E3D-9BFA-8939-276D75850A5B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728027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C352-455E-3140-71C0-8F511AFE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A4873-56B1-3A86-84A4-6E80162DD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Чистая рабочая область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A2CFD23-4EC1-4DE3-CFE1-B1C70A2E0380}"/>
              </a:ext>
            </a:extLst>
          </p:cNvPr>
          <p:cNvGrpSpPr/>
          <p:nvPr/>
        </p:nvGrpSpPr>
        <p:grpSpPr>
          <a:xfrm>
            <a:off x="6096000" y="1902940"/>
            <a:ext cx="6076495" cy="4311137"/>
            <a:chOff x="5662424" y="1652448"/>
            <a:chExt cx="6529576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87004-C410-BFCA-5E89-0235FEA1D618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52F529-E3D3-0205-E667-AAFA0950D2EC}"/>
                </a:ext>
              </a:extLst>
            </p:cNvPr>
            <p:cNvSpPr/>
            <p:nvPr/>
          </p:nvSpPr>
          <p:spPr>
            <a:xfrm>
              <a:off x="8342871" y="3068871"/>
              <a:ext cx="2286000" cy="731520"/>
            </a:xfrm>
            <a:prstGeom prst="rect">
              <a:avLst/>
            </a:prstGeom>
            <a:solidFill>
              <a:srgbClr val="4DA72E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Индекс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(staging area)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7168F47-75A7-A0D2-DBD2-76B7135275A5}"/>
                </a:ext>
              </a:extLst>
            </p:cNvPr>
            <p:cNvSpPr/>
            <p:nvPr/>
          </p:nvSpPr>
          <p:spPr>
            <a:xfrm>
              <a:off x="8342871" y="5125376"/>
              <a:ext cx="2286000" cy="731520"/>
            </a:xfrm>
            <a:prstGeom prst="rect">
              <a:avLst/>
            </a:prstGeom>
            <a:solidFill>
              <a:srgbClr val="E8E8E8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(repository)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7D120EC5-8AE9-99DC-9161-B2224DF61E8A}"/>
                </a:ext>
              </a:extLst>
            </p:cNvPr>
            <p:cNvCxnSpPr>
              <a:cxnSpLocks/>
              <a:stCxn id="15" idx="3"/>
              <a:endCxn id="16" idx="0"/>
            </p:cNvCxnSpPr>
            <p:nvPr/>
          </p:nvCxnSpPr>
          <p:spPr>
            <a:xfrm>
              <a:off x="7948424" y="2018208"/>
              <a:ext cx="1537447" cy="1050663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F8E18420-3C9B-30EB-FAEC-C50CB0AE1F07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rot="5400000">
              <a:off x="8823379" y="4462883"/>
              <a:ext cx="132498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DFD34563-BEBF-AAFA-4F24-6230407E93EE}"/>
                </a:ext>
              </a:extLst>
            </p:cNvPr>
            <p:cNvCxnSpPr>
              <a:cxnSpLocks/>
              <a:stCxn id="17" idx="2"/>
              <a:endCxn id="15" idx="1"/>
            </p:cNvCxnSpPr>
            <p:nvPr/>
          </p:nvCxnSpPr>
          <p:spPr>
            <a:xfrm rot="5400000" flipH="1">
              <a:off x="5654804" y="2025829"/>
              <a:ext cx="3838688" cy="3823447"/>
            </a:xfrm>
            <a:prstGeom prst="curvedConnector4">
              <a:avLst>
                <a:gd name="adj1" fmla="val -14557"/>
                <a:gd name="adj2" fmla="val 118933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29CA9CA-6D90-9335-A259-BEC85BA7422D}"/>
                </a:ext>
              </a:extLst>
            </p:cNvPr>
            <p:cNvSpPr txBox="1"/>
            <p:nvPr/>
          </p:nvSpPr>
          <p:spPr>
            <a:xfrm>
              <a:off x="9906000" y="4155106"/>
              <a:ext cx="22860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Создаем коммит</a:t>
              </a:r>
              <a:endParaRPr lang="en-US" sz="2000" dirty="0"/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(commit)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B4C87C-CF26-70C7-769F-85E4A3B2E74C}"/>
                </a:ext>
              </a:extLst>
            </p:cNvPr>
            <p:cNvSpPr txBox="1"/>
            <p:nvPr/>
          </p:nvSpPr>
          <p:spPr>
            <a:xfrm>
              <a:off x="9358331" y="2043589"/>
              <a:ext cx="2833669" cy="423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Добавляем в индекс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4FE425-414A-577F-CAA0-E0B6740B59D9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5742BA7-B178-DBAD-038C-B2C579C0F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4" y="1902940"/>
            <a:ext cx="4732026" cy="28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3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9FC3F-5324-5C45-6940-65F64BBF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47DA-BA06-06AD-91CA-E15F9D25F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Чистая рабочая область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DEA195-4737-6CB8-B0EA-E81751EBFDA1}"/>
              </a:ext>
            </a:extLst>
          </p:cNvPr>
          <p:cNvGrpSpPr/>
          <p:nvPr/>
        </p:nvGrpSpPr>
        <p:grpSpPr>
          <a:xfrm>
            <a:off x="6096000" y="1902940"/>
            <a:ext cx="6076495" cy="4311137"/>
            <a:chOff x="5662424" y="1652448"/>
            <a:chExt cx="6529576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68C3C6-D162-1B43-23CF-ED395ABBE4DD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FB697B-2310-1B28-EC2D-7655BD6B2A0C}"/>
                </a:ext>
              </a:extLst>
            </p:cNvPr>
            <p:cNvSpPr/>
            <p:nvPr/>
          </p:nvSpPr>
          <p:spPr>
            <a:xfrm>
              <a:off x="8342871" y="3068871"/>
              <a:ext cx="2286000" cy="731520"/>
            </a:xfrm>
            <a:prstGeom prst="rect">
              <a:avLst/>
            </a:prstGeom>
            <a:solidFill>
              <a:srgbClr val="4DA72E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Индекс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(staging area)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F0BD4C-B7EA-C253-F69C-789A2C57F6CD}"/>
                </a:ext>
              </a:extLst>
            </p:cNvPr>
            <p:cNvSpPr/>
            <p:nvPr/>
          </p:nvSpPr>
          <p:spPr>
            <a:xfrm>
              <a:off x="8342871" y="5125376"/>
              <a:ext cx="2286000" cy="731520"/>
            </a:xfrm>
            <a:prstGeom prst="rect">
              <a:avLst/>
            </a:prstGeom>
            <a:solidFill>
              <a:srgbClr val="E8E8E8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(repository)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AEF712BF-A03C-F1E9-90AC-1A6CF71F6F89}"/>
                </a:ext>
              </a:extLst>
            </p:cNvPr>
            <p:cNvCxnSpPr>
              <a:cxnSpLocks/>
              <a:stCxn id="15" idx="3"/>
              <a:endCxn id="16" idx="0"/>
            </p:cNvCxnSpPr>
            <p:nvPr/>
          </p:nvCxnSpPr>
          <p:spPr>
            <a:xfrm>
              <a:off x="7948424" y="2018208"/>
              <a:ext cx="1537447" cy="1050663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B266B537-849A-0DF9-5963-BECBF06E4971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rot="5400000">
              <a:off x="8823379" y="4462883"/>
              <a:ext cx="132498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8BFFC0EF-2045-3DF2-FC3B-435A4BB3F792}"/>
                </a:ext>
              </a:extLst>
            </p:cNvPr>
            <p:cNvCxnSpPr>
              <a:cxnSpLocks/>
              <a:stCxn id="17" idx="2"/>
              <a:endCxn id="15" idx="1"/>
            </p:cNvCxnSpPr>
            <p:nvPr/>
          </p:nvCxnSpPr>
          <p:spPr>
            <a:xfrm rot="5400000" flipH="1">
              <a:off x="5654804" y="2025829"/>
              <a:ext cx="3838688" cy="3823447"/>
            </a:xfrm>
            <a:prstGeom prst="curvedConnector4">
              <a:avLst>
                <a:gd name="adj1" fmla="val -14557"/>
                <a:gd name="adj2" fmla="val 118933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556A10E-2831-3B52-4EDC-87A22F230E4B}"/>
                </a:ext>
              </a:extLst>
            </p:cNvPr>
            <p:cNvSpPr txBox="1"/>
            <p:nvPr/>
          </p:nvSpPr>
          <p:spPr>
            <a:xfrm>
              <a:off x="9906000" y="4155106"/>
              <a:ext cx="22860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Создаем коммит</a:t>
              </a:r>
              <a:endParaRPr lang="en-US" sz="2000" dirty="0"/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(commit)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103B4B-1292-355E-C60A-E09FC5F278DA}"/>
                </a:ext>
              </a:extLst>
            </p:cNvPr>
            <p:cNvSpPr txBox="1"/>
            <p:nvPr/>
          </p:nvSpPr>
          <p:spPr>
            <a:xfrm>
              <a:off x="9358331" y="2043589"/>
              <a:ext cx="2833669" cy="423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Добавляем в индекс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C1B68DF-209E-2B46-AE63-E94EC42A9648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4FB259F-5787-55EF-7450-00B959A152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4360" y="1869354"/>
            <a:ext cx="4726015" cy="285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91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9AAE-8520-B637-C6E6-00DC7994F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44F7C-C5F9-7AF8-E9B8-487F3092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Чистая рабочая область</a:t>
            </a:r>
            <a:endParaRPr lang="en-RU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F7D530-74E1-CAB5-9BEE-230FCEAA2F24}"/>
              </a:ext>
            </a:extLst>
          </p:cNvPr>
          <p:cNvGrpSpPr/>
          <p:nvPr/>
        </p:nvGrpSpPr>
        <p:grpSpPr>
          <a:xfrm>
            <a:off x="6096000" y="1902940"/>
            <a:ext cx="6076495" cy="4311137"/>
            <a:chOff x="5662424" y="1652448"/>
            <a:chExt cx="6529576" cy="45616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74E8E02-D07D-40E4-6785-D3664B6D27C6}"/>
                </a:ext>
              </a:extLst>
            </p:cNvPr>
            <p:cNvSpPr/>
            <p:nvPr/>
          </p:nvSpPr>
          <p:spPr>
            <a:xfrm>
              <a:off x="5662424" y="1652448"/>
              <a:ext cx="2286000" cy="731520"/>
            </a:xfrm>
            <a:prstGeom prst="rect">
              <a:avLst/>
            </a:prstGeom>
            <a:solidFill>
              <a:srgbClr val="FFC00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Рабочая область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(working area)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A271EE-29BC-307E-703A-E99A51563B6F}"/>
                </a:ext>
              </a:extLst>
            </p:cNvPr>
            <p:cNvSpPr/>
            <p:nvPr/>
          </p:nvSpPr>
          <p:spPr>
            <a:xfrm>
              <a:off x="8342871" y="3068871"/>
              <a:ext cx="2286000" cy="731520"/>
            </a:xfrm>
            <a:prstGeom prst="rect">
              <a:avLst/>
            </a:prstGeom>
            <a:solidFill>
              <a:srgbClr val="4DA72E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Индекс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(staging area)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EBCE50-74A5-06AB-CFF8-7EA11CE5CF8B}"/>
                </a:ext>
              </a:extLst>
            </p:cNvPr>
            <p:cNvSpPr/>
            <p:nvPr/>
          </p:nvSpPr>
          <p:spPr>
            <a:xfrm>
              <a:off x="8342871" y="5125376"/>
              <a:ext cx="2286000" cy="731520"/>
            </a:xfrm>
            <a:prstGeom prst="rect">
              <a:avLst/>
            </a:prstGeom>
            <a:solidFill>
              <a:srgbClr val="E8E8E8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ysClr val="windowText" lastClr="000000"/>
                  </a:solidFill>
                </a:rPr>
                <a:t>Репозиторий</a:t>
              </a:r>
              <a:endParaRPr lang="en-US" sz="2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(repository)</a:t>
              </a:r>
            </a:p>
          </p:txBody>
        </p: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6BC12502-DB1D-91E8-9949-465921BF4DD9}"/>
                </a:ext>
              </a:extLst>
            </p:cNvPr>
            <p:cNvCxnSpPr>
              <a:cxnSpLocks/>
              <a:stCxn id="15" idx="3"/>
              <a:endCxn id="16" idx="0"/>
            </p:cNvCxnSpPr>
            <p:nvPr/>
          </p:nvCxnSpPr>
          <p:spPr>
            <a:xfrm>
              <a:off x="7948424" y="2018208"/>
              <a:ext cx="1537447" cy="1050663"/>
            </a:xfrm>
            <a:prstGeom prst="curved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A5788145-78D0-2AE0-E2B2-B8599BC66AF5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rot="5400000">
              <a:off x="8823379" y="4462883"/>
              <a:ext cx="132498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DB63D3A6-5754-9296-3F14-50DC88EF2CCA}"/>
                </a:ext>
              </a:extLst>
            </p:cNvPr>
            <p:cNvCxnSpPr>
              <a:cxnSpLocks/>
              <a:stCxn id="17" idx="2"/>
              <a:endCxn id="15" idx="1"/>
            </p:cNvCxnSpPr>
            <p:nvPr/>
          </p:nvCxnSpPr>
          <p:spPr>
            <a:xfrm rot="5400000" flipH="1">
              <a:off x="5654804" y="2025829"/>
              <a:ext cx="3838688" cy="3823447"/>
            </a:xfrm>
            <a:prstGeom prst="curvedConnector4">
              <a:avLst>
                <a:gd name="adj1" fmla="val -14557"/>
                <a:gd name="adj2" fmla="val 118933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44F406B-2335-3A0E-3DAE-FCB89EEA0228}"/>
                </a:ext>
              </a:extLst>
            </p:cNvPr>
            <p:cNvSpPr txBox="1"/>
            <p:nvPr/>
          </p:nvSpPr>
          <p:spPr>
            <a:xfrm>
              <a:off x="9906000" y="4155106"/>
              <a:ext cx="22860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Создаем коммит</a:t>
              </a:r>
              <a:endParaRPr lang="en-US" sz="2000" dirty="0"/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(commit)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B218C9C-567A-6D2D-616D-79B452FA222E}"/>
                </a:ext>
              </a:extLst>
            </p:cNvPr>
            <p:cNvSpPr txBox="1"/>
            <p:nvPr/>
          </p:nvSpPr>
          <p:spPr>
            <a:xfrm>
              <a:off x="9358331" y="2043589"/>
              <a:ext cx="2833669" cy="423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Добавляем в индекс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87FFD9-DE71-A390-5113-E26C7A9ADD5D}"/>
                </a:ext>
              </a:extLst>
            </p:cNvPr>
            <p:cNvSpPr txBox="1"/>
            <p:nvPr/>
          </p:nvSpPr>
          <p:spPr>
            <a:xfrm>
              <a:off x="6005384" y="584474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8F28526-4136-E684-1291-BA34CB8D5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003" y="1890257"/>
            <a:ext cx="4726015" cy="283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13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9ED3-AF0F-9775-1CB7-26576D8C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5D0C-339B-BFA0-A0BF-2346BBB3D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НЕчистая</a:t>
            </a:r>
            <a:r>
              <a:rPr lang="ru-RU" dirty="0"/>
              <a:t> рабочая область</a:t>
            </a:r>
            <a:endParaRPr lang="en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2B22C2-73DB-A81B-D479-42F6503A4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594" y="3892378"/>
            <a:ext cx="5267406" cy="2965622"/>
          </a:xfrm>
          <a:prstGeom prst="roundRect">
            <a:avLst>
              <a:gd name="adj" fmla="val 184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5C2722-B42D-9A92-BDC2-F967B61438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711" y="1798182"/>
            <a:ext cx="7198462" cy="446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37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15CA-42A8-6864-A377-CB4C4D85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Просмотр истории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EDF6F-338E-4A91-0476-C16A57B3A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2" y="1143000"/>
            <a:ext cx="7986192" cy="60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11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B09D-4CDD-A061-45A6-EC56CDA5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8411-5F9A-0094-5A0E-2A70E368A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Ветки</a:t>
            </a:r>
            <a:endParaRPr lang="en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0807B4-BD80-61D3-6BF1-EE79DAE6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2" y="1143000"/>
            <a:ext cx="7986192" cy="60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318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52FA-2D32-C04B-F7E7-E4241142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F79ED0-8A19-1041-E543-70B8A486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10" y="1798182"/>
            <a:ext cx="7198461" cy="4490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88DE8F-6123-E15D-170E-00E185D8D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ветки</a:t>
            </a:r>
            <a:endParaRPr lang="en-R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6EABFC-FC92-AC1C-4F79-0597C7F0F187}"/>
              </a:ext>
            </a:extLst>
          </p:cNvPr>
          <p:cNvCxnSpPr>
            <a:cxnSpLocks/>
          </p:cNvCxnSpPr>
          <p:nvPr/>
        </p:nvCxnSpPr>
        <p:spPr>
          <a:xfrm flipV="1">
            <a:off x="6410684" y="2521494"/>
            <a:ext cx="0" cy="12558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952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9201B-AA53-6054-2FDF-5F9244FF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BCC92-1B34-35D7-EDED-E9CBF1C8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10" y="1798182"/>
            <a:ext cx="7198461" cy="4490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705A29-C62F-DC8E-BC09-B40419BC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ветки</a:t>
            </a:r>
            <a:endParaRPr lang="en-R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96D38E-9D4E-99AA-99D2-C93B135F8DAB}"/>
              </a:ext>
            </a:extLst>
          </p:cNvPr>
          <p:cNvCxnSpPr>
            <a:cxnSpLocks/>
          </p:cNvCxnSpPr>
          <p:nvPr/>
        </p:nvCxnSpPr>
        <p:spPr>
          <a:xfrm flipV="1">
            <a:off x="6410684" y="2521494"/>
            <a:ext cx="0" cy="12558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AF352D-A665-8A67-15A3-161E61A0C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102" y="4008978"/>
            <a:ext cx="42291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74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C47-3B9A-6A9C-3602-94C70AA1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C97335-0F59-8E1C-BC62-BC39A00A8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10" y="1798182"/>
            <a:ext cx="7198461" cy="4490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C2334-24EE-E487-4F3B-BD37DD6B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ветки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957892-B562-0918-2288-A13274508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990" y="2152066"/>
            <a:ext cx="7772400" cy="378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30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ED62-707C-C222-2764-5F7AFB48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A611-FEEE-B6C5-09FC-7610E2B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Переключение веток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A2A200-FE62-6090-820D-7EBCE1F605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9710" y="1828222"/>
            <a:ext cx="7198461" cy="443082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A0D6B4-12A1-EEA1-1C95-0A280AE069EC}"/>
              </a:ext>
            </a:extLst>
          </p:cNvPr>
          <p:cNvCxnSpPr>
            <a:cxnSpLocks/>
          </p:cNvCxnSpPr>
          <p:nvPr/>
        </p:nvCxnSpPr>
        <p:spPr>
          <a:xfrm>
            <a:off x="6869305" y="1281771"/>
            <a:ext cx="0" cy="81783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329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32834-13F6-7E48-0DF4-B44EB62E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B43B-0FD0-CB13-2902-14902F03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Переключение веток</a:t>
            </a:r>
            <a:r>
              <a:rPr lang="en-US" dirty="0"/>
              <a:t> </a:t>
            </a:r>
            <a:r>
              <a:rPr lang="ru-RU" dirty="0"/>
              <a:t>не работает</a:t>
            </a:r>
            <a:endParaRPr lang="en-RU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3CA65068-5092-41A6-FB38-FA618BC16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3"/>
          <a:stretch>
            <a:fillRect/>
          </a:stretch>
        </p:blipFill>
        <p:spPr bwMode="auto">
          <a:xfrm>
            <a:off x="662607" y="1690687"/>
            <a:ext cx="9306117" cy="375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42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9B69-55F6-8CEA-35FE-B9B2CB3F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4554-98AC-E90C-145A-58E0C412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Переключение веток</a:t>
            </a:r>
            <a:r>
              <a:rPr lang="en-US" dirty="0"/>
              <a:t> </a:t>
            </a:r>
            <a:r>
              <a:rPr lang="ru-RU" dirty="0"/>
              <a:t>не работает</a:t>
            </a:r>
            <a:endParaRPr lang="en-RU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910495DC-0C91-8791-B66A-6EB559F423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3"/>
          <a:stretch>
            <a:fillRect/>
          </a:stretch>
        </p:blipFill>
        <p:spPr bwMode="auto">
          <a:xfrm>
            <a:off x="662607" y="1690687"/>
            <a:ext cx="9306117" cy="375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ECAD91-273F-5BAA-DAA6-8D96A4191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904" y="2451100"/>
            <a:ext cx="7112000" cy="44069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BBD800-3A34-BFDB-5EA2-5174C3BE3722}"/>
              </a:ext>
            </a:extLst>
          </p:cNvPr>
          <p:cNvSpPr txBox="1">
            <a:spLocks/>
          </p:cNvSpPr>
          <p:nvPr/>
        </p:nvSpPr>
        <p:spPr>
          <a:xfrm>
            <a:off x="4877904" y="1518408"/>
            <a:ext cx="7112000" cy="76041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err="1"/>
              <a:t>НЕчистая</a:t>
            </a:r>
            <a:r>
              <a:rPr lang="ru-RU" dirty="0"/>
              <a:t> рабочая область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28626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4963-3205-225E-4FF6-F5062F03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E4F7-6D1A-D902-739C-737F17B9D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Слияние веток</a:t>
            </a:r>
            <a:r>
              <a:rPr lang="en-US" dirty="0"/>
              <a:t> (merge) </a:t>
            </a:r>
            <a:r>
              <a:rPr lang="ru-RU" dirty="0"/>
              <a:t>в терминале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8DC8E-A826-06D4-C7BE-772153EF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535" y="1690688"/>
            <a:ext cx="7711729" cy="298176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E813DE-B9C4-B262-4508-FEFCA60924C1}"/>
              </a:ext>
            </a:extLst>
          </p:cNvPr>
          <p:cNvCxnSpPr/>
          <p:nvPr/>
        </p:nvCxnSpPr>
        <p:spPr>
          <a:xfrm>
            <a:off x="3361222" y="2668536"/>
            <a:ext cx="17593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1932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83F3B-768B-725A-854B-2A31E96F9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7C8C4-5A95-910F-10CB-246D080D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Слияние веток</a:t>
            </a:r>
            <a:r>
              <a:rPr lang="en-US" dirty="0"/>
              <a:t> (merge)</a:t>
            </a:r>
            <a:r>
              <a:rPr lang="ru-RU" dirty="0"/>
              <a:t> на </a:t>
            </a:r>
            <a:r>
              <a:rPr lang="en-US" dirty="0"/>
              <a:t>GitHub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0F358-0292-97F5-3D86-C6A1FAB9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1747"/>
            <a:ext cx="8120270" cy="481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036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12F7-1D96-5978-D4B2-235938B5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3B719-F68D-058D-83A6-D09ADD8A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78" y="1505493"/>
            <a:ext cx="4784197" cy="2934986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47B6A90-EA59-A9AE-6DE5-5BD6CB2903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52" b="37908"/>
          <a:stretch>
            <a:fillRect/>
          </a:stretch>
        </p:blipFill>
        <p:spPr bwMode="auto">
          <a:xfrm>
            <a:off x="604778" y="2930375"/>
            <a:ext cx="8793865" cy="30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0640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FCB3-E9B8-7E0F-1579-B056FC499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4B806-B4DA-DA42-C602-E932115C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50E2E-C12A-6440-FE1F-0A849737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78" y="1505493"/>
            <a:ext cx="4784197" cy="2934986"/>
          </a:xfrm>
          <a:prstGeom prst="rect">
            <a:avLst/>
          </a:prstGeom>
        </p:spPr>
      </p:pic>
      <p:pic>
        <p:nvPicPr>
          <p:cNvPr id="18434" name="Picture 2">
            <a:extLst>
              <a:ext uri="{FF2B5EF4-FFF2-40B4-BE49-F238E27FC236}">
                <a16:creationId xmlns:a16="http://schemas.microsoft.com/office/drawing/2014/main" id="{BEA04140-2A4F-9E22-FA9B-622B1ECF73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52" b="37908"/>
          <a:stretch>
            <a:fillRect/>
          </a:stretch>
        </p:blipFill>
        <p:spPr bwMode="auto">
          <a:xfrm>
            <a:off x="604778" y="2930375"/>
            <a:ext cx="8793865" cy="30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CCCCB6-C6AB-20D9-B7BC-9619042DFC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528"/>
          <a:stretch>
            <a:fillRect/>
          </a:stretch>
        </p:blipFill>
        <p:spPr>
          <a:xfrm>
            <a:off x="7469529" y="2930375"/>
            <a:ext cx="4521843" cy="3020208"/>
          </a:xfrm>
          <a:prstGeom prst="rect">
            <a:avLst/>
          </a:prstGeom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66ED2754-5EE9-03FC-121A-1126B4418662}"/>
              </a:ext>
            </a:extLst>
          </p:cNvPr>
          <p:cNvSpPr/>
          <p:nvPr/>
        </p:nvSpPr>
        <p:spPr>
          <a:xfrm rot="16200000">
            <a:off x="6172595" y="4054657"/>
            <a:ext cx="513314" cy="1284958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507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5EA39-AA3B-514B-1150-D62E70E3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2498-1EB3-F2A8-8026-1FC09814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2602F-D691-FE35-70BE-73CF2CB37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78" y="1505493"/>
            <a:ext cx="4784197" cy="2934986"/>
          </a:xfrm>
          <a:prstGeom prst="rect">
            <a:avLst/>
          </a:prstGeom>
        </p:spPr>
      </p:pic>
      <p:pic>
        <p:nvPicPr>
          <p:cNvPr id="18434" name="Picture 2">
            <a:extLst>
              <a:ext uri="{FF2B5EF4-FFF2-40B4-BE49-F238E27FC236}">
                <a16:creationId xmlns:a16="http://schemas.microsoft.com/office/drawing/2014/main" id="{40BC648A-C962-987D-83F6-16CC43619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52" b="37908"/>
          <a:stretch>
            <a:fillRect/>
          </a:stretch>
        </p:blipFill>
        <p:spPr bwMode="auto">
          <a:xfrm>
            <a:off x="604778" y="2930375"/>
            <a:ext cx="8793865" cy="30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8DE2C6-586A-CD5A-C2B7-93F32584C4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56482"/>
          <a:stretch>
            <a:fillRect/>
          </a:stretch>
        </p:blipFill>
        <p:spPr>
          <a:xfrm>
            <a:off x="7469529" y="2930375"/>
            <a:ext cx="4463970" cy="3020208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D4D2CC21-624A-12B4-D10E-3C9F92799EAE}"/>
              </a:ext>
            </a:extLst>
          </p:cNvPr>
          <p:cNvSpPr/>
          <p:nvPr/>
        </p:nvSpPr>
        <p:spPr>
          <a:xfrm rot="16200000">
            <a:off x="6172595" y="4054657"/>
            <a:ext cx="513314" cy="1284958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527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E890-F4B8-BF60-F81C-415A7638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EF79-2C66-47A8-97DB-59B39FB9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E8AB49-5C43-0CDC-AA53-1D7038154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78" y="1505493"/>
            <a:ext cx="4784197" cy="2934986"/>
          </a:xfrm>
          <a:prstGeom prst="rect">
            <a:avLst/>
          </a:prstGeom>
        </p:spPr>
      </p:pic>
      <p:pic>
        <p:nvPicPr>
          <p:cNvPr id="18434" name="Picture 2">
            <a:extLst>
              <a:ext uri="{FF2B5EF4-FFF2-40B4-BE49-F238E27FC236}">
                <a16:creationId xmlns:a16="http://schemas.microsoft.com/office/drawing/2014/main" id="{198592DA-70E3-CEDE-4C69-46EF9B79C6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52" b="37908"/>
          <a:stretch>
            <a:fillRect/>
          </a:stretch>
        </p:blipFill>
        <p:spPr bwMode="auto">
          <a:xfrm>
            <a:off x="604778" y="2930375"/>
            <a:ext cx="8793865" cy="30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EBC464-4B75-65BB-A7ED-45F9D5C6EA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56482"/>
          <a:stretch>
            <a:fillRect/>
          </a:stretch>
        </p:blipFill>
        <p:spPr>
          <a:xfrm>
            <a:off x="7469529" y="2930375"/>
            <a:ext cx="4463970" cy="3020208"/>
          </a:xfrm>
          <a:prstGeom prst="rect">
            <a:avLst/>
          </a:prstGeom>
        </p:spPr>
      </p:pic>
      <p:sp>
        <p:nvSpPr>
          <p:cNvPr id="5" name="Down Arrow 4">
            <a:extLst>
              <a:ext uri="{FF2B5EF4-FFF2-40B4-BE49-F238E27FC236}">
                <a16:creationId xmlns:a16="http://schemas.microsoft.com/office/drawing/2014/main" id="{F5D4B4CA-1C69-C557-31FC-CF912DE6F0A1}"/>
              </a:ext>
            </a:extLst>
          </p:cNvPr>
          <p:cNvSpPr/>
          <p:nvPr/>
        </p:nvSpPr>
        <p:spPr>
          <a:xfrm rot="16200000">
            <a:off x="6172595" y="4054657"/>
            <a:ext cx="513314" cy="1284958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1A71F7-5F1B-9D59-190A-C1AD34DDDB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778" y="1420271"/>
            <a:ext cx="4858595" cy="3020208"/>
          </a:xfrm>
          <a:prstGeom prst="rect">
            <a:avLst/>
          </a:prstGeom>
        </p:spPr>
      </p:pic>
      <p:sp>
        <p:nvSpPr>
          <p:cNvPr id="4" name="Down Arrow 3">
            <a:extLst>
              <a:ext uri="{FF2B5EF4-FFF2-40B4-BE49-F238E27FC236}">
                <a16:creationId xmlns:a16="http://schemas.microsoft.com/office/drawing/2014/main" id="{7DCBE546-F7C4-DF08-138B-B2068E47C121}"/>
              </a:ext>
            </a:extLst>
          </p:cNvPr>
          <p:cNvSpPr/>
          <p:nvPr/>
        </p:nvSpPr>
        <p:spPr>
          <a:xfrm rot="16200000">
            <a:off x="6175980" y="1668052"/>
            <a:ext cx="513314" cy="1284958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723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63AC2-9282-638C-7D72-174A5099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092C76-CB9E-3738-32BA-00AE51AD5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504"/>
          <a:stretch>
            <a:fillRect/>
          </a:stretch>
        </p:blipFill>
        <p:spPr>
          <a:xfrm>
            <a:off x="838199" y="1690688"/>
            <a:ext cx="10841651" cy="4629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BA65F5-B0FB-CB59-4098-973B7891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25626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45D8-B68E-8C1D-1B32-B9A3B472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BF91E8-7E73-3D05-899A-88A18FA113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504"/>
          <a:stretch>
            <a:fillRect/>
          </a:stretch>
        </p:blipFill>
        <p:spPr>
          <a:xfrm>
            <a:off x="838199" y="1690688"/>
            <a:ext cx="10841651" cy="4629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DB72A0-26BE-0C36-E585-6ED45D40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en-RU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1E3C2D-09AF-F6D9-CACC-02E29AF39206}"/>
              </a:ext>
            </a:extLst>
          </p:cNvPr>
          <p:cNvCxnSpPr>
            <a:cxnSpLocks/>
          </p:cNvCxnSpPr>
          <p:nvPr/>
        </p:nvCxnSpPr>
        <p:spPr>
          <a:xfrm flipV="1">
            <a:off x="9105418" y="2121690"/>
            <a:ext cx="773305" cy="1199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972949-09DF-7170-D78A-06394A692F69}"/>
              </a:ext>
            </a:extLst>
          </p:cNvPr>
          <p:cNvCxnSpPr>
            <a:cxnSpLocks/>
          </p:cNvCxnSpPr>
          <p:nvPr/>
        </p:nvCxnSpPr>
        <p:spPr>
          <a:xfrm flipV="1">
            <a:off x="10253240" y="2121690"/>
            <a:ext cx="773305" cy="1199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898EA5-A311-7401-AC5A-04A657C88F2E}"/>
              </a:ext>
            </a:extLst>
          </p:cNvPr>
          <p:cNvCxnSpPr>
            <a:cxnSpLocks/>
          </p:cNvCxnSpPr>
          <p:nvPr/>
        </p:nvCxnSpPr>
        <p:spPr>
          <a:xfrm flipV="1">
            <a:off x="1539972" y="2121690"/>
            <a:ext cx="773305" cy="1199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904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49D1D-936E-C387-902C-A20D89DE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E4183B-E194-7057-5B1C-4C3C4253F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504"/>
          <a:stretch>
            <a:fillRect/>
          </a:stretch>
        </p:blipFill>
        <p:spPr>
          <a:xfrm>
            <a:off x="838199" y="1690688"/>
            <a:ext cx="10841651" cy="4629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3FAA2-2415-0EA7-7AE8-98B13752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Репозиторий</a:t>
            </a:r>
            <a:endParaRPr lang="en-RU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54B747-8598-33F3-FDA5-89AC100F5EC3}"/>
              </a:ext>
            </a:extLst>
          </p:cNvPr>
          <p:cNvCxnSpPr>
            <a:cxnSpLocks/>
          </p:cNvCxnSpPr>
          <p:nvPr/>
        </p:nvCxnSpPr>
        <p:spPr>
          <a:xfrm flipH="1">
            <a:off x="8743107" y="2323750"/>
            <a:ext cx="10375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FCB3D8-D4E0-5B60-65BE-3139B1697F19}"/>
              </a:ext>
            </a:extLst>
          </p:cNvPr>
          <p:cNvCxnSpPr>
            <a:cxnSpLocks/>
          </p:cNvCxnSpPr>
          <p:nvPr/>
        </p:nvCxnSpPr>
        <p:spPr>
          <a:xfrm flipV="1">
            <a:off x="451545" y="2553911"/>
            <a:ext cx="773305" cy="1199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345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DA77-46E8-CEF8-CE00-418FB62A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3D50-B771-6C39-8181-4E42F146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изменений</a:t>
            </a:r>
            <a:endParaRPr lang="en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972DFB-64F5-69B2-26A7-62E5C83B3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79140"/>
            <a:ext cx="7048500" cy="4394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CA52A8E-06E2-8D94-EA0A-AE283A77AD97}"/>
              </a:ext>
            </a:extLst>
          </p:cNvPr>
          <p:cNvCxnSpPr>
            <a:cxnSpLocks/>
          </p:cNvCxnSpPr>
          <p:nvPr/>
        </p:nvCxnSpPr>
        <p:spPr>
          <a:xfrm flipV="1">
            <a:off x="2396093" y="2485722"/>
            <a:ext cx="773305" cy="11991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ft Brace 5">
            <a:extLst>
              <a:ext uri="{FF2B5EF4-FFF2-40B4-BE49-F238E27FC236}">
                <a16:creationId xmlns:a16="http://schemas.microsoft.com/office/drawing/2014/main" id="{7C1EB5EF-6E36-3131-A256-746EB3210450}"/>
              </a:ext>
            </a:extLst>
          </p:cNvPr>
          <p:cNvSpPr/>
          <p:nvPr/>
        </p:nvSpPr>
        <p:spPr>
          <a:xfrm rot="16200000">
            <a:off x="3395965" y="1609119"/>
            <a:ext cx="331325" cy="1557763"/>
          </a:xfrm>
          <a:prstGeom prst="leftBrace">
            <a:avLst>
              <a:gd name="adj1" fmla="val 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6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0DE3A-B3A4-21C3-CD58-EFF84347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24DCE-3389-F33C-05E9-49F8F3EDA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AB327-F4C9-A193-8C9A-FE8125C5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1515692"/>
            <a:ext cx="11037654" cy="26994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9047FB-DED8-3F0B-6D9E-4334085812F0}"/>
              </a:ext>
            </a:extLst>
          </p:cNvPr>
          <p:cNvCxnSpPr>
            <a:cxnSpLocks/>
          </p:cNvCxnSpPr>
          <p:nvPr/>
        </p:nvCxnSpPr>
        <p:spPr>
          <a:xfrm flipH="1" flipV="1">
            <a:off x="3285144" y="2482363"/>
            <a:ext cx="696547" cy="7661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3AC784D-3F38-DEC3-E975-0C6C95BBE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179" y="3117622"/>
            <a:ext cx="6305804" cy="3740378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888562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CE5C-66F7-5937-5F66-33E1ADA6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6347-EB3B-6442-43AB-B90C7FB4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Подсказки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BEA8F-2E3F-0892-8C59-101D21843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19" y="1524689"/>
            <a:ext cx="10031548" cy="454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056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0427-1436-BC05-6E72-00503521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75C5-969F-690A-6578-BCB5CD4F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Подсказки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79721C-E68C-64BC-7B71-91898BFB7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1" t="1537" r="1002" b="1482"/>
          <a:stretch/>
        </p:blipFill>
        <p:spPr>
          <a:xfrm>
            <a:off x="705678" y="1690688"/>
            <a:ext cx="7527851" cy="3627600"/>
          </a:xfrm>
          <a:prstGeom prst="rect">
            <a:avLst/>
          </a:prstGeom>
          <a:effectLst>
            <a:glow rad="317500">
              <a:schemeClr val="bg1">
                <a:lumMod val="50000"/>
                <a:alpha val="5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963131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4D3B-C124-A931-0868-9840BD57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64BF-6A40-9AA8-CD8C-5B77A7C1D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rejection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D38A84-F03D-14DC-3035-27D1F66B4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1" t="1537" r="1002" b="1482"/>
          <a:stretch/>
        </p:blipFill>
        <p:spPr>
          <a:xfrm>
            <a:off x="705678" y="1690688"/>
            <a:ext cx="7527851" cy="3627600"/>
          </a:xfrm>
          <a:prstGeom prst="rect">
            <a:avLst/>
          </a:prstGeom>
          <a:effectLst>
            <a:glow rad="317500">
              <a:schemeClr val="bg1">
                <a:lumMod val="50000"/>
                <a:alpha val="5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BBFEA6-BEBB-9367-F37D-33950576AF54}"/>
              </a:ext>
            </a:extLst>
          </p:cNvPr>
          <p:cNvSpPr txBox="1"/>
          <p:nvPr/>
        </p:nvSpPr>
        <p:spPr>
          <a:xfrm>
            <a:off x="838200" y="5605671"/>
            <a:ext cx="28905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/>
                </a:solidFill>
                <a:latin typeface="Monaco" pitchFamily="2" charset="77"/>
              </a:rPr>
              <a:t>git pull</a:t>
            </a:r>
          </a:p>
        </p:txBody>
      </p:sp>
    </p:spTree>
    <p:extLst>
      <p:ext uri="{BB962C8B-B14F-4D97-AF65-F5344CB8AC3E}">
        <p14:creationId xmlns:p14="http://schemas.microsoft.com/office/powerpoint/2010/main" val="13115507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2C12-53BD-78C7-AF1A-3311A3E2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C21E-A952-3076-975A-C6FFE4C6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6F3B2C4-1333-0799-B292-C49F57D6A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Rproj.user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Rhistory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RData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Ruserdata</a:t>
            </a:r>
            <a:endParaRPr lang="en-US" sz="24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942055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9700-AE1C-6CE7-8759-E56AD1B23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F9E9-3AE9-B14B-018E-5E65BA52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6C4EDC5-0FA4-ED5C-5511-97FDE39AE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Rproj.user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Rhistory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RData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Ruserdata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endParaRPr lang="en-US" sz="1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DS_Store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 err="1">
                <a:latin typeface="Monaco" pitchFamily="2" charset="77"/>
              </a:rPr>
              <a:t>tmp</a:t>
            </a:r>
            <a:endParaRPr lang="en-US" sz="24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25693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A3B3-D576-AEF6-FE0F-33B27327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465D-9939-CB50-0A59-4CEEE4446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BD6C95-6B09-0DB9-26B6-F5F259588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2984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Rproj.user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Rhistory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RData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Ruserdata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endParaRPr lang="en-US" sz="1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DS_Store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 err="1">
                <a:latin typeface="Monaco" pitchFamily="2" charset="77"/>
              </a:rPr>
              <a:t>tmp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endParaRPr lang="en-US" sz="1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*.</a:t>
            </a:r>
            <a:r>
              <a:rPr lang="en-US" sz="2400" dirty="0" err="1">
                <a:latin typeface="Monaco" pitchFamily="2" charset="77"/>
              </a:rPr>
              <a:t>vcf</a:t>
            </a:r>
            <a:endParaRPr lang="en-US" sz="24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data/private</a:t>
            </a:r>
          </a:p>
          <a:p>
            <a:pPr marL="0" indent="0">
              <a:buNone/>
            </a:pPr>
            <a:r>
              <a:rPr lang="en-US" sz="2400" dirty="0">
                <a:latin typeface="Monaco" pitchFamily="2" charset="77"/>
              </a:rPr>
              <a:t>.</a:t>
            </a:r>
            <a:r>
              <a:rPr lang="en-US" sz="2400" dirty="0" err="1">
                <a:latin typeface="Monaco" pitchFamily="2" charset="77"/>
              </a:rPr>
              <a:t>secure_token</a:t>
            </a:r>
            <a:endParaRPr lang="en-US" sz="24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145411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D3FC7-D093-051F-4103-875B0B28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C502-E2E9-21CB-C700-9DB9F99C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E5F7D3-0361-0395-CBBC-A9180C2F9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03" y="1539192"/>
            <a:ext cx="5297566" cy="3299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59589E-14EF-E3A3-689B-B2F4E3E2D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690" y="1539191"/>
            <a:ext cx="4750281" cy="511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810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7E67-D959-64EA-6A79-5EF0D5E5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2256-2D03-6B08-4B54-9D636FEA1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Перезапускайте сессию</a:t>
            </a:r>
            <a:endParaRPr lang="en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E49FED-5660-6141-D4D2-89055A298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981739" cy="297268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050AED-CD69-2CF1-B295-E68FFEEA4160}"/>
              </a:ext>
            </a:extLst>
          </p:cNvPr>
          <p:cNvCxnSpPr>
            <a:cxnSpLocks/>
          </p:cNvCxnSpPr>
          <p:nvPr/>
        </p:nvCxnSpPr>
        <p:spPr>
          <a:xfrm>
            <a:off x="4127027" y="3122103"/>
            <a:ext cx="1016000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252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161934A-020E-8880-8E1B-543CBB19D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4807"/>
            <a:ext cx="7772400" cy="5253566"/>
          </a:xfrm>
          <a:prstGeom prst="rect">
            <a:avLst/>
          </a:prstGeom>
          <a:ln w="12700">
            <a:noFill/>
          </a:ln>
          <a:effectLst>
            <a:glow rad="317500">
              <a:schemeClr val="bg1">
                <a:lumMod val="50000"/>
                <a:alpha val="3000"/>
              </a:schemeClr>
            </a:glo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A44C49-633B-97F5-FA86-1574120E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Используйте чистую сессию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0AA071-541B-6857-0DFC-A451018E1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43" t="967" r="1453" b="583"/>
          <a:stretch/>
        </p:blipFill>
        <p:spPr>
          <a:xfrm>
            <a:off x="1186089" y="2209032"/>
            <a:ext cx="4121274" cy="4283843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A15FF4-9DEC-7708-3F6C-F72ACFB48D89}"/>
              </a:ext>
            </a:extLst>
          </p:cNvPr>
          <p:cNvSpPr/>
          <p:nvPr/>
        </p:nvSpPr>
        <p:spPr>
          <a:xfrm>
            <a:off x="2207535" y="3550443"/>
            <a:ext cx="2027582" cy="58640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8EDDD-8C2A-8473-CD4E-DEC6145E254F}"/>
              </a:ext>
            </a:extLst>
          </p:cNvPr>
          <p:cNvSpPr txBox="1"/>
          <p:nvPr/>
        </p:nvSpPr>
        <p:spPr>
          <a:xfrm>
            <a:off x="8818745" y="2289526"/>
            <a:ext cx="32806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В директории проекта</a:t>
            </a:r>
          </a:p>
          <a:p>
            <a:r>
              <a:rPr lang="ru-RU" sz="2400" dirty="0">
                <a:solidFill>
                  <a:srgbClr val="C00000"/>
                </a:solidFill>
              </a:rPr>
              <a:t>не должно быть файла</a:t>
            </a:r>
          </a:p>
          <a:p>
            <a:endParaRPr lang="ru-RU" sz="2400" dirty="0">
              <a:solidFill>
                <a:srgbClr val="C00000"/>
              </a:solidFill>
            </a:endParaRPr>
          </a:p>
          <a:p>
            <a:pPr algn="ctr"/>
            <a:r>
              <a:rPr lang="en-US" sz="2400" dirty="0">
                <a:solidFill>
                  <a:srgbClr val="C00000"/>
                </a:solidFill>
                <a:latin typeface="Monaco" pitchFamily="2" charset="77"/>
              </a:rPr>
              <a:t>.</a:t>
            </a:r>
            <a:r>
              <a:rPr lang="en-US" sz="2400" dirty="0" err="1">
                <a:solidFill>
                  <a:srgbClr val="C00000"/>
                </a:solidFill>
                <a:latin typeface="Monaco" pitchFamily="2" charset="77"/>
              </a:rPr>
              <a:t>RData</a:t>
            </a:r>
            <a:endParaRPr lang="en-US" sz="2400" dirty="0">
              <a:solidFill>
                <a:srgbClr val="C00000"/>
              </a:solidFill>
              <a:latin typeface="Monaco" pitchFamily="2" charset="77"/>
            </a:endParaRPr>
          </a:p>
          <a:p>
            <a:pPr algn="ctr"/>
            <a:r>
              <a:rPr lang="en-US" sz="2400" dirty="0">
                <a:solidFill>
                  <a:srgbClr val="C00000"/>
                </a:solidFill>
              </a:rPr>
              <a:t>(</a:t>
            </a:r>
            <a:r>
              <a:rPr lang="ru-RU" sz="2400" dirty="0">
                <a:solidFill>
                  <a:srgbClr val="C00000"/>
                </a:solidFill>
              </a:rPr>
              <a:t>файл с состоянием)</a:t>
            </a:r>
            <a:endParaRPr lang="en-US" sz="2400" dirty="0">
              <a:solidFill>
                <a:srgbClr val="C0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FFCA4E-7BE4-7798-FBE7-DE8F8D88B40D}"/>
              </a:ext>
            </a:extLst>
          </p:cNvPr>
          <p:cNvCxnSpPr>
            <a:cxnSpLocks/>
          </p:cNvCxnSpPr>
          <p:nvPr/>
        </p:nvCxnSpPr>
        <p:spPr>
          <a:xfrm>
            <a:off x="6235227" y="4950903"/>
            <a:ext cx="1016000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3830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res - How They Start and How They Spread - FireArrest">
            <a:extLst>
              <a:ext uri="{FF2B5EF4-FFF2-40B4-BE49-F238E27FC236}">
                <a16:creationId xmlns:a16="http://schemas.microsoft.com/office/drawing/2014/main" id="{8C7769C0-8BE6-1A55-6707-4906321E1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590" y="2476442"/>
            <a:ext cx="8372820" cy="438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EA1B44-CC1D-A22F-4E0A-47164F10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Все сломалось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182F4-433F-BAF1-82A3-F96319783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ru-RU" dirty="0"/>
              <a:t>Закройте </a:t>
            </a:r>
            <a:r>
              <a:rPr lang="en-US" dirty="0"/>
              <a:t>RStudio </a:t>
            </a:r>
            <a:r>
              <a:rPr lang="ru-RU" dirty="0"/>
              <a:t>и переименуйте папку</a:t>
            </a:r>
            <a:endParaRPr lang="en-US" dirty="0"/>
          </a:p>
          <a:p>
            <a:r>
              <a:rPr lang="ru-RU" dirty="0" err="1"/>
              <a:t>Склонируйте</a:t>
            </a:r>
            <a:r>
              <a:rPr lang="ru-RU" dirty="0"/>
              <a:t> репозиторий заново</a:t>
            </a:r>
          </a:p>
          <a:p>
            <a:r>
              <a:rPr lang="ru-RU" dirty="0"/>
              <a:t>Внесите изменения из старой папки</a:t>
            </a:r>
            <a:endParaRPr lang="en-US" dirty="0"/>
          </a:p>
          <a:p>
            <a:r>
              <a:rPr lang="ru-RU" dirty="0"/>
              <a:t>Удалите старую папку</a:t>
            </a:r>
          </a:p>
        </p:txBody>
      </p:sp>
    </p:spTree>
    <p:extLst>
      <p:ext uri="{BB962C8B-B14F-4D97-AF65-F5344CB8AC3E}">
        <p14:creationId xmlns:p14="http://schemas.microsoft.com/office/powerpoint/2010/main" val="27498467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A351C-A165-9108-D842-1EF86BBB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ires - How They Start and How They Spread - FireArrest">
            <a:extLst>
              <a:ext uri="{FF2B5EF4-FFF2-40B4-BE49-F238E27FC236}">
                <a16:creationId xmlns:a16="http://schemas.microsoft.com/office/drawing/2014/main" id="{AF5C4157-5B91-6E31-1755-35D429A1F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590" y="2476442"/>
            <a:ext cx="8372820" cy="438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D091F0-1672-E5B5-566F-AFC36C7D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Ветка на пользователя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370CA-250C-0DC7-101E-178E2804C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ru-RU" dirty="0"/>
              <a:t>Создайте ветку со своим именем или любым именем</a:t>
            </a:r>
          </a:p>
          <a:p>
            <a:r>
              <a:rPr lang="ru-RU" dirty="0" err="1"/>
              <a:t>Закомитьте</a:t>
            </a:r>
            <a:r>
              <a:rPr lang="ru-RU" dirty="0"/>
              <a:t> файлы и сделайте </a:t>
            </a:r>
            <a:r>
              <a:rPr lang="ru-RU" dirty="0" err="1"/>
              <a:t>пуш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67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D943-8A13-B19C-FCC0-644543AE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amend</a:t>
            </a:r>
            <a:r>
              <a:rPr lang="ru-RU" dirty="0"/>
              <a:t> – редактирует последний коммит</a:t>
            </a:r>
            <a:endParaRPr lang="en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F15D14-4655-2BE1-1231-1AD99FCB6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062" y="1341465"/>
            <a:ext cx="7531439" cy="5879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AD60D9-282F-D9EF-7D82-99465C546615}"/>
              </a:ext>
            </a:extLst>
          </p:cNvPr>
          <p:cNvSpPr txBox="1"/>
          <p:nvPr/>
        </p:nvSpPr>
        <p:spPr>
          <a:xfrm>
            <a:off x="7834513" y="1690688"/>
            <a:ext cx="3179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Только последний</a:t>
            </a:r>
          </a:p>
          <a:p>
            <a:r>
              <a:rPr lang="ru-RU" sz="2400" dirty="0">
                <a:solidFill>
                  <a:srgbClr val="C00000"/>
                </a:solidFill>
              </a:rPr>
              <a:t>Только не запушенный</a:t>
            </a:r>
            <a:endParaRPr lang="en-RU" sz="2400" dirty="0">
              <a:solidFill>
                <a:srgbClr val="C0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BDB109-286B-ED3A-752B-6D53470ABAE1}"/>
              </a:ext>
            </a:extLst>
          </p:cNvPr>
          <p:cNvCxnSpPr>
            <a:cxnSpLocks/>
          </p:cNvCxnSpPr>
          <p:nvPr/>
        </p:nvCxnSpPr>
        <p:spPr>
          <a:xfrm>
            <a:off x="4877781" y="3345045"/>
            <a:ext cx="190930" cy="470599"/>
          </a:xfrm>
          <a:prstGeom prst="line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1756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76FD1-41BE-B9B0-FE66-EE258AAA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onaco" pitchFamily="2" charset="77"/>
              </a:rPr>
              <a:t>g</a:t>
            </a:r>
            <a:r>
              <a:rPr lang="en-RU" dirty="0">
                <a:latin typeface="Monaco" pitchFamily="2" charset="77"/>
              </a:rPr>
              <a:t>it push --force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8BC96-DFC9-0CF9-9C70-3F4CC1A4D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Вы пытаетесь переписать чужие изменения.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Вы пытаетесь переписать</a:t>
            </a:r>
            <a:r>
              <a:rPr lang="en-US" dirty="0"/>
              <a:t> </a:t>
            </a:r>
            <a:r>
              <a:rPr lang="ru-RU" dirty="0"/>
              <a:t>свои изменения,</a:t>
            </a:r>
          </a:p>
          <a:p>
            <a:pPr marL="0" indent="0">
              <a:buNone/>
            </a:pPr>
            <a:r>
              <a:rPr lang="ru-RU" dirty="0"/>
              <a:t>но если их уже кто-то запулил –</a:t>
            </a:r>
          </a:p>
          <a:p>
            <a:pPr marL="0" indent="0">
              <a:buNone/>
            </a:pPr>
            <a:r>
              <a:rPr lang="ru-RU" dirty="0"/>
              <a:t>все сгорит </a:t>
            </a:r>
            <a:r>
              <a:rPr lang="en-US" dirty="0"/>
              <a:t>💀</a:t>
            </a:r>
          </a:p>
        </p:txBody>
      </p:sp>
      <p:pic>
        <p:nvPicPr>
          <p:cNvPr id="1026" name="Picture 2" descr="Square peg in a round hole Meme Generator - Imgflip">
            <a:extLst>
              <a:ext uri="{FF2B5EF4-FFF2-40B4-BE49-F238E27FC236}">
                <a16:creationId xmlns:a16="http://schemas.microsoft.com/office/drawing/2014/main" id="{F055E44F-7979-76D0-502A-DE29B7E7B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813" y="1690688"/>
            <a:ext cx="2693031" cy="4053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4034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C85E438-3A65-83E7-4ACF-CFE5E8F5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35B18-E23E-3821-0957-435CC3C1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README.md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14DBE-70D9-6823-0B2A-511C69ABD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92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1" dirty="0">
                <a:latin typeface="Monaco" pitchFamily="2" charset="77"/>
              </a:rPr>
              <a:t># </a:t>
            </a:r>
            <a:r>
              <a:rPr lang="ru-RU" sz="1600" b="1" dirty="0">
                <a:latin typeface="Monaco" pitchFamily="2" charset="77"/>
              </a:rPr>
              <a:t>Название проекта</a:t>
            </a:r>
            <a:endParaRPr lang="en-US" sz="1600" b="1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ru-RU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1600" dirty="0">
                <a:latin typeface="Monaco" pitchFamily="2" charset="77"/>
              </a:rPr>
              <a:t>Краткое описание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1" dirty="0">
                <a:latin typeface="Monaco" pitchFamily="2" charset="77"/>
              </a:rPr>
              <a:t>## </a:t>
            </a:r>
            <a:r>
              <a:rPr lang="ru-RU" sz="1600" b="1" dirty="0">
                <a:latin typeface="Monaco" pitchFamily="2" charset="77"/>
              </a:rPr>
              <a:t>Данные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ru-RU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1600" dirty="0">
                <a:latin typeface="Monaco" pitchFamily="2" charset="77"/>
              </a:rPr>
              <a:t>В файле </a:t>
            </a:r>
            <a:r>
              <a:rPr lang="en-US" sz="1600" dirty="0">
                <a:solidFill>
                  <a:srgbClr val="0070C0"/>
                </a:solidFill>
                <a:latin typeface="Monaco" pitchFamily="2" charset="77"/>
              </a:rPr>
              <a:t>[imdb250.csv](imdb250.csv)</a:t>
            </a:r>
            <a:r>
              <a:rPr lang="en-US" sz="1600" dirty="0">
                <a:latin typeface="Monaco" pitchFamily="2" charset="77"/>
              </a:rPr>
              <a:t> </a:t>
            </a:r>
            <a:r>
              <a:rPr lang="ru-RU" sz="1600" dirty="0">
                <a:latin typeface="Monaco" pitchFamily="2" charset="77"/>
              </a:rPr>
              <a:t>содержится</a:t>
            </a:r>
            <a:endParaRPr lang="en-US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1600" dirty="0">
                <a:latin typeface="Monaco" pitchFamily="2" charset="77"/>
              </a:rPr>
              <a:t>250 самых оцениваемых фильмов с 1980 по 2024 год.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b="1" dirty="0">
                <a:latin typeface="Monaco" pitchFamily="2" charset="77"/>
              </a:rPr>
              <a:t>##</a:t>
            </a:r>
            <a:r>
              <a:rPr lang="ru-RU" sz="1600" b="1" dirty="0">
                <a:latin typeface="Monaco" pitchFamily="2" charset="77"/>
              </a:rPr>
              <a:t> Анализ выживаемости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ru-RU" sz="1600" b="1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1600" dirty="0">
                <a:latin typeface="Monaco" pitchFamily="2" charset="77"/>
              </a:rPr>
              <a:t>Краткое описание и ссылка на файл с анализом. Общая выживаемость проанализирована при помощи </a:t>
            </a:r>
            <a:r>
              <a:rPr lang="en-US" sz="1600" dirty="0">
                <a:solidFill>
                  <a:srgbClr val="0070C0"/>
                </a:solidFill>
                <a:latin typeface="Monaco" pitchFamily="2" charset="77"/>
              </a:rPr>
              <a:t>[</a:t>
            </a:r>
            <a:r>
              <a:rPr lang="ru-RU" sz="1600" dirty="0">
                <a:solidFill>
                  <a:srgbClr val="0070C0"/>
                </a:solidFill>
                <a:latin typeface="Monaco" pitchFamily="2" charset="77"/>
              </a:rPr>
              <a:t>регрессии Кокса, построены скорректированные (</a:t>
            </a:r>
            <a:r>
              <a:rPr lang="en-US" sz="1600" dirty="0">
                <a:solidFill>
                  <a:srgbClr val="0070C0"/>
                </a:solidFill>
                <a:latin typeface="Monaco" pitchFamily="2" charset="77"/>
              </a:rPr>
              <a:t>adjusted) </a:t>
            </a:r>
            <a:r>
              <a:rPr lang="ru-RU" sz="1600" dirty="0">
                <a:solidFill>
                  <a:srgbClr val="0070C0"/>
                </a:solidFill>
                <a:latin typeface="Monaco" pitchFamily="2" charset="77"/>
              </a:rPr>
              <a:t>кривые выживаемости</a:t>
            </a:r>
            <a:r>
              <a:rPr lang="en-US" sz="1600" dirty="0">
                <a:solidFill>
                  <a:srgbClr val="0070C0"/>
                </a:solidFill>
                <a:latin typeface="Monaco" pitchFamily="2" charset="77"/>
              </a:rPr>
              <a:t>](03-mod.Rmd)</a:t>
            </a:r>
            <a:r>
              <a:rPr lang="ru-RU" sz="1600" dirty="0">
                <a:latin typeface="Monaco" pitchFamily="2" charset="77"/>
              </a:rPr>
              <a:t> при помощи </a:t>
            </a:r>
            <a:r>
              <a:rPr lang="en-US" sz="1600" dirty="0" err="1">
                <a:latin typeface="Monaco" pitchFamily="2" charset="77"/>
              </a:rPr>
              <a:t>survexp</a:t>
            </a:r>
            <a:r>
              <a:rPr lang="en-US" sz="1600" dirty="0">
                <a:latin typeface="Monaco" pitchFamily="2" charset="77"/>
              </a:rPr>
              <a:t>[^1]</a:t>
            </a:r>
            <a:r>
              <a:rPr lang="ru-RU" sz="1600" dirty="0">
                <a:latin typeface="Monaco" pitchFamily="2" charset="77"/>
              </a:rPr>
              <a:t>.</a:t>
            </a:r>
            <a:endParaRPr lang="en-US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US" sz="16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600" dirty="0">
                <a:latin typeface="Monaco" pitchFamily="2" charset="77"/>
              </a:rPr>
              <a:t>[^1]: Adjusted Survival Curves. </a:t>
            </a:r>
            <a:r>
              <a:rPr lang="en-US" sz="1600" dirty="0" err="1">
                <a:latin typeface="Monaco" pitchFamily="2" charset="77"/>
              </a:rPr>
              <a:t>Therneau</a:t>
            </a:r>
            <a:r>
              <a:rPr lang="en-US" sz="1600" dirty="0">
                <a:latin typeface="Monaco" pitchFamily="2" charset="77"/>
              </a:rPr>
              <a:t>, Crowson, Atkinson, 2015</a:t>
            </a:r>
            <a:endParaRPr lang="ru-RU" sz="16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089682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1CE8-3C87-81B9-ABF2-CB68AC35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Клиенты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D368C-6B70-4CB9-E26F-0DC9F6E68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(</a:t>
            </a:r>
            <a:r>
              <a:rPr lang="ru-RU" dirty="0"/>
              <a:t>терминал)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3D148-6D0B-6C93-A194-1EAA028AA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933" y="902481"/>
            <a:ext cx="7772400" cy="559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353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A5E1AD-0FC2-77E8-04F3-BEEB9D58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430C-C9F5-DDD8-FF4E-310960B5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Клиенты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C008-BD21-05D1-5884-AF8F89C7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(</a:t>
            </a:r>
            <a:r>
              <a:rPr lang="ru-RU" dirty="0"/>
              <a:t>терминал)</a:t>
            </a:r>
            <a:endParaRPr lang="en-US" dirty="0"/>
          </a:p>
          <a:p>
            <a:r>
              <a:rPr lang="en-US" dirty="0"/>
              <a:t>RStudio</a:t>
            </a:r>
            <a:endParaRPr lang="en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EB943-059E-045C-127E-FF4E6C0F8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022" y="681037"/>
            <a:ext cx="6872778" cy="625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269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F128C8-2791-6C7D-E429-25F4D092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A1F8C-C662-F0F1-EFB7-0E2B9599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Клиенты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7C937-AAB7-6881-345C-22F7F8D10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(</a:t>
            </a:r>
            <a:r>
              <a:rPr lang="ru-RU" dirty="0"/>
              <a:t>терминал)</a:t>
            </a:r>
            <a:endParaRPr lang="en-US" dirty="0"/>
          </a:p>
          <a:p>
            <a:r>
              <a:rPr lang="en-US" dirty="0"/>
              <a:t>RStudio</a:t>
            </a:r>
            <a:endParaRPr lang="en-RU" dirty="0"/>
          </a:p>
          <a:p>
            <a:r>
              <a:rPr lang="en-RU" dirty="0"/>
              <a:t>GitKraken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D0C87-A039-492E-C3EA-09607BDD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980" y="822954"/>
            <a:ext cx="8305800" cy="61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047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1EFA10-A66F-AC97-406A-AE204F1C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7FCE-DAD2-A4D1-5193-574A02ED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Клиенты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486C-2654-C44B-CAA2-91A88AF03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(</a:t>
            </a:r>
            <a:r>
              <a:rPr lang="ru-RU" dirty="0"/>
              <a:t>терминал)</a:t>
            </a:r>
            <a:endParaRPr lang="en-US" dirty="0"/>
          </a:p>
          <a:p>
            <a:r>
              <a:rPr lang="en-US" dirty="0"/>
              <a:t>RStudio</a:t>
            </a:r>
            <a:endParaRPr lang="en-RU" dirty="0"/>
          </a:p>
          <a:p>
            <a:r>
              <a:rPr lang="en-RU" dirty="0"/>
              <a:t>GitKraken</a:t>
            </a:r>
          </a:p>
          <a:p>
            <a:r>
              <a:rPr lang="en-RU" dirty="0"/>
              <a:t>GitHub Desktop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BB3A6-D21F-4EE6-96BA-5541E20208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42980" y="911434"/>
            <a:ext cx="8305800" cy="598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18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5706</TotalTime>
  <Words>813</Words>
  <Application>Microsoft Macintosh PowerPoint</Application>
  <PresentationFormat>Widescreen</PresentationFormat>
  <Paragraphs>281</Paragraphs>
  <Slides>68</Slides>
  <Notes>38</Notes>
  <HiddenSlides>10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4" baseType="lpstr">
      <vt:lpstr>Aptos</vt:lpstr>
      <vt:lpstr>Arial</vt:lpstr>
      <vt:lpstr>Calibri</vt:lpstr>
      <vt:lpstr>Calibri Light</vt:lpstr>
      <vt:lpstr>Monaco</vt:lpstr>
      <vt:lpstr>Office Theme</vt:lpstr>
      <vt:lpstr>Основы Git</vt:lpstr>
      <vt:lpstr>Кто использует Git</vt:lpstr>
      <vt:lpstr>Кто использует Git</vt:lpstr>
      <vt:lpstr>Кто использует Git</vt:lpstr>
      <vt:lpstr>Кто использует Git</vt:lpstr>
      <vt:lpstr>Кто использует Git</vt:lpstr>
      <vt:lpstr>Зачем?</vt:lpstr>
      <vt:lpstr>Зачем?</vt:lpstr>
      <vt:lpstr>Зачем?</vt:lpstr>
      <vt:lpstr>Зачем?</vt:lpstr>
      <vt:lpstr>Зачем?</vt:lpstr>
      <vt:lpstr>План</vt:lpstr>
      <vt:lpstr>Что такое Git – Система Контроля Версий (VCS)</vt:lpstr>
      <vt:lpstr>Что такое Git – Система Контроля Версий (VCS)</vt:lpstr>
      <vt:lpstr>Что такое Git – Система Контроля Версий (VCS)</vt:lpstr>
      <vt:lpstr>Что такое Git – Система Контроля Версий (VCS)</vt:lpstr>
      <vt:lpstr>Совместная работа</vt:lpstr>
      <vt:lpstr>Вопросы?</vt:lpstr>
      <vt:lpstr>Создание репозитория</vt:lpstr>
      <vt:lpstr>Создание репозитория</vt:lpstr>
      <vt:lpstr>Создание репозитория</vt:lpstr>
      <vt:lpstr>Создание репозитория</vt:lpstr>
      <vt:lpstr>Отслеживание изменений</vt:lpstr>
      <vt:lpstr>Отслеживание изменений</vt:lpstr>
      <vt:lpstr>Отслеживание изменений</vt:lpstr>
      <vt:lpstr>Отслеживание изменений</vt:lpstr>
      <vt:lpstr>Чистая рабочая область</vt:lpstr>
      <vt:lpstr>Чистая рабочая область</vt:lpstr>
      <vt:lpstr>Чистая рабочая область</vt:lpstr>
      <vt:lpstr>Чистая рабочая область</vt:lpstr>
      <vt:lpstr>НЕчистая рабочая область</vt:lpstr>
      <vt:lpstr>Просмотр истории</vt:lpstr>
      <vt:lpstr>Ветки</vt:lpstr>
      <vt:lpstr>Создание ветки</vt:lpstr>
      <vt:lpstr>Создание ветки</vt:lpstr>
      <vt:lpstr>Создание ветки</vt:lpstr>
      <vt:lpstr>Переключение веток</vt:lpstr>
      <vt:lpstr>Переключение веток не работает</vt:lpstr>
      <vt:lpstr>Переключение веток не работает</vt:lpstr>
      <vt:lpstr>Слияние веток (merge) в терминале</vt:lpstr>
      <vt:lpstr>Слияние веток (merge) на GitHub</vt:lpstr>
      <vt:lpstr>merge conflict</vt:lpstr>
      <vt:lpstr>merge conflict</vt:lpstr>
      <vt:lpstr>merge conflict</vt:lpstr>
      <vt:lpstr>merge conflict</vt:lpstr>
      <vt:lpstr>GitHub</vt:lpstr>
      <vt:lpstr>GitHub</vt:lpstr>
      <vt:lpstr>Репозиторий</vt:lpstr>
      <vt:lpstr>Загрузка изменений</vt:lpstr>
      <vt:lpstr>Pull Request</vt:lpstr>
      <vt:lpstr>Подсказки</vt:lpstr>
      <vt:lpstr>Подсказки</vt:lpstr>
      <vt:lpstr>push rejection</vt:lpstr>
      <vt:lpstr>.gitignore</vt:lpstr>
      <vt:lpstr>.gitignore</vt:lpstr>
      <vt:lpstr>.gitignore</vt:lpstr>
      <vt:lpstr>.gitignore</vt:lpstr>
      <vt:lpstr>Перезапускайте сессию</vt:lpstr>
      <vt:lpstr>Используйте чистую сессию</vt:lpstr>
      <vt:lpstr>Все сломалось</vt:lpstr>
      <vt:lpstr>Ветка на пользователя</vt:lpstr>
      <vt:lpstr>amend – редактирует последний коммит</vt:lpstr>
      <vt:lpstr>git push --force</vt:lpstr>
      <vt:lpstr>README.md</vt:lpstr>
      <vt:lpstr>Клиенты</vt:lpstr>
      <vt:lpstr>Клиенты</vt:lpstr>
      <vt:lpstr>Клиенты</vt:lpstr>
      <vt:lpstr>Клиенты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Kirill Voronin</dc:creator>
  <cp:lastModifiedBy>Kirill Voronin</cp:lastModifiedBy>
  <cp:revision>632</cp:revision>
  <dcterms:created xsi:type="dcterms:W3CDTF">2024-12-01T19:57:34Z</dcterms:created>
  <dcterms:modified xsi:type="dcterms:W3CDTF">2025-09-13T11:32:40Z</dcterms:modified>
</cp:coreProperties>
</file>