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256" r:id="rId2"/>
    <p:sldId id="399" r:id="rId3"/>
    <p:sldId id="402" r:id="rId4"/>
    <p:sldId id="403" r:id="rId5"/>
    <p:sldId id="404" r:id="rId6"/>
    <p:sldId id="405" r:id="rId7"/>
    <p:sldId id="409" r:id="rId8"/>
    <p:sldId id="406" r:id="rId9"/>
    <p:sldId id="410" r:id="rId10"/>
    <p:sldId id="407" r:id="rId11"/>
    <p:sldId id="408" r:id="rId12"/>
    <p:sldId id="257" r:id="rId13"/>
    <p:sldId id="379" r:id="rId14"/>
    <p:sldId id="425" r:id="rId15"/>
    <p:sldId id="394" r:id="rId16"/>
    <p:sldId id="395" r:id="rId17"/>
    <p:sldId id="411" r:id="rId18"/>
    <p:sldId id="413" r:id="rId19"/>
    <p:sldId id="412" r:id="rId20"/>
    <p:sldId id="416" r:id="rId21"/>
    <p:sldId id="383" r:id="rId22"/>
    <p:sldId id="417" r:id="rId23"/>
    <p:sldId id="418" r:id="rId24"/>
    <p:sldId id="419" r:id="rId25"/>
    <p:sldId id="420" r:id="rId26"/>
    <p:sldId id="422" r:id="rId27"/>
    <p:sldId id="423" r:id="rId28"/>
    <p:sldId id="424" r:id="rId29"/>
    <p:sldId id="421" r:id="rId30"/>
    <p:sldId id="426" r:id="rId31"/>
    <p:sldId id="427" r:id="rId32"/>
    <p:sldId id="386" r:id="rId33"/>
    <p:sldId id="428" r:id="rId34"/>
    <p:sldId id="387" r:id="rId35"/>
    <p:sldId id="437" r:id="rId36"/>
    <p:sldId id="438" r:id="rId37"/>
    <p:sldId id="388" r:id="rId38"/>
    <p:sldId id="440" r:id="rId39"/>
    <p:sldId id="323" r:id="rId40"/>
    <p:sldId id="439" r:id="rId41"/>
    <p:sldId id="369" r:id="rId42"/>
    <p:sldId id="365" r:id="rId43"/>
    <p:sldId id="370" r:id="rId44"/>
    <p:sldId id="371" r:id="rId45"/>
    <p:sldId id="397" r:id="rId46"/>
    <p:sldId id="389" r:id="rId47"/>
    <p:sldId id="390" r:id="rId48"/>
    <p:sldId id="391" r:id="rId49"/>
    <p:sldId id="392" r:id="rId50"/>
    <p:sldId id="393" r:id="rId51"/>
    <p:sldId id="361" r:id="rId52"/>
    <p:sldId id="372" r:id="rId53"/>
    <p:sldId id="431" r:id="rId54"/>
    <p:sldId id="432" r:id="rId55"/>
    <p:sldId id="433" r:id="rId56"/>
    <p:sldId id="349" r:id="rId57"/>
    <p:sldId id="434" r:id="rId58"/>
    <p:sldId id="435" r:id="rId59"/>
    <p:sldId id="436" r:id="rId60"/>
    <p:sldId id="324" r:id="rId61"/>
    <p:sldId id="319" r:id="rId62"/>
    <p:sldId id="429" r:id="rId63"/>
    <p:sldId id="373" r:id="rId64"/>
    <p:sldId id="321" r:id="rId65"/>
    <p:sldId id="374" r:id="rId66"/>
    <p:sldId id="364" r:id="rId67"/>
    <p:sldId id="363" r:id="rId68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8816C0C-9EAD-5045-A1AE-D0071E40A392}">
          <p14:sldIdLst>
            <p14:sldId id="256"/>
            <p14:sldId id="399"/>
            <p14:sldId id="402"/>
            <p14:sldId id="403"/>
            <p14:sldId id="404"/>
            <p14:sldId id="405"/>
            <p14:sldId id="409"/>
            <p14:sldId id="406"/>
            <p14:sldId id="410"/>
            <p14:sldId id="407"/>
            <p14:sldId id="408"/>
            <p14:sldId id="257"/>
          </p14:sldIdLst>
        </p14:section>
        <p14:section name="Введение" id="{A1773918-1110-2748-AACB-08DF525C6FC1}">
          <p14:sldIdLst>
            <p14:sldId id="379"/>
            <p14:sldId id="425"/>
            <p14:sldId id="394"/>
            <p14:sldId id="395"/>
          </p14:sldIdLst>
        </p14:section>
        <p14:section name="Основы" id="{1AB134E5-B0D4-AC41-99C7-28F18DDF3453}">
          <p14:sldIdLst>
            <p14:sldId id="411"/>
            <p14:sldId id="413"/>
            <p14:sldId id="412"/>
            <p14:sldId id="416"/>
            <p14:sldId id="383"/>
            <p14:sldId id="417"/>
            <p14:sldId id="418"/>
            <p14:sldId id="419"/>
            <p14:sldId id="420"/>
            <p14:sldId id="422"/>
            <p14:sldId id="423"/>
            <p14:sldId id="424"/>
            <p14:sldId id="421"/>
            <p14:sldId id="426"/>
            <p14:sldId id="427"/>
          </p14:sldIdLst>
        </p14:section>
        <p14:section name="Ветки" id="{5309686B-1D9A-0445-9BF6-69CE17370B77}">
          <p14:sldIdLst>
            <p14:sldId id="386"/>
            <p14:sldId id="428"/>
            <p14:sldId id="387"/>
            <p14:sldId id="437"/>
            <p14:sldId id="438"/>
            <p14:sldId id="388"/>
            <p14:sldId id="440"/>
            <p14:sldId id="323"/>
            <p14:sldId id="439"/>
            <p14:sldId id="369"/>
            <p14:sldId id="365"/>
            <p14:sldId id="370"/>
            <p14:sldId id="371"/>
            <p14:sldId id="397"/>
          </p14:sldIdLst>
        </p14:section>
        <p14:section name="GitHub" id="{9200F8DE-E056-B34E-8304-9E64981B3DBC}">
          <p14:sldIdLst>
            <p14:sldId id="389"/>
            <p14:sldId id="390"/>
            <p14:sldId id="391"/>
            <p14:sldId id="392"/>
            <p14:sldId id="393"/>
          </p14:sldIdLst>
        </p14:section>
        <p14:section name="Best practices" id="{AAA71CEA-55FE-9444-AE9F-B7C93E8ACC47}">
          <p14:sldIdLst>
            <p14:sldId id="361"/>
            <p14:sldId id="372"/>
            <p14:sldId id="431"/>
            <p14:sldId id="432"/>
            <p14:sldId id="433"/>
            <p14:sldId id="349"/>
            <p14:sldId id="434"/>
            <p14:sldId id="435"/>
            <p14:sldId id="436"/>
            <p14:sldId id="324"/>
            <p14:sldId id="319"/>
            <p14:sldId id="429"/>
            <p14:sldId id="373"/>
            <p14:sldId id="321"/>
            <p14:sldId id="374"/>
            <p14:sldId id="364"/>
            <p14:sldId id="3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9ED5"/>
    <a:srgbClr val="4DA72E"/>
    <a:srgbClr val="C00000"/>
    <a:srgbClr val="EF3B2C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47"/>
    <p:restoredTop sz="82235"/>
  </p:normalViewPr>
  <p:slideViewPr>
    <p:cSldViewPr snapToGrid="0">
      <p:cViewPr>
        <p:scale>
          <a:sx n="96" d="100"/>
          <a:sy n="96" d="100"/>
        </p:scale>
        <p:origin x="1544" y="472"/>
      </p:cViewPr>
      <p:guideLst/>
    </p:cSldViewPr>
  </p:slideViewPr>
  <p:outlineViewPr>
    <p:cViewPr>
      <p:scale>
        <a:sx n="33" d="100"/>
        <a:sy n="33" d="100"/>
      </p:scale>
      <p:origin x="0" y="-119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5F5216-AE74-114D-86F8-D8BCED9ED3D1}" type="datetimeFigureOut">
              <a:rPr lang="en-RU" smtClean="0"/>
              <a:t>9/12/25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FE0D41-93C9-A64D-BD89-67176F36031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44095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Кирилл</a:t>
            </a:r>
          </a:p>
          <a:p>
            <a:r>
              <a:rPr lang="ru-RU" dirty="0"/>
              <a:t>Центр </a:t>
            </a:r>
            <a:r>
              <a:rPr lang="ru-RU" dirty="0" err="1"/>
              <a:t>онкогематологи</a:t>
            </a:r>
            <a:r>
              <a:rPr lang="ru-RU" dirty="0"/>
              <a:t> Димы Рогачева</a:t>
            </a:r>
          </a:p>
          <a:p>
            <a:r>
              <a:rPr lang="ru-RU" dirty="0"/>
              <a:t>Используем </a:t>
            </a:r>
            <a:r>
              <a:rPr lang="en-US" dirty="0"/>
              <a:t>Git </a:t>
            </a:r>
            <a:r>
              <a:rPr lang="ru-RU" dirty="0"/>
              <a:t>1) для совместной работы 2) для коммуникации и 3) отчетности, у нас вокруг него построена работа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6588806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12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546110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4C1EE-6CAF-F85D-8FBE-31E055781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93FA1-CA46-8F19-4204-E1B6B3D775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A5A0B8-451D-6A15-5B0F-61562C6AC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86C30-B0DC-7CAB-1E97-0C2D31F7B4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13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8897649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106CC-39DA-30CE-3303-F71E29E22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1B436D-20D6-11E3-2016-BB969132E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6F78DC-2453-D319-ABE5-E5B60CCC6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6C8C8-5021-7287-2C2D-53C9E8AC6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14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2987750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A316-A02D-E558-2BEB-A65B555D8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AA4C07-C950-B6F5-5943-9977019905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DC853B-12F9-A2C1-859B-64758F0888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D0DE96-59A8-F36D-4F96-4FE8598450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15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2133845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1DAEF-5182-1445-30C1-F25E78993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28063-47ED-7409-643D-4018E653C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174776-9020-BDD4-3002-500B4650B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 проектом</a:t>
            </a:r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AC8E0-DAE2-B1A6-5A4C-B71D0BE53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17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2966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AEC6A-F4E9-04D9-D19C-62DE3ED70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B3AA8F-D9D5-D152-3DFA-D860924BD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D7E2E-9551-723D-7ACF-AD2C56A1F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 проектом</a:t>
            </a:r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EE7F7-0C41-8D6C-B360-F9F211449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18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1988592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AD502-23E2-4FF2-8252-C46628DB3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C9CFB-1CC0-7022-E0BF-77E69DFCCF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AF05A-37B1-F580-E775-2C4EB36C7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9FEA7-45FF-515B-0C3A-71C1034C6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19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122670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FEC5-04D1-7B7C-460F-AD2F8D7DC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F6280F-1A96-A1F5-7939-D20CC2EB3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5239A6-8554-2271-3B86-38BA7A8E3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8E74BB-D484-8EBC-4FD0-418122DB72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20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9581016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9C169-C05E-336F-F602-F3635075A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7E98F6-C807-7939-CD9E-00C9B3252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707D4E-E291-03F2-20BE-37E9F906B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422C6-1795-CE5A-C187-D5E6E22CBE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21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6123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9C4CC-19C2-8348-B08B-C603F3E5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03D71-BC62-E437-5D09-992E93FA0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033471-5523-B4FB-6195-F9767C6504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839FF-DFAD-0B6A-13CB-7AA79FF9C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22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3488698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60FA4-173F-00C1-E704-01F256D5E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D85822-4EB3-43CA-D1F0-205B0B6A71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E6BFB0-9472-9DE2-5026-EC7AFA877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dirty="0"/>
              <a:t>Сказать про создаем коммит / делаем коммит / коммитим (как в </a:t>
            </a:r>
            <a:r>
              <a:rPr lang="ru-RU" sz="1200"/>
              <a:t>англ.)</a:t>
            </a:r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51435-FAAC-8A16-49B6-D860318BA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23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8378403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B3EC7-1110-4AA0-C536-89F5E2F72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7D20FA-D314-5495-A4A8-3E8C0E229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C9353-5D47-8A68-1C87-28EC16854D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1EC88-6452-73DE-AC26-D9DFC4C86B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24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1058314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13D1-039A-EB7B-5F18-07ABDF19F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61A9C-AF73-FDD8-2D60-80986F3D9D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04A9CF-10C4-B9A8-8BEA-2275C02BB7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56EB3C-07C1-045D-A15E-4027805D03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25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2058320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6FCEA-2E6B-D2AC-8939-A775A6DDF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19251-1992-CC44-DABD-4E6CF9E68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2CBAE1-A410-AB8E-9208-6F82EC6FB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75DA59-A459-12BA-517A-8F052413B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26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1308728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49013-1AD0-D8F3-BDAB-908E7FCAF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8AEC9F-C65E-B780-5ED1-5415C4B7C6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3124B1-4311-3C55-E95E-ADC5FFA51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CBF91-D563-5D75-B6D4-1C74631FC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27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962002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F3731-7126-F8E4-0B2D-C4F2812A3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61654E-AA02-930D-9358-89556B243E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8078B9-914C-1959-C466-9D1BD6B6F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5FA83-14EB-AF02-9F67-03762BDB4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28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2627168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EF167-87AA-E7BA-064F-9862388AB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21522D-1F2E-6657-C117-6D240AD2AA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34277F-E593-3709-27FD-4900C85D21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dirty="0"/>
              <a:t>Закон Миллера 7 +</a:t>
            </a:r>
            <a:r>
              <a:rPr lang="en-US" sz="1200" dirty="0"/>
              <a:t>/-</a:t>
            </a:r>
            <a:r>
              <a:rPr lang="ru-RU" sz="1200" dirty="0"/>
              <a:t> 2</a:t>
            </a:r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A183F-00AB-98F4-817E-4DF22AE65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29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572485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07725-5863-547B-5988-BA6E6F738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87AE1F-282C-DA93-36F8-DFC904147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AFB39A-73F9-572E-DD06-521ECB771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Введение</a:t>
            </a:r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AE381-149F-FA47-B324-2714A4235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32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566679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50371-2C71-6132-41E9-3A57E9DA6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1AF1B8-2A82-35A2-E694-99AFDCA553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6F49BA-F94F-9762-A888-6F13E2EB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5942-4CBD-0656-EEDA-B55B4080F7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33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2416478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A0638-52A8-BD94-A47F-1CF8935AE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5714D0-A173-A0F1-3BBE-83DA010496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807BD7-47A7-310B-2663-B5F762F69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92A2C-A2EA-FAAC-EB43-BDA23F194F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34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0828647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8E057-5CC9-16FF-8BAF-5D1BA101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115500-7237-0CE5-FF04-0DDBA12F5C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36150-00AC-B87B-8478-C648BA269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47A4A2-560C-EA4B-3E95-88EE1B2451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35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37463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79511-CEE3-A9D2-DBD2-E4B271015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2A8BA2-ED98-2D53-789F-5AA837D9DC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CE161F-5863-FE1F-0644-435C9F799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331364-C640-3F24-69DD-01AB67A4CE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36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365519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C3959-0803-0779-CE08-2EF41F8ED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11B57C-09E6-763B-704A-800BE2EA4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823F48-6D84-8D60-AA2E-952BE3DD1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636E9-8970-D880-8DE2-947745CF8C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37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1559705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A8153-FFF1-7B42-78A8-89C1203F2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2EA6C1-A46B-9D03-F39B-4FDC541CF0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DF75F9-8160-1726-2FF3-2B9F9E2CF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5B8CC-72C1-F762-CDAB-269E1B410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38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449550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D4211-0019-A581-726B-313F48FB3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FF7CFC-8257-F016-E165-777F1754D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49D26C-6806-EF86-D1C5-F49FEE704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C68B0-45B9-C485-CB3D-6A5BDC2A90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46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277786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ED058-58AC-E692-4101-5FC5CA6C8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4471D9-F49E-D2A3-8914-B44BCFA6DA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38AE0B-934C-FECF-6B17-B33E07DC3F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0D328C-9169-0F43-65A4-DC07399AC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47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0565451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94FE7-D0E1-A21A-9223-7565BFD67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C68FDC-ECFD-85C7-2F44-A2006D7273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14CB4-1859-7533-193E-6F24A8C5A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36AC9A-9489-F756-65A7-EEA1CD692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48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859827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63CB7-F48F-DA79-CB15-8753F10B8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AF89B-C4B2-145B-86AB-ECBD58A9A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A29ED7-301E-0CD8-083E-9A5076F211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32002-3B31-A4AB-176D-DFB5F9791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49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7626841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7DC6F-8473-B2A2-F623-0AC109C37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0105E1-D972-9A45-D1EB-325C1DEB1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3CF91-1900-B5D2-66E4-F1866D2074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3E9B9-8367-BB34-6AD9-049641FAC2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50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37986841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E0D41-93C9-A64D-BD89-67176F36031A}" type="slidenum">
              <a:rPr lang="en-RU" smtClean="0"/>
              <a:t>59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2476544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60C47-E9D0-6B5B-C35F-A98DE516D9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81A527-69E5-9933-B95C-3C09400561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E1104-DDC6-BCE9-D907-23726CACB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09F9A-9089-6443-AB94-B837FAF2A1B8}" type="datetimeFigureOut">
              <a:rPr lang="en-RU" smtClean="0"/>
              <a:t>9/12/25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D3812-FCC1-1A07-98BD-11F7D70D4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352749-6B69-A61F-4003-0DAF54C58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FFA5-7565-224F-B0A0-BC25F36D181C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907418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20542-0D8E-4B69-B30D-EB28FA3F2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73B2E-8BFA-40C1-BCB2-416D102CC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5EE93C-58F7-6518-217B-7070CE0EA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09F9A-9089-6443-AB94-B837FAF2A1B8}" type="datetimeFigureOut">
              <a:rPr lang="en-RU" smtClean="0"/>
              <a:t>9/12/25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55055-D9B9-E10C-4B2F-910849B86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3C712-E1C5-704B-4AA1-483D5563E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FFA5-7565-224F-B0A0-BC25F36D181C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802098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1870E-1BAD-EA30-82E3-01DDF380E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A61B0F-650C-0858-BDCB-099228AC5A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D223A-C3B4-CD6E-55DD-340AF99E2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09F9A-9089-6443-AB94-B837FAF2A1B8}" type="datetimeFigureOut">
              <a:rPr lang="en-RU" smtClean="0"/>
              <a:t>9/12/25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BFD5A8-1BC0-6563-02C4-824B6B708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27C00-F961-2B9C-083E-588BC93D0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FFA5-7565-224F-B0A0-BC25F36D181C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19319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5382D-E888-E151-8903-7BE6DEB7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70E31-F8AA-9C67-9444-D59EA39C29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DFBA1C-1C63-560E-6826-A7A9888E34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292CA7-D2F5-F0B8-7087-FE19E3F2F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09F9A-9089-6443-AB94-B837FAF2A1B8}" type="datetimeFigureOut">
              <a:rPr lang="en-RU" smtClean="0"/>
              <a:t>9/12/25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5030AE-DE84-695E-F22D-EBB45B166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CAE0A-2C3F-B2CD-5D1D-13EAF439C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FFA5-7565-224F-B0A0-BC25F36D181C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57444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CF7D2-2CBA-9BC8-FE3C-814EDF2FA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F0B56-DCE0-6967-AE23-E507A280B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F8077E-500F-3393-1789-BDCD15D462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EAD54F-2BA4-4B45-03E4-3D265D23F7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3B450-EED0-089F-FC19-F699979310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057329-9551-7A6D-6511-37ACD3069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09F9A-9089-6443-AB94-B837FAF2A1B8}" type="datetimeFigureOut">
              <a:rPr lang="en-RU" smtClean="0"/>
              <a:t>9/12/25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89C973-5BDE-16BA-F256-A58EE29FE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C3D7A0-3E26-EC14-CBB6-F3268903A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FFA5-7565-224F-B0A0-BC25F36D181C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04698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F89AE-E204-0602-EE0E-36729B818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F2D9B9-9F00-2B3A-ACC9-669C3CFCF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09F9A-9089-6443-AB94-B837FAF2A1B8}" type="datetimeFigureOut">
              <a:rPr lang="en-RU" smtClean="0"/>
              <a:t>9/12/25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B13B9E-D8DD-F047-3CB7-A3EE6FFDB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D6AAEE-F519-7D64-2DCF-BED1ACC48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FFA5-7565-224F-B0A0-BC25F36D181C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731635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CB32BC-0579-61F2-DD3B-3B2C45549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09F9A-9089-6443-AB94-B837FAF2A1B8}" type="datetimeFigureOut">
              <a:rPr lang="en-RU" smtClean="0"/>
              <a:t>9/12/25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5618E5-9A28-57BA-FE28-DF7D0C45F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A64B8-6B30-C1A0-C9D0-A6FA59F61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FFA5-7565-224F-B0A0-BC25F36D181C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151982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45469-D030-525E-398A-A2CEA742E3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FDFFD-5EC5-E5B6-F00C-DF823F7E5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C3AD57-4311-E9F7-1957-9ED7C1BAE7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7FD0CD-9F83-9CE7-8C92-231031447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09F9A-9089-6443-AB94-B837FAF2A1B8}" type="datetimeFigureOut">
              <a:rPr lang="en-RU" smtClean="0"/>
              <a:t>9/12/25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75AAE-8A99-3DCB-C383-8E4121979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5F478-B5E5-94EA-A71A-326618496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FFA5-7565-224F-B0A0-BC25F36D181C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5238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A60BB-2FD4-92A4-D670-576996452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FD0873-A45C-7EFB-0C12-22A9D13DEB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E4438-31E0-31B6-388D-765F1D1893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0FF21-AD80-1A5C-7649-8B56090D2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09F9A-9089-6443-AB94-B837FAF2A1B8}" type="datetimeFigureOut">
              <a:rPr lang="en-RU" smtClean="0"/>
              <a:t>9/12/25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9876FE-95AA-4A75-5D84-2C3FB01D2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AD267-F868-60EA-EEE2-1005DE4A5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FFA5-7565-224F-B0A0-BC25F36D181C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9577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45003-A5EA-3A1F-3C44-FD9D0D54A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F9472B-17F4-7DD9-AE2D-40CD0F27B1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287EC1-4DB8-FBDC-8616-DE4339F8D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09F9A-9089-6443-AB94-B837FAF2A1B8}" type="datetimeFigureOut">
              <a:rPr lang="en-RU" smtClean="0"/>
              <a:t>9/12/25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68F33-155A-3ECF-4082-1BD00AA39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55CD0-4FF1-2FA3-1170-55802F200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FFA5-7565-224F-B0A0-BC25F36D181C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86433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6129C9-7189-7D9F-EB10-0415D7D918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560134-2FD2-482E-0B30-B952BD2900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449905-A601-1B1D-1CFF-B0B0B2B6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09F9A-9089-6443-AB94-B837FAF2A1B8}" type="datetimeFigureOut">
              <a:rPr lang="en-RU" smtClean="0"/>
              <a:t>9/12/25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77242A-D017-3F10-1D14-DB9A0F7F2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83465-DCAF-CF68-315D-78C0BCD44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FFA5-7565-224F-B0A0-BC25F36D181C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923270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1C80FC-BAC1-F498-988F-9C4014E55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69409C-0B98-DB5F-09D9-5046605031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5715A-752D-A969-3F1D-DDAF7477BE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D09F9A-9089-6443-AB94-B837FAF2A1B8}" type="datetimeFigureOut">
              <a:rPr lang="en-RU" smtClean="0"/>
              <a:t>9/12/25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840E3-49BB-945C-FC4C-A2C1130A86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FE91F-DBFB-B16A-DC91-10DA18B67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6FFFA5-7565-224F-B0A0-BC25F36D181C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48612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CB83D-7A21-B03C-7AD4-CFE6AC70AC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12756" y="2488211"/>
            <a:ext cx="5362833" cy="1021752"/>
          </a:xfrm>
        </p:spPr>
        <p:txBody>
          <a:bodyPr/>
          <a:lstStyle/>
          <a:p>
            <a:pPr algn="l"/>
            <a:r>
              <a:rPr lang="ru-RU" dirty="0">
                <a:latin typeface="+mn-lt"/>
              </a:rPr>
              <a:t>Основы </a:t>
            </a:r>
            <a:r>
              <a:rPr lang="en-US" dirty="0">
                <a:latin typeface="+mn-lt"/>
              </a:rPr>
              <a:t>Git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601DEA-0D10-7D5A-AAAC-74FDA712D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8340" y="4369789"/>
            <a:ext cx="9144000" cy="1655762"/>
          </a:xfrm>
        </p:spPr>
        <p:txBody>
          <a:bodyPr/>
          <a:lstStyle/>
          <a:p>
            <a:r>
              <a:rPr lang="en-GB" dirty="0"/>
              <a:t>Kirill Voronin &lt;</a:t>
            </a:r>
            <a:r>
              <a:rPr lang="en-GB" dirty="0" err="1"/>
              <a:t>imvoroninkir@gmail.com</a:t>
            </a:r>
            <a:r>
              <a:rPr lang="en-GB" dirty="0"/>
              <a:t>&gt;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2BA2B7-D495-146D-7FDE-843D61CE0A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208"/>
          <a:stretch>
            <a:fillRect/>
          </a:stretch>
        </p:blipFill>
        <p:spPr>
          <a:xfrm>
            <a:off x="7374238" y="2319637"/>
            <a:ext cx="1423773" cy="135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639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D44E3-389E-B157-199F-524A5F474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A0DF9-CEC2-F526-8316-E36ED896E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использует </a:t>
            </a:r>
            <a:r>
              <a:rPr lang="en-US" dirty="0"/>
              <a:t>Git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64EAE3-032F-646C-26E8-65A72EDCF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498623"/>
            <a:ext cx="7329616" cy="524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666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C56D8-FC61-E4F0-0204-62C5E4420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B0D98-FB7A-4AAD-40ED-293CDBC19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использует </a:t>
            </a:r>
            <a:r>
              <a:rPr lang="en-US" dirty="0"/>
              <a:t>Git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C2C600-B6AE-EB3A-8E8F-7FA08D6E1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498623"/>
            <a:ext cx="7329616" cy="52481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833D109-8268-7B14-8D81-8C6A02F1E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4717" y="1609834"/>
            <a:ext cx="6037063" cy="524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341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5D5C3-FDD4-E099-2D3F-45FCAF202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F5E28-14C3-A2C5-4E6D-735BDD04E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использует </a:t>
            </a:r>
            <a:r>
              <a:rPr lang="en-US" dirty="0"/>
              <a:t>Git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EA2ED3-783F-1B02-5047-0156C91B0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498623"/>
            <a:ext cx="7329616" cy="52481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24B72A7-6739-F675-24B1-6EC15CFFA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2139" y="1609834"/>
            <a:ext cx="6037063" cy="524816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5964E4D-05CA-A71C-F021-FD5FA8E876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3979" y="1387412"/>
            <a:ext cx="7772400" cy="519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880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304DF-6C8D-AE95-0F49-A9C0EDCB7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42200-6ACA-E528-20AA-C443938F3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использует </a:t>
            </a:r>
            <a:r>
              <a:rPr lang="en-US" dirty="0"/>
              <a:t>Git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FCEA70-A790-1CAB-AD81-50780BA6E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498623"/>
            <a:ext cx="7329616" cy="52481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1465A4-BFB9-A574-647C-C1F978E82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2139" y="1609834"/>
            <a:ext cx="6037063" cy="524816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CB46F4-C223-99AA-A529-7F360878D3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3979" y="1387412"/>
            <a:ext cx="7772400" cy="51930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4CC9142-B137-43C6-DD9A-8FBDCE4B51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0829" y="1551237"/>
            <a:ext cx="77724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393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478A0-E960-DD4B-71F5-D561F5169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1F7FE-3152-0AEE-31B4-DA2BD8946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использует </a:t>
            </a:r>
            <a:r>
              <a:rPr lang="en-US" dirty="0"/>
              <a:t>Git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2D0CD9-15B2-64E3-036E-AC7CE6C6B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498623"/>
            <a:ext cx="7329616" cy="52481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7CDCA07-3E04-1527-DF2E-8D5A56932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2139" y="1609834"/>
            <a:ext cx="6037063" cy="524816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4B18799-890C-AA4C-5A9F-042978658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3979" y="1387412"/>
            <a:ext cx="7772400" cy="51930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676F7C2-83BB-F035-EA9A-45833B6B9E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0829" y="1551237"/>
            <a:ext cx="7772400" cy="5029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CDC062-43CF-3A3B-5991-5CA43C8E2C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9757" y="2264971"/>
            <a:ext cx="7772400" cy="4534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228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2556C-2E3E-EDD7-E237-4438648B6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9BF68-B860-3745-8D52-BEEF58351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</a:t>
            </a:r>
            <a:r>
              <a:rPr lang="en-US" dirty="0"/>
              <a:t>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76B47C8-CE37-0CBA-F7FA-861D16DE9AF7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4351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DA8B3-DBBE-1C3D-9A48-25D4337C2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</a:t>
            </a:r>
            <a:r>
              <a:rPr lang="en-US" dirty="0"/>
              <a:t>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4CF44CF-010B-0108-F13E-E1FA703BD771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Это удобно (со временем)</a:t>
            </a:r>
          </a:p>
        </p:txBody>
      </p:sp>
    </p:spTree>
    <p:extLst>
      <p:ext uri="{BB962C8B-B14F-4D97-AF65-F5344CB8AC3E}">
        <p14:creationId xmlns:p14="http://schemas.microsoft.com/office/powerpoint/2010/main" val="77297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366D9-1EF4-EC40-58A6-6CB5BE940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948F4-314D-5D6E-AD64-7B8273352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</a:t>
            </a:r>
            <a:r>
              <a:rPr lang="en-US" dirty="0"/>
              <a:t>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3D0C861-315D-45BF-D519-4AD69AB7D7DA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Это удобно (со временем)</a:t>
            </a:r>
          </a:p>
          <a:p>
            <a:r>
              <a:rPr lang="ru-RU" dirty="0"/>
              <a:t>Домашнее задание</a:t>
            </a:r>
          </a:p>
          <a:p>
            <a:r>
              <a:rPr lang="ru-RU" dirty="0"/>
              <a:t>Проекты</a:t>
            </a:r>
          </a:p>
          <a:p>
            <a:r>
              <a:rPr lang="ru-RU" dirty="0"/>
              <a:t>Финальный проект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954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B05FA-C11C-F51D-BF69-F65B7828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346080A-811D-99B4-3F0C-DCEFB0118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628" y="2273643"/>
            <a:ext cx="6910172" cy="44739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EFC00E-2B62-4491-F5C0-874BF4E6A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</a:t>
            </a:r>
            <a:r>
              <a:rPr lang="en-US" dirty="0"/>
              <a:t>?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F8E8F86-4C7D-07C3-8E68-8B9ED6133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ru-RU" dirty="0"/>
              <a:t>Это удобно (со временем)</a:t>
            </a:r>
          </a:p>
          <a:p>
            <a:r>
              <a:rPr lang="ru-RU" dirty="0"/>
              <a:t>Домашнее задание</a:t>
            </a:r>
          </a:p>
          <a:p>
            <a:r>
              <a:rPr lang="ru-RU" dirty="0"/>
              <a:t>Проекты</a:t>
            </a:r>
          </a:p>
          <a:p>
            <a:r>
              <a:rPr lang="ru-RU" dirty="0"/>
              <a:t>Финальный проект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6954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24575-BC33-C435-87E9-B185F19C2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1D448C-F2C3-B7E0-3610-7690AB9DCC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628" y="2273643"/>
            <a:ext cx="6910172" cy="44739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7F52EE-F521-8D1B-CA79-32CAD5DF9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61D68-E564-EC42-3378-4470F9019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ru-RU" dirty="0"/>
              <a:t>Это удобно (со временем)</a:t>
            </a:r>
          </a:p>
          <a:p>
            <a:r>
              <a:rPr lang="ru-RU" dirty="0"/>
              <a:t>Домашнее задание</a:t>
            </a:r>
          </a:p>
          <a:p>
            <a:r>
              <a:rPr lang="ru-RU" dirty="0"/>
              <a:t>Проекты</a:t>
            </a:r>
          </a:p>
          <a:p>
            <a:r>
              <a:rPr lang="ru-RU" dirty="0"/>
              <a:t>Финальный проект</a:t>
            </a:r>
            <a:endParaRPr lang="en-US" dirty="0"/>
          </a:p>
          <a:p>
            <a:r>
              <a:rPr lang="ru-RU" dirty="0"/>
              <a:t>Резюме</a:t>
            </a:r>
          </a:p>
        </p:txBody>
      </p:sp>
    </p:spTree>
    <p:extLst>
      <p:ext uri="{BB962C8B-B14F-4D97-AF65-F5344CB8AC3E}">
        <p14:creationId xmlns:p14="http://schemas.microsoft.com/office/powerpoint/2010/main" val="1957900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49A5-D8D8-D051-3732-5F3E00B81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</a:t>
            </a:r>
            <a:endParaRPr lang="en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7DCFD-51F8-722F-FCB1-1AAB861D4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Освежим навыки с курса</a:t>
            </a:r>
          </a:p>
          <a:p>
            <a:r>
              <a:rPr lang="ru-RU" dirty="0"/>
              <a:t>Ответы на вопросы</a:t>
            </a:r>
          </a:p>
          <a:p>
            <a:r>
              <a:rPr lang="en-US" dirty="0"/>
              <a:t>Best practices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Создадим проект и совместный репозиторий для д/з</a:t>
            </a:r>
          </a:p>
          <a:p>
            <a:r>
              <a:rPr lang="ru-RU" dirty="0"/>
              <a:t>Каждый выполнит несколько шагов, синхронизируемся</a:t>
            </a:r>
            <a:endParaRPr lang="en-US" dirty="0"/>
          </a:p>
          <a:p>
            <a:r>
              <a:rPr lang="ru-RU" dirty="0"/>
              <a:t>Решим проблемы возникающие при совместной работе</a:t>
            </a:r>
          </a:p>
        </p:txBody>
      </p:sp>
    </p:spTree>
    <p:extLst>
      <p:ext uri="{BB962C8B-B14F-4D97-AF65-F5344CB8AC3E}">
        <p14:creationId xmlns:p14="http://schemas.microsoft.com/office/powerpoint/2010/main" val="1573435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D23FD-DE50-B008-531E-27E72A95D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2AA88-DB0F-4BA8-FEFD-5AC9173B3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Git</a:t>
            </a:r>
            <a:endParaRPr lang="en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38D71F-F0B8-8704-92D2-C395BC9A8413}"/>
              </a:ext>
            </a:extLst>
          </p:cNvPr>
          <p:cNvSpPr txBox="1"/>
          <p:nvPr/>
        </p:nvSpPr>
        <p:spPr>
          <a:xfrm>
            <a:off x="838200" y="1690688"/>
            <a:ext cx="4401590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Version Control System (VCS)</a:t>
            </a:r>
          </a:p>
          <a:p>
            <a:br>
              <a:rPr lang="en-US" sz="2800" dirty="0"/>
            </a:br>
            <a:r>
              <a:rPr lang="ru-RU" sz="2800" dirty="0"/>
              <a:t>версии — они же коммиты</a:t>
            </a:r>
          </a:p>
          <a:p>
            <a:br>
              <a:rPr lang="ru-RU" sz="2800" dirty="0"/>
            </a:br>
            <a:r>
              <a:rPr lang="ru-RU" sz="2800" dirty="0"/>
              <a:t>На основе файлов</a:t>
            </a:r>
          </a:p>
          <a:p>
            <a:br>
              <a:rPr lang="ru-RU" sz="2800" dirty="0"/>
            </a:br>
            <a:r>
              <a:rPr lang="ru-RU" sz="2800" dirty="0"/>
              <a:t>На вашем компьютере</a:t>
            </a:r>
          </a:p>
          <a:p>
            <a:endParaRPr lang="en-US" sz="2800" dirty="0"/>
          </a:p>
        </p:txBody>
      </p:sp>
      <p:pic>
        <p:nvPicPr>
          <p:cNvPr id="5" name="Picture 4" descr="A comic strip of a person sitting at a computer&#10;&#10;AI-generated content may be incorrect.">
            <a:extLst>
              <a:ext uri="{FF2B5EF4-FFF2-40B4-BE49-F238E27FC236}">
                <a16:creationId xmlns:a16="http://schemas.microsoft.com/office/drawing/2014/main" id="{52E531FC-F37B-60BD-C40E-6ECF9A514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6712" y="1027906"/>
            <a:ext cx="3810000" cy="5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7584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6825-BA40-2A7E-4CA6-D130332FF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ED844-5190-EF2C-762A-6A4B3AFDE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Git</a:t>
            </a:r>
            <a:endParaRPr lang="en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992CD5-0564-E3AF-56A2-90CB96A2AA37}"/>
              </a:ext>
            </a:extLst>
          </p:cNvPr>
          <p:cNvSpPr txBox="1"/>
          <p:nvPr/>
        </p:nvSpPr>
        <p:spPr>
          <a:xfrm>
            <a:off x="838200" y="1802515"/>
            <a:ext cx="5211427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Версии это не версии типа </a:t>
            </a:r>
            <a:r>
              <a:rPr lang="en-US" sz="2800" dirty="0"/>
              <a:t>v1.0.2</a:t>
            </a:r>
            <a:endParaRPr lang="ru-RU" sz="2800" dirty="0"/>
          </a:p>
          <a:p>
            <a:endParaRPr lang="en-US" sz="2800" dirty="0"/>
          </a:p>
          <a:p>
            <a:r>
              <a:rPr lang="ru-RU" sz="2800" dirty="0"/>
              <a:t>Показать версии в </a:t>
            </a:r>
            <a:r>
              <a:rPr lang="en-US" sz="2800" dirty="0"/>
              <a:t>Google Docs</a:t>
            </a:r>
          </a:p>
        </p:txBody>
      </p:sp>
    </p:spTree>
    <p:extLst>
      <p:ext uri="{BB962C8B-B14F-4D97-AF65-F5344CB8AC3E}">
        <p14:creationId xmlns:p14="http://schemas.microsoft.com/office/powerpoint/2010/main" val="30831419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F5491-EDF9-9C08-9ABA-A572B8DC1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C5BCE-37B0-4395-6291-42C90EA8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Совместная работа</a:t>
            </a:r>
            <a:endParaRPr lang="en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6AFADD-2657-33FF-0429-9B0932B340AE}"/>
              </a:ext>
            </a:extLst>
          </p:cNvPr>
          <p:cNvSpPr txBox="1"/>
          <p:nvPr/>
        </p:nvSpPr>
        <p:spPr>
          <a:xfrm>
            <a:off x="838200" y="1690688"/>
            <a:ext cx="569771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Пример нездоровой коммуникации</a:t>
            </a:r>
          </a:p>
          <a:p>
            <a:br>
              <a:rPr lang="ru-RU" sz="2800" dirty="0"/>
            </a:br>
            <a:endParaRPr lang="ru-RU" sz="2800" dirty="0"/>
          </a:p>
          <a:p>
            <a:r>
              <a:rPr lang="ru-RU" sz="2800" dirty="0"/>
              <a:t>Пример здоровой коммуникации</a:t>
            </a:r>
          </a:p>
        </p:txBody>
      </p:sp>
    </p:spTree>
    <p:extLst>
      <p:ext uri="{BB962C8B-B14F-4D97-AF65-F5344CB8AC3E}">
        <p14:creationId xmlns:p14="http://schemas.microsoft.com/office/powerpoint/2010/main" val="217963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43BD1-F69B-7748-F438-5EAB69896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F132C-21B2-19E0-97D2-6A9E1882B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Проблемы с установкой?</a:t>
            </a:r>
          </a:p>
          <a:p>
            <a:r>
              <a:rPr lang="ru-RU" dirty="0"/>
              <a:t>Вопросы по настройке (имя, </a:t>
            </a:r>
            <a:r>
              <a:rPr lang="en-US" dirty="0"/>
              <a:t>email)?</a:t>
            </a:r>
          </a:p>
          <a:p>
            <a:r>
              <a:rPr lang="ru-RU" dirty="0"/>
              <a:t>Были проблемы с терминалом?</a:t>
            </a:r>
          </a:p>
        </p:txBody>
      </p:sp>
    </p:spTree>
    <p:extLst>
      <p:ext uri="{BB962C8B-B14F-4D97-AF65-F5344CB8AC3E}">
        <p14:creationId xmlns:p14="http://schemas.microsoft.com/office/powerpoint/2010/main" val="36517527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A031F-B541-6E72-8D04-A49CC73FB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BFCA3-7D04-FD1B-F7E7-2C8A5959D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репозитория</a:t>
            </a:r>
            <a:endParaRPr lang="en-RU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047DFAB-6338-D03E-0B14-726D48E7C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054" y="1571626"/>
            <a:ext cx="4064000" cy="292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514E743-B961-42FC-59D6-EC621F0DA5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6386" y="1584326"/>
            <a:ext cx="4064000" cy="290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6953696B-65DE-9708-6535-4CBCED7538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4118" y="3571875"/>
            <a:ext cx="4064000" cy="292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A55381-D0CC-6875-E12D-1BE7BC9520F3}"/>
              </a:ext>
            </a:extLst>
          </p:cNvPr>
          <p:cNvCxnSpPr>
            <a:cxnSpLocks/>
          </p:cNvCxnSpPr>
          <p:nvPr/>
        </p:nvCxnSpPr>
        <p:spPr>
          <a:xfrm flipH="1">
            <a:off x="5116386" y="5090984"/>
            <a:ext cx="1432695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8968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6E106-DFB1-831F-3D64-1C0151E1C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FEE0F-AFD2-47E2-C8B9-4DC2D11CD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репозитория</a:t>
            </a:r>
            <a:endParaRPr lang="en-RU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57DE6AB-C07F-B1DD-C288-4943BE5B9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951111" y="1571626"/>
            <a:ext cx="4035885" cy="292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11867B3-0910-78CE-87C0-31839CE1F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5123762" y="1584326"/>
            <a:ext cx="4049248" cy="290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4C6E1A87-B88E-07B6-C1DB-C7BBF430FD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/>
        </p:blipFill>
        <p:spPr bwMode="auto">
          <a:xfrm>
            <a:off x="2845576" y="3571875"/>
            <a:ext cx="4061084" cy="292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268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CB93-CF30-BD77-8D95-098947911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C5816-2EAC-AE83-C511-828424EEE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репозитория</a:t>
            </a:r>
            <a:endParaRPr lang="en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6CA08-19C0-E554-6D64-8F231FAC0B5D}"/>
              </a:ext>
            </a:extLst>
          </p:cNvPr>
          <p:cNvSpPr txBox="1"/>
          <p:nvPr/>
        </p:nvSpPr>
        <p:spPr>
          <a:xfrm>
            <a:off x="838200" y="1690688"/>
            <a:ext cx="850668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В существующем проекте — в настройках проекта или</a:t>
            </a:r>
            <a:endParaRPr lang="en-US" sz="2800" dirty="0"/>
          </a:p>
          <a:p>
            <a:r>
              <a:rPr lang="en-US" sz="2800" dirty="0"/>
              <a:t>Tools ➔ Version Control ➔ Project Setup</a:t>
            </a:r>
            <a:endParaRPr lang="ru-RU" sz="2800" dirty="0"/>
          </a:p>
          <a:p>
            <a:endParaRPr lang="ru-RU" sz="2800" dirty="0"/>
          </a:p>
          <a:p>
            <a:r>
              <a:rPr lang="ru-RU" sz="2800" dirty="0"/>
              <a:t>В терминале </a:t>
            </a:r>
            <a:r>
              <a:rPr lang="en-US" sz="2800" dirty="0">
                <a:latin typeface="Monaco" pitchFamily="2" charset="77"/>
              </a:rPr>
              <a:t>git </a:t>
            </a:r>
            <a:r>
              <a:rPr lang="en-US" sz="2800" dirty="0" err="1">
                <a:latin typeface="Monaco" pitchFamily="2" charset="77"/>
              </a:rPr>
              <a:t>init</a:t>
            </a:r>
            <a:endParaRPr lang="en-US" sz="2800" dirty="0">
              <a:latin typeface="Monac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563932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A5A74-8C0D-FEF3-0224-F3BF57DD0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1EC8E-44BE-E544-159F-9CC9D36DD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репозитория</a:t>
            </a:r>
            <a:endParaRPr lang="en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1AB58-5E0B-876F-23B7-CB9846F449D8}"/>
              </a:ext>
            </a:extLst>
          </p:cNvPr>
          <p:cNvSpPr txBox="1"/>
          <p:nvPr/>
        </p:nvSpPr>
        <p:spPr>
          <a:xfrm>
            <a:off x="838200" y="1690688"/>
            <a:ext cx="850668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В существующем проекте — в настройках проекта или</a:t>
            </a:r>
            <a:endParaRPr lang="en-US" sz="2800" dirty="0"/>
          </a:p>
          <a:p>
            <a:r>
              <a:rPr lang="en-US" sz="2800" dirty="0"/>
              <a:t>Tools ➔ Version Control ➔ Project Setup</a:t>
            </a:r>
            <a:endParaRPr lang="ru-RU" sz="2800" dirty="0"/>
          </a:p>
          <a:p>
            <a:endParaRPr lang="ru-RU" sz="2800" dirty="0"/>
          </a:p>
          <a:p>
            <a:r>
              <a:rPr lang="ru-RU" sz="2800" dirty="0"/>
              <a:t>В терминале </a:t>
            </a:r>
            <a:r>
              <a:rPr lang="en-US" sz="2800" dirty="0">
                <a:latin typeface="Monaco" pitchFamily="2" charset="77"/>
              </a:rPr>
              <a:t>git </a:t>
            </a:r>
            <a:r>
              <a:rPr lang="en-US" sz="2800" dirty="0" err="1">
                <a:latin typeface="Monaco" pitchFamily="2" charset="77"/>
              </a:rPr>
              <a:t>init</a:t>
            </a:r>
            <a:endParaRPr lang="en-US" sz="2800" dirty="0">
              <a:latin typeface="Monaco" pitchFamily="2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7D5C6B-4CFA-8234-33A2-1FE2114B3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6464" y="2535259"/>
            <a:ext cx="6495535" cy="4657862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B676911-FFC4-6B1D-B372-88D4ABFB59FE}"/>
              </a:ext>
            </a:extLst>
          </p:cNvPr>
          <p:cNvCxnSpPr>
            <a:cxnSpLocks/>
          </p:cNvCxnSpPr>
          <p:nvPr/>
        </p:nvCxnSpPr>
        <p:spPr>
          <a:xfrm flipH="1" flipV="1">
            <a:off x="6944083" y="4568009"/>
            <a:ext cx="740716" cy="119860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30148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3D89B-E542-87FB-9590-C60D7F555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A4F7328A-C2FA-2A53-DE76-01666EB60F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54" y="1902940"/>
            <a:ext cx="4732026" cy="28152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88070B2-6371-1A72-10B1-30E2181C4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Отслеживание изменений</a:t>
            </a:r>
            <a:endParaRPr lang="en-RU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EF7D943-58CF-027F-FF94-A98B22672B32}"/>
              </a:ext>
            </a:extLst>
          </p:cNvPr>
          <p:cNvGrpSpPr/>
          <p:nvPr/>
        </p:nvGrpSpPr>
        <p:grpSpPr>
          <a:xfrm>
            <a:off x="6096000" y="1902940"/>
            <a:ext cx="2127377" cy="4311137"/>
            <a:chOff x="5662424" y="1652448"/>
            <a:chExt cx="2286000" cy="456163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B615126-D49A-E577-7707-9C5D3539AF37}"/>
                </a:ext>
              </a:extLst>
            </p:cNvPr>
            <p:cNvSpPr/>
            <p:nvPr/>
          </p:nvSpPr>
          <p:spPr>
            <a:xfrm>
              <a:off x="5662424" y="1652448"/>
              <a:ext cx="2286000" cy="731520"/>
            </a:xfrm>
            <a:prstGeom prst="rect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Рабочая область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(working area)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30D3882-3555-72DD-621B-EA4E1A8EF1AC}"/>
                </a:ext>
              </a:extLst>
            </p:cNvPr>
            <p:cNvSpPr txBox="1"/>
            <p:nvPr/>
          </p:nvSpPr>
          <p:spPr>
            <a:xfrm>
              <a:off x="6005384" y="584474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14583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47743-6300-E922-C361-9D6603CBC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1D846039-9ACC-56AA-B0D0-FE2F7CE310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4360" y="1869354"/>
            <a:ext cx="4726015" cy="28544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8C1A45-DE2C-E393-460C-148718E18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Отслеживание изменений</a:t>
            </a:r>
            <a:endParaRPr lang="en-RU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4302123-F25C-B22E-CC36-CBC147A2A2E8}"/>
              </a:ext>
            </a:extLst>
          </p:cNvPr>
          <p:cNvGrpSpPr/>
          <p:nvPr/>
        </p:nvGrpSpPr>
        <p:grpSpPr>
          <a:xfrm>
            <a:off x="6096000" y="1902940"/>
            <a:ext cx="6076495" cy="4311137"/>
            <a:chOff x="5662424" y="1652448"/>
            <a:chExt cx="6529576" cy="456163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E10ADD-C836-8158-0786-C769AA4D649D}"/>
                </a:ext>
              </a:extLst>
            </p:cNvPr>
            <p:cNvSpPr/>
            <p:nvPr/>
          </p:nvSpPr>
          <p:spPr>
            <a:xfrm>
              <a:off x="5662424" y="1652448"/>
              <a:ext cx="2286000" cy="731520"/>
            </a:xfrm>
            <a:prstGeom prst="rect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Рабочая область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(working area)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C6D3D68-329A-E963-DB25-C4F267F4ADDC}"/>
                </a:ext>
              </a:extLst>
            </p:cNvPr>
            <p:cNvSpPr/>
            <p:nvPr/>
          </p:nvSpPr>
          <p:spPr>
            <a:xfrm>
              <a:off x="8342871" y="3068871"/>
              <a:ext cx="2286000" cy="731520"/>
            </a:xfrm>
            <a:prstGeom prst="rect">
              <a:avLst/>
            </a:prstGeom>
            <a:solidFill>
              <a:srgbClr val="4DA72E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Индекс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(staging area)</a:t>
              </a:r>
            </a:p>
          </p:txBody>
        </p:sp>
        <p:cxnSp>
          <p:nvCxnSpPr>
            <p:cNvPr id="18" name="Curved Connector 17">
              <a:extLst>
                <a:ext uri="{FF2B5EF4-FFF2-40B4-BE49-F238E27FC236}">
                  <a16:creationId xmlns:a16="http://schemas.microsoft.com/office/drawing/2014/main" id="{4AA1486D-B167-FD0D-4BAB-5CF770B925ED}"/>
                </a:ext>
              </a:extLst>
            </p:cNvPr>
            <p:cNvCxnSpPr>
              <a:cxnSpLocks/>
              <a:stCxn id="15" idx="3"/>
              <a:endCxn id="16" idx="0"/>
            </p:cNvCxnSpPr>
            <p:nvPr/>
          </p:nvCxnSpPr>
          <p:spPr>
            <a:xfrm>
              <a:off x="7948424" y="2018208"/>
              <a:ext cx="1537447" cy="1050663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F646B74-C2E4-8C20-F976-01117434EE6E}"/>
                </a:ext>
              </a:extLst>
            </p:cNvPr>
            <p:cNvSpPr txBox="1"/>
            <p:nvPr/>
          </p:nvSpPr>
          <p:spPr>
            <a:xfrm>
              <a:off x="9358331" y="2043589"/>
              <a:ext cx="2833669" cy="4233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Добавляем в индекс</a:t>
              </a:r>
              <a:endParaRPr lang="en-US" sz="2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7BE5C36-045D-52DC-6AE3-3C914C370F32}"/>
                </a:ext>
              </a:extLst>
            </p:cNvPr>
            <p:cNvSpPr txBox="1"/>
            <p:nvPr/>
          </p:nvSpPr>
          <p:spPr>
            <a:xfrm>
              <a:off x="6005384" y="584474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14271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1C181-1813-1C7E-8F6F-F7D5C9F92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1591FF42-F9BF-527F-180F-7E5C3CD97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5" y="1869354"/>
            <a:ext cx="7286939" cy="3995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C227218-F3A2-AC12-3EC5-DF75D9A78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Отслеживание изменений</a:t>
            </a:r>
            <a:endParaRPr lang="en-RU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13135-2A35-E4E0-67CD-5A90AE4F6486}"/>
              </a:ext>
            </a:extLst>
          </p:cNvPr>
          <p:cNvGrpSpPr/>
          <p:nvPr/>
        </p:nvGrpSpPr>
        <p:grpSpPr>
          <a:xfrm>
            <a:off x="6096000" y="1902940"/>
            <a:ext cx="6076495" cy="4311137"/>
            <a:chOff x="5662424" y="1652448"/>
            <a:chExt cx="6529576" cy="456163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DD45C25-9F43-3710-0614-964A17F7DE69}"/>
                </a:ext>
              </a:extLst>
            </p:cNvPr>
            <p:cNvSpPr/>
            <p:nvPr/>
          </p:nvSpPr>
          <p:spPr>
            <a:xfrm>
              <a:off x="5662424" y="1652448"/>
              <a:ext cx="2286000" cy="731520"/>
            </a:xfrm>
            <a:prstGeom prst="rect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Рабочая область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(working area)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E800F57-165C-66DE-E9A2-497A857675F1}"/>
                </a:ext>
              </a:extLst>
            </p:cNvPr>
            <p:cNvSpPr/>
            <p:nvPr/>
          </p:nvSpPr>
          <p:spPr>
            <a:xfrm>
              <a:off x="8342871" y="3068871"/>
              <a:ext cx="2286000" cy="731520"/>
            </a:xfrm>
            <a:prstGeom prst="rect">
              <a:avLst/>
            </a:prstGeom>
            <a:solidFill>
              <a:srgbClr val="4DA72E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Индекс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(staging area)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E863C21-9F0A-C7E4-B9EC-A71A4978CCEE}"/>
                </a:ext>
              </a:extLst>
            </p:cNvPr>
            <p:cNvSpPr/>
            <p:nvPr/>
          </p:nvSpPr>
          <p:spPr>
            <a:xfrm>
              <a:off x="8342871" y="5125376"/>
              <a:ext cx="2286000" cy="731520"/>
            </a:xfrm>
            <a:prstGeom prst="rect">
              <a:avLst/>
            </a:prstGeom>
            <a:solidFill>
              <a:srgbClr val="E8E8E8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Репозиторий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(repository)</a:t>
              </a:r>
            </a:p>
          </p:txBody>
        </p:sp>
        <p:cxnSp>
          <p:nvCxnSpPr>
            <p:cNvPr id="18" name="Curved Connector 17">
              <a:extLst>
                <a:ext uri="{FF2B5EF4-FFF2-40B4-BE49-F238E27FC236}">
                  <a16:creationId xmlns:a16="http://schemas.microsoft.com/office/drawing/2014/main" id="{F7F9FB77-1392-69D3-DE07-EC8C0385E9F7}"/>
                </a:ext>
              </a:extLst>
            </p:cNvPr>
            <p:cNvCxnSpPr>
              <a:cxnSpLocks/>
              <a:stCxn id="15" idx="3"/>
              <a:endCxn id="16" idx="0"/>
            </p:cNvCxnSpPr>
            <p:nvPr/>
          </p:nvCxnSpPr>
          <p:spPr>
            <a:xfrm>
              <a:off x="7948424" y="2018208"/>
              <a:ext cx="1537447" cy="1050663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urved Connector 18">
              <a:extLst>
                <a:ext uri="{FF2B5EF4-FFF2-40B4-BE49-F238E27FC236}">
                  <a16:creationId xmlns:a16="http://schemas.microsoft.com/office/drawing/2014/main" id="{B07C2A3C-CDC8-69C3-01E4-73251A9B890D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rot="5400000">
              <a:off x="8823379" y="4462883"/>
              <a:ext cx="1324985" cy="12700"/>
            </a:xfrm>
            <a:prstGeom prst="curved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0B07DF2-740E-C23D-F014-272FD6A7E7AB}"/>
                </a:ext>
              </a:extLst>
            </p:cNvPr>
            <p:cNvSpPr txBox="1"/>
            <p:nvPr/>
          </p:nvSpPr>
          <p:spPr>
            <a:xfrm>
              <a:off x="9906000" y="4155106"/>
              <a:ext cx="22860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Создаем коммит</a:t>
              </a:r>
              <a:endParaRPr lang="en-US" sz="2000" dirty="0"/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(commit)</a:t>
              </a:r>
              <a:endPara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F2D979E-C0E4-8172-754C-CD6006B01771}"/>
                </a:ext>
              </a:extLst>
            </p:cNvPr>
            <p:cNvSpPr txBox="1"/>
            <p:nvPr/>
          </p:nvSpPr>
          <p:spPr>
            <a:xfrm>
              <a:off x="9358331" y="2043589"/>
              <a:ext cx="2833669" cy="4233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Добавляем в индекс</a:t>
              </a:r>
              <a:endParaRPr lang="en-US" sz="2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4C44679-D1CF-368B-ABFA-E034A656AECB}"/>
                </a:ext>
              </a:extLst>
            </p:cNvPr>
            <p:cNvSpPr txBox="1"/>
            <p:nvPr/>
          </p:nvSpPr>
          <p:spPr>
            <a:xfrm>
              <a:off x="6005384" y="584474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041477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34EE3-7591-8BF9-B519-45240C4E5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A2BEF214-A42C-B244-FFDF-6FFDA64537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2003" y="1890257"/>
            <a:ext cx="4726015" cy="2837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500F32-A2A1-B3A5-BC21-FF4C6A6BA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Отслеживание изменений</a:t>
            </a:r>
            <a:endParaRPr lang="en-RU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DB13D7-2F38-45ED-BBEC-6225BBFD03E9}"/>
              </a:ext>
            </a:extLst>
          </p:cNvPr>
          <p:cNvGrpSpPr/>
          <p:nvPr/>
        </p:nvGrpSpPr>
        <p:grpSpPr>
          <a:xfrm>
            <a:off x="6096000" y="1902940"/>
            <a:ext cx="6076495" cy="4311137"/>
            <a:chOff x="5662424" y="1652448"/>
            <a:chExt cx="6529576" cy="456163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4168D13-74DB-45B4-230A-772A2965595B}"/>
                </a:ext>
              </a:extLst>
            </p:cNvPr>
            <p:cNvSpPr/>
            <p:nvPr/>
          </p:nvSpPr>
          <p:spPr>
            <a:xfrm>
              <a:off x="5662424" y="1652448"/>
              <a:ext cx="2286000" cy="731520"/>
            </a:xfrm>
            <a:prstGeom prst="rect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Рабочая область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(working area)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7DFCCDF-441E-7C2D-FA65-A9799B1D7252}"/>
                </a:ext>
              </a:extLst>
            </p:cNvPr>
            <p:cNvSpPr/>
            <p:nvPr/>
          </p:nvSpPr>
          <p:spPr>
            <a:xfrm>
              <a:off x="8342871" y="3068871"/>
              <a:ext cx="2286000" cy="731520"/>
            </a:xfrm>
            <a:prstGeom prst="rect">
              <a:avLst/>
            </a:prstGeom>
            <a:solidFill>
              <a:srgbClr val="4DA72E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Индекс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(staging area)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6CDF2D3-8FEC-A3B6-520E-2A46E06F58C5}"/>
                </a:ext>
              </a:extLst>
            </p:cNvPr>
            <p:cNvSpPr/>
            <p:nvPr/>
          </p:nvSpPr>
          <p:spPr>
            <a:xfrm>
              <a:off x="8342871" y="5125376"/>
              <a:ext cx="2286000" cy="731520"/>
            </a:xfrm>
            <a:prstGeom prst="rect">
              <a:avLst/>
            </a:prstGeom>
            <a:solidFill>
              <a:srgbClr val="E8E8E8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Репозиторий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(repository)</a:t>
              </a:r>
            </a:p>
          </p:txBody>
        </p:sp>
        <p:cxnSp>
          <p:nvCxnSpPr>
            <p:cNvPr id="18" name="Curved Connector 17">
              <a:extLst>
                <a:ext uri="{FF2B5EF4-FFF2-40B4-BE49-F238E27FC236}">
                  <a16:creationId xmlns:a16="http://schemas.microsoft.com/office/drawing/2014/main" id="{2A0B0631-9C32-3E1F-C01E-627650615A50}"/>
                </a:ext>
              </a:extLst>
            </p:cNvPr>
            <p:cNvCxnSpPr>
              <a:cxnSpLocks/>
              <a:stCxn id="15" idx="3"/>
              <a:endCxn id="16" idx="0"/>
            </p:cNvCxnSpPr>
            <p:nvPr/>
          </p:nvCxnSpPr>
          <p:spPr>
            <a:xfrm>
              <a:off x="7948424" y="2018208"/>
              <a:ext cx="1537447" cy="1050663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urved Connector 18">
              <a:extLst>
                <a:ext uri="{FF2B5EF4-FFF2-40B4-BE49-F238E27FC236}">
                  <a16:creationId xmlns:a16="http://schemas.microsoft.com/office/drawing/2014/main" id="{4D6D9F2D-A15A-8FD2-B5B0-9656543D1F89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rot="5400000">
              <a:off x="8823379" y="4462883"/>
              <a:ext cx="1324985" cy="12700"/>
            </a:xfrm>
            <a:prstGeom prst="curved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urved Connector 19">
              <a:extLst>
                <a:ext uri="{FF2B5EF4-FFF2-40B4-BE49-F238E27FC236}">
                  <a16:creationId xmlns:a16="http://schemas.microsoft.com/office/drawing/2014/main" id="{5C72D3F9-0497-C4FB-D0DF-F33760BD2F2E}"/>
                </a:ext>
              </a:extLst>
            </p:cNvPr>
            <p:cNvCxnSpPr>
              <a:cxnSpLocks/>
              <a:stCxn id="17" idx="2"/>
              <a:endCxn id="15" idx="1"/>
            </p:cNvCxnSpPr>
            <p:nvPr/>
          </p:nvCxnSpPr>
          <p:spPr>
            <a:xfrm rot="5400000" flipH="1">
              <a:off x="5654804" y="2025829"/>
              <a:ext cx="3838688" cy="3823447"/>
            </a:xfrm>
            <a:prstGeom prst="curvedConnector4">
              <a:avLst>
                <a:gd name="adj1" fmla="val -14557"/>
                <a:gd name="adj2" fmla="val 118933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787915F-B6FA-2253-9D14-9EC06896C63F}"/>
                </a:ext>
              </a:extLst>
            </p:cNvPr>
            <p:cNvSpPr txBox="1"/>
            <p:nvPr/>
          </p:nvSpPr>
          <p:spPr>
            <a:xfrm>
              <a:off x="9906000" y="4155106"/>
              <a:ext cx="22860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Создаем коммит</a:t>
              </a:r>
              <a:endParaRPr lang="en-US" sz="2000" dirty="0"/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(commit)</a:t>
              </a:r>
              <a:endPara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F7434E4-76D3-322B-7D9B-F52218572900}"/>
                </a:ext>
              </a:extLst>
            </p:cNvPr>
            <p:cNvSpPr txBox="1"/>
            <p:nvPr/>
          </p:nvSpPr>
          <p:spPr>
            <a:xfrm>
              <a:off x="9358331" y="2043589"/>
              <a:ext cx="2833669" cy="4233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Добавляем в индекс</a:t>
              </a:r>
              <a:endParaRPr lang="en-US" sz="2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629056E-5EFB-1389-7FBF-70DCF9190B84}"/>
                </a:ext>
              </a:extLst>
            </p:cNvPr>
            <p:cNvSpPr txBox="1"/>
            <p:nvPr/>
          </p:nvSpPr>
          <p:spPr>
            <a:xfrm>
              <a:off x="6005384" y="584474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14184E8E-2BE4-57B2-D7F4-9190075D0A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896" y="3587258"/>
            <a:ext cx="4746416" cy="3147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054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8668-432A-C11E-027C-2F5CF4F82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195B0218-E081-6042-98EB-C117BEF7B7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2003" y="1890257"/>
            <a:ext cx="4726015" cy="2837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D84E49-0E2A-5A3F-B770-53042923D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Чистая рабочая область</a:t>
            </a:r>
            <a:endParaRPr lang="en-RU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82BB16-F65A-264F-2B92-1A98AB9211BD}"/>
              </a:ext>
            </a:extLst>
          </p:cNvPr>
          <p:cNvGrpSpPr/>
          <p:nvPr/>
        </p:nvGrpSpPr>
        <p:grpSpPr>
          <a:xfrm>
            <a:off x="6096000" y="1902940"/>
            <a:ext cx="6076495" cy="4311137"/>
            <a:chOff x="5662424" y="1652448"/>
            <a:chExt cx="6529576" cy="456163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67EEAC8-DEF7-9C08-630D-6430D2B08BC5}"/>
                </a:ext>
              </a:extLst>
            </p:cNvPr>
            <p:cNvSpPr/>
            <p:nvPr/>
          </p:nvSpPr>
          <p:spPr>
            <a:xfrm>
              <a:off x="5662424" y="1652448"/>
              <a:ext cx="2286000" cy="731520"/>
            </a:xfrm>
            <a:prstGeom prst="rect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Рабочая область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(working area)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7984BB1-DFC0-38E3-A4C5-4FBCD9817E1B}"/>
                </a:ext>
              </a:extLst>
            </p:cNvPr>
            <p:cNvSpPr/>
            <p:nvPr/>
          </p:nvSpPr>
          <p:spPr>
            <a:xfrm>
              <a:off x="8342871" y="3068871"/>
              <a:ext cx="2286000" cy="731520"/>
            </a:xfrm>
            <a:prstGeom prst="rect">
              <a:avLst/>
            </a:prstGeom>
            <a:solidFill>
              <a:srgbClr val="4DA72E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Индекс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(staging area)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D217708-F844-443D-2758-0D9775EFE364}"/>
                </a:ext>
              </a:extLst>
            </p:cNvPr>
            <p:cNvSpPr/>
            <p:nvPr/>
          </p:nvSpPr>
          <p:spPr>
            <a:xfrm>
              <a:off x="8342871" y="5125376"/>
              <a:ext cx="2286000" cy="731520"/>
            </a:xfrm>
            <a:prstGeom prst="rect">
              <a:avLst/>
            </a:prstGeom>
            <a:solidFill>
              <a:srgbClr val="E8E8E8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Репозиторий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(repository)</a:t>
              </a:r>
            </a:p>
          </p:txBody>
        </p:sp>
        <p:cxnSp>
          <p:nvCxnSpPr>
            <p:cNvPr id="18" name="Curved Connector 17">
              <a:extLst>
                <a:ext uri="{FF2B5EF4-FFF2-40B4-BE49-F238E27FC236}">
                  <a16:creationId xmlns:a16="http://schemas.microsoft.com/office/drawing/2014/main" id="{0C4FFF5A-50F1-FE63-AAE0-43401FD5C27B}"/>
                </a:ext>
              </a:extLst>
            </p:cNvPr>
            <p:cNvCxnSpPr>
              <a:cxnSpLocks/>
              <a:stCxn id="15" idx="3"/>
              <a:endCxn id="16" idx="0"/>
            </p:cNvCxnSpPr>
            <p:nvPr/>
          </p:nvCxnSpPr>
          <p:spPr>
            <a:xfrm>
              <a:off x="7948424" y="2018208"/>
              <a:ext cx="1537447" cy="1050663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urved Connector 18">
              <a:extLst>
                <a:ext uri="{FF2B5EF4-FFF2-40B4-BE49-F238E27FC236}">
                  <a16:creationId xmlns:a16="http://schemas.microsoft.com/office/drawing/2014/main" id="{4F287051-A8C7-370E-A6A6-67BA5B322505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rot="5400000">
              <a:off x="8823379" y="4462883"/>
              <a:ext cx="1324985" cy="12700"/>
            </a:xfrm>
            <a:prstGeom prst="curved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urved Connector 19">
              <a:extLst>
                <a:ext uri="{FF2B5EF4-FFF2-40B4-BE49-F238E27FC236}">
                  <a16:creationId xmlns:a16="http://schemas.microsoft.com/office/drawing/2014/main" id="{773A6D1D-A5ED-C99B-4F8E-50CEDC90F3DA}"/>
                </a:ext>
              </a:extLst>
            </p:cNvPr>
            <p:cNvCxnSpPr>
              <a:cxnSpLocks/>
              <a:stCxn id="17" idx="2"/>
              <a:endCxn id="15" idx="1"/>
            </p:cNvCxnSpPr>
            <p:nvPr/>
          </p:nvCxnSpPr>
          <p:spPr>
            <a:xfrm rot="5400000" flipH="1">
              <a:off x="5654804" y="2025829"/>
              <a:ext cx="3838688" cy="3823447"/>
            </a:xfrm>
            <a:prstGeom prst="curvedConnector4">
              <a:avLst>
                <a:gd name="adj1" fmla="val -14557"/>
                <a:gd name="adj2" fmla="val 118933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9074679-7CB6-390A-5423-79663C7F24E0}"/>
                </a:ext>
              </a:extLst>
            </p:cNvPr>
            <p:cNvSpPr txBox="1"/>
            <p:nvPr/>
          </p:nvSpPr>
          <p:spPr>
            <a:xfrm>
              <a:off x="9906000" y="4155106"/>
              <a:ext cx="22860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Создаем коммит</a:t>
              </a:r>
              <a:endParaRPr lang="en-US" sz="2000" dirty="0"/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(commit)</a:t>
              </a:r>
              <a:endPara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5D58B95-D457-CBE2-2EEC-614D526EFA85}"/>
                </a:ext>
              </a:extLst>
            </p:cNvPr>
            <p:cNvSpPr txBox="1"/>
            <p:nvPr/>
          </p:nvSpPr>
          <p:spPr>
            <a:xfrm>
              <a:off x="9358331" y="2043589"/>
              <a:ext cx="2833669" cy="4233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Добавляем в индекс</a:t>
              </a:r>
              <a:endParaRPr lang="en-US" sz="2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3A8FC9B-2E3D-9BFA-8939-276D75850A5B}"/>
                </a:ext>
              </a:extLst>
            </p:cNvPr>
            <p:cNvSpPr txBox="1"/>
            <p:nvPr/>
          </p:nvSpPr>
          <p:spPr>
            <a:xfrm>
              <a:off x="6005384" y="584474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728027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5C352-455E-3140-71C0-8F511AFE2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A4873-56B1-3A86-84A4-6E80162DD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Чистая рабочая область</a:t>
            </a:r>
            <a:endParaRPr lang="en-RU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A2CFD23-4EC1-4DE3-CFE1-B1C70A2E0380}"/>
              </a:ext>
            </a:extLst>
          </p:cNvPr>
          <p:cNvGrpSpPr/>
          <p:nvPr/>
        </p:nvGrpSpPr>
        <p:grpSpPr>
          <a:xfrm>
            <a:off x="6096000" y="1902940"/>
            <a:ext cx="6076495" cy="4311137"/>
            <a:chOff x="5662424" y="1652448"/>
            <a:chExt cx="6529576" cy="456163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4D87004-C410-BFCA-5E89-0235FEA1D618}"/>
                </a:ext>
              </a:extLst>
            </p:cNvPr>
            <p:cNvSpPr/>
            <p:nvPr/>
          </p:nvSpPr>
          <p:spPr>
            <a:xfrm>
              <a:off x="5662424" y="1652448"/>
              <a:ext cx="2286000" cy="731520"/>
            </a:xfrm>
            <a:prstGeom prst="rect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Рабочая область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(working area)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052F529-E3D3-0205-E667-AAFA0950D2EC}"/>
                </a:ext>
              </a:extLst>
            </p:cNvPr>
            <p:cNvSpPr/>
            <p:nvPr/>
          </p:nvSpPr>
          <p:spPr>
            <a:xfrm>
              <a:off x="8342871" y="3068871"/>
              <a:ext cx="2286000" cy="731520"/>
            </a:xfrm>
            <a:prstGeom prst="rect">
              <a:avLst/>
            </a:prstGeom>
            <a:solidFill>
              <a:srgbClr val="4DA72E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Индекс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(staging area)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7168F47-75A7-A0D2-DBD2-76B7135275A5}"/>
                </a:ext>
              </a:extLst>
            </p:cNvPr>
            <p:cNvSpPr/>
            <p:nvPr/>
          </p:nvSpPr>
          <p:spPr>
            <a:xfrm>
              <a:off x="8342871" y="5125376"/>
              <a:ext cx="2286000" cy="731520"/>
            </a:xfrm>
            <a:prstGeom prst="rect">
              <a:avLst/>
            </a:prstGeom>
            <a:solidFill>
              <a:srgbClr val="E8E8E8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Репозиторий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(repository)</a:t>
              </a:r>
            </a:p>
          </p:txBody>
        </p:sp>
        <p:cxnSp>
          <p:nvCxnSpPr>
            <p:cNvPr id="18" name="Curved Connector 17">
              <a:extLst>
                <a:ext uri="{FF2B5EF4-FFF2-40B4-BE49-F238E27FC236}">
                  <a16:creationId xmlns:a16="http://schemas.microsoft.com/office/drawing/2014/main" id="{7D120EC5-8AE9-99DC-9161-B2224DF61E8A}"/>
                </a:ext>
              </a:extLst>
            </p:cNvPr>
            <p:cNvCxnSpPr>
              <a:cxnSpLocks/>
              <a:stCxn id="15" idx="3"/>
              <a:endCxn id="16" idx="0"/>
            </p:cNvCxnSpPr>
            <p:nvPr/>
          </p:nvCxnSpPr>
          <p:spPr>
            <a:xfrm>
              <a:off x="7948424" y="2018208"/>
              <a:ext cx="1537447" cy="1050663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urved Connector 18">
              <a:extLst>
                <a:ext uri="{FF2B5EF4-FFF2-40B4-BE49-F238E27FC236}">
                  <a16:creationId xmlns:a16="http://schemas.microsoft.com/office/drawing/2014/main" id="{F8E18420-3C9B-30EB-FAEC-C50CB0AE1F07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rot="5400000">
              <a:off x="8823379" y="4462883"/>
              <a:ext cx="1324985" cy="12700"/>
            </a:xfrm>
            <a:prstGeom prst="curved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urved Connector 19">
              <a:extLst>
                <a:ext uri="{FF2B5EF4-FFF2-40B4-BE49-F238E27FC236}">
                  <a16:creationId xmlns:a16="http://schemas.microsoft.com/office/drawing/2014/main" id="{DFD34563-BEBF-AAFA-4F24-6230407E93EE}"/>
                </a:ext>
              </a:extLst>
            </p:cNvPr>
            <p:cNvCxnSpPr>
              <a:cxnSpLocks/>
              <a:stCxn id="17" idx="2"/>
              <a:endCxn id="15" idx="1"/>
            </p:cNvCxnSpPr>
            <p:nvPr/>
          </p:nvCxnSpPr>
          <p:spPr>
            <a:xfrm rot="5400000" flipH="1">
              <a:off x="5654804" y="2025829"/>
              <a:ext cx="3838688" cy="3823447"/>
            </a:xfrm>
            <a:prstGeom prst="curvedConnector4">
              <a:avLst>
                <a:gd name="adj1" fmla="val -14557"/>
                <a:gd name="adj2" fmla="val 118933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29CA9CA-6D90-9335-A259-BEC85BA7422D}"/>
                </a:ext>
              </a:extLst>
            </p:cNvPr>
            <p:cNvSpPr txBox="1"/>
            <p:nvPr/>
          </p:nvSpPr>
          <p:spPr>
            <a:xfrm>
              <a:off x="9906000" y="4155106"/>
              <a:ext cx="22860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Создаем коммит</a:t>
              </a:r>
              <a:endParaRPr lang="en-US" sz="2000" dirty="0"/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(commit)</a:t>
              </a:r>
              <a:endPara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B4C87C-CF26-70C7-769F-85E4A3B2E74C}"/>
                </a:ext>
              </a:extLst>
            </p:cNvPr>
            <p:cNvSpPr txBox="1"/>
            <p:nvPr/>
          </p:nvSpPr>
          <p:spPr>
            <a:xfrm>
              <a:off x="9358331" y="2043589"/>
              <a:ext cx="2833669" cy="4233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Добавляем в индекс</a:t>
              </a:r>
              <a:endParaRPr lang="en-US" sz="2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34FE425-414A-577F-CAA0-E0B6740B59D9}"/>
                </a:ext>
              </a:extLst>
            </p:cNvPr>
            <p:cNvSpPr txBox="1"/>
            <p:nvPr/>
          </p:nvSpPr>
          <p:spPr>
            <a:xfrm>
              <a:off x="6005384" y="584474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C5742BA7-B178-DBAD-038C-B2C579C0F5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54" y="1902940"/>
            <a:ext cx="4732026" cy="2815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938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9FC3F-5324-5C45-6940-65F64BBF7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447DA-BA06-06AD-91CA-E15F9D25F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Чистая рабочая область</a:t>
            </a:r>
            <a:endParaRPr lang="en-RU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9DEA195-4737-6CB8-B0EA-E81751EBFDA1}"/>
              </a:ext>
            </a:extLst>
          </p:cNvPr>
          <p:cNvGrpSpPr/>
          <p:nvPr/>
        </p:nvGrpSpPr>
        <p:grpSpPr>
          <a:xfrm>
            <a:off x="6096000" y="1902940"/>
            <a:ext cx="6076495" cy="4311137"/>
            <a:chOff x="5662424" y="1652448"/>
            <a:chExt cx="6529576" cy="456163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568C3C6-D162-1B43-23CF-ED395ABBE4DD}"/>
                </a:ext>
              </a:extLst>
            </p:cNvPr>
            <p:cNvSpPr/>
            <p:nvPr/>
          </p:nvSpPr>
          <p:spPr>
            <a:xfrm>
              <a:off x="5662424" y="1652448"/>
              <a:ext cx="2286000" cy="731520"/>
            </a:xfrm>
            <a:prstGeom prst="rect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Рабочая область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(working area)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9FB697B-2310-1B28-EC2D-7655BD6B2A0C}"/>
                </a:ext>
              </a:extLst>
            </p:cNvPr>
            <p:cNvSpPr/>
            <p:nvPr/>
          </p:nvSpPr>
          <p:spPr>
            <a:xfrm>
              <a:off x="8342871" y="3068871"/>
              <a:ext cx="2286000" cy="731520"/>
            </a:xfrm>
            <a:prstGeom prst="rect">
              <a:avLst/>
            </a:prstGeom>
            <a:solidFill>
              <a:srgbClr val="4DA72E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Индекс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(staging area)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4F0BD4C-B7EA-C253-F69C-789A2C57F6CD}"/>
                </a:ext>
              </a:extLst>
            </p:cNvPr>
            <p:cNvSpPr/>
            <p:nvPr/>
          </p:nvSpPr>
          <p:spPr>
            <a:xfrm>
              <a:off x="8342871" y="5125376"/>
              <a:ext cx="2286000" cy="731520"/>
            </a:xfrm>
            <a:prstGeom prst="rect">
              <a:avLst/>
            </a:prstGeom>
            <a:solidFill>
              <a:srgbClr val="E8E8E8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Репозиторий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(repository)</a:t>
              </a:r>
            </a:p>
          </p:txBody>
        </p:sp>
        <p:cxnSp>
          <p:nvCxnSpPr>
            <p:cNvPr id="18" name="Curved Connector 17">
              <a:extLst>
                <a:ext uri="{FF2B5EF4-FFF2-40B4-BE49-F238E27FC236}">
                  <a16:creationId xmlns:a16="http://schemas.microsoft.com/office/drawing/2014/main" id="{AEF712BF-A03C-F1E9-90AC-1A6CF71F6F89}"/>
                </a:ext>
              </a:extLst>
            </p:cNvPr>
            <p:cNvCxnSpPr>
              <a:cxnSpLocks/>
              <a:stCxn id="15" idx="3"/>
              <a:endCxn id="16" idx="0"/>
            </p:cNvCxnSpPr>
            <p:nvPr/>
          </p:nvCxnSpPr>
          <p:spPr>
            <a:xfrm>
              <a:off x="7948424" y="2018208"/>
              <a:ext cx="1537447" cy="1050663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urved Connector 18">
              <a:extLst>
                <a:ext uri="{FF2B5EF4-FFF2-40B4-BE49-F238E27FC236}">
                  <a16:creationId xmlns:a16="http://schemas.microsoft.com/office/drawing/2014/main" id="{B266B537-849A-0DF9-5963-BECBF06E4971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rot="5400000">
              <a:off x="8823379" y="4462883"/>
              <a:ext cx="1324985" cy="12700"/>
            </a:xfrm>
            <a:prstGeom prst="curved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urved Connector 19">
              <a:extLst>
                <a:ext uri="{FF2B5EF4-FFF2-40B4-BE49-F238E27FC236}">
                  <a16:creationId xmlns:a16="http://schemas.microsoft.com/office/drawing/2014/main" id="{8BFFC0EF-2045-3DF2-FC3B-435A4BB3F792}"/>
                </a:ext>
              </a:extLst>
            </p:cNvPr>
            <p:cNvCxnSpPr>
              <a:cxnSpLocks/>
              <a:stCxn id="17" idx="2"/>
              <a:endCxn id="15" idx="1"/>
            </p:cNvCxnSpPr>
            <p:nvPr/>
          </p:nvCxnSpPr>
          <p:spPr>
            <a:xfrm rot="5400000" flipH="1">
              <a:off x="5654804" y="2025829"/>
              <a:ext cx="3838688" cy="3823447"/>
            </a:xfrm>
            <a:prstGeom prst="curvedConnector4">
              <a:avLst>
                <a:gd name="adj1" fmla="val -14557"/>
                <a:gd name="adj2" fmla="val 118933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556A10E-2831-3B52-4EDC-87A22F230E4B}"/>
                </a:ext>
              </a:extLst>
            </p:cNvPr>
            <p:cNvSpPr txBox="1"/>
            <p:nvPr/>
          </p:nvSpPr>
          <p:spPr>
            <a:xfrm>
              <a:off x="9906000" y="4155106"/>
              <a:ext cx="22860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Создаем коммит</a:t>
              </a:r>
              <a:endParaRPr lang="en-US" sz="2000" dirty="0"/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(commit)</a:t>
              </a:r>
              <a:endPara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7103B4B-1292-355E-C60A-E09FC5F278DA}"/>
                </a:ext>
              </a:extLst>
            </p:cNvPr>
            <p:cNvSpPr txBox="1"/>
            <p:nvPr/>
          </p:nvSpPr>
          <p:spPr>
            <a:xfrm>
              <a:off x="9358331" y="2043589"/>
              <a:ext cx="2833669" cy="4233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Добавляем в индекс</a:t>
              </a:r>
              <a:endParaRPr lang="en-US" sz="2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C1B68DF-209E-2B46-AE63-E94EC42A9648}"/>
                </a:ext>
              </a:extLst>
            </p:cNvPr>
            <p:cNvSpPr txBox="1"/>
            <p:nvPr/>
          </p:nvSpPr>
          <p:spPr>
            <a:xfrm>
              <a:off x="6005384" y="584474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4FB259F-5787-55EF-7450-00B959A152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4360" y="1869354"/>
            <a:ext cx="4726015" cy="2854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91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C9AAE-8520-B637-C6E6-00DC7994F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44F7C-C5F9-7AF8-E9B8-487F3092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Чистая рабочая область</a:t>
            </a:r>
            <a:endParaRPr lang="en-RU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EF7D530-74E1-CAB5-9BEE-230FCEAA2F24}"/>
              </a:ext>
            </a:extLst>
          </p:cNvPr>
          <p:cNvGrpSpPr/>
          <p:nvPr/>
        </p:nvGrpSpPr>
        <p:grpSpPr>
          <a:xfrm>
            <a:off x="6096000" y="1902940"/>
            <a:ext cx="6076495" cy="4311137"/>
            <a:chOff x="5662424" y="1652448"/>
            <a:chExt cx="6529576" cy="456163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74E8E02-D07D-40E4-6785-D3664B6D27C6}"/>
                </a:ext>
              </a:extLst>
            </p:cNvPr>
            <p:cNvSpPr/>
            <p:nvPr/>
          </p:nvSpPr>
          <p:spPr>
            <a:xfrm>
              <a:off x="5662424" y="1652448"/>
              <a:ext cx="2286000" cy="731520"/>
            </a:xfrm>
            <a:prstGeom prst="rect">
              <a:avLst/>
            </a:prstGeom>
            <a:solidFill>
              <a:srgbClr val="FFC00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Рабочая область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(working area)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AA271EE-29BC-307E-703A-E99A51563B6F}"/>
                </a:ext>
              </a:extLst>
            </p:cNvPr>
            <p:cNvSpPr/>
            <p:nvPr/>
          </p:nvSpPr>
          <p:spPr>
            <a:xfrm>
              <a:off x="8342871" y="3068871"/>
              <a:ext cx="2286000" cy="731520"/>
            </a:xfrm>
            <a:prstGeom prst="rect">
              <a:avLst/>
            </a:prstGeom>
            <a:solidFill>
              <a:srgbClr val="4DA72E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Индекс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(staging area)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AEBCE50-74A5-06AB-CFF8-7EA11CE5CF8B}"/>
                </a:ext>
              </a:extLst>
            </p:cNvPr>
            <p:cNvSpPr/>
            <p:nvPr/>
          </p:nvSpPr>
          <p:spPr>
            <a:xfrm>
              <a:off x="8342871" y="5125376"/>
              <a:ext cx="2286000" cy="731520"/>
            </a:xfrm>
            <a:prstGeom prst="rect">
              <a:avLst/>
            </a:prstGeom>
            <a:solidFill>
              <a:srgbClr val="E8E8E8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Репозиторий</a:t>
              </a:r>
              <a:endParaRPr lang="en-US" sz="200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(repository)</a:t>
              </a:r>
            </a:p>
          </p:txBody>
        </p:sp>
        <p:cxnSp>
          <p:nvCxnSpPr>
            <p:cNvPr id="18" name="Curved Connector 17">
              <a:extLst>
                <a:ext uri="{FF2B5EF4-FFF2-40B4-BE49-F238E27FC236}">
                  <a16:creationId xmlns:a16="http://schemas.microsoft.com/office/drawing/2014/main" id="{6BC12502-DB1D-91E8-9949-465921BF4DD9}"/>
                </a:ext>
              </a:extLst>
            </p:cNvPr>
            <p:cNvCxnSpPr>
              <a:cxnSpLocks/>
              <a:stCxn id="15" idx="3"/>
              <a:endCxn id="16" idx="0"/>
            </p:cNvCxnSpPr>
            <p:nvPr/>
          </p:nvCxnSpPr>
          <p:spPr>
            <a:xfrm>
              <a:off x="7948424" y="2018208"/>
              <a:ext cx="1537447" cy="1050663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urved Connector 18">
              <a:extLst>
                <a:ext uri="{FF2B5EF4-FFF2-40B4-BE49-F238E27FC236}">
                  <a16:creationId xmlns:a16="http://schemas.microsoft.com/office/drawing/2014/main" id="{A5788145-78D0-2AE0-E2B2-B8599BC66AF5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rot="5400000">
              <a:off x="8823379" y="4462883"/>
              <a:ext cx="1324985" cy="12700"/>
            </a:xfrm>
            <a:prstGeom prst="curved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urved Connector 19">
              <a:extLst>
                <a:ext uri="{FF2B5EF4-FFF2-40B4-BE49-F238E27FC236}">
                  <a16:creationId xmlns:a16="http://schemas.microsoft.com/office/drawing/2014/main" id="{DB63D3A6-5754-9296-3F14-50DC88EF2CCA}"/>
                </a:ext>
              </a:extLst>
            </p:cNvPr>
            <p:cNvCxnSpPr>
              <a:cxnSpLocks/>
              <a:stCxn id="17" idx="2"/>
              <a:endCxn id="15" idx="1"/>
            </p:cNvCxnSpPr>
            <p:nvPr/>
          </p:nvCxnSpPr>
          <p:spPr>
            <a:xfrm rot="5400000" flipH="1">
              <a:off x="5654804" y="2025829"/>
              <a:ext cx="3838688" cy="3823447"/>
            </a:xfrm>
            <a:prstGeom prst="curvedConnector4">
              <a:avLst>
                <a:gd name="adj1" fmla="val -14557"/>
                <a:gd name="adj2" fmla="val 118933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44F406B-2335-3A0E-3DAE-FCB89EEA0228}"/>
                </a:ext>
              </a:extLst>
            </p:cNvPr>
            <p:cNvSpPr txBox="1"/>
            <p:nvPr/>
          </p:nvSpPr>
          <p:spPr>
            <a:xfrm>
              <a:off x="9906000" y="4155106"/>
              <a:ext cx="22860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Создаем коммит</a:t>
              </a:r>
              <a:endParaRPr lang="en-US" sz="2000" dirty="0"/>
            </a:p>
            <a:p>
              <a:pPr algn="ctr"/>
              <a:r>
                <a:rPr 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(commit)</a:t>
              </a:r>
              <a:endPara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B218C9C-567A-6D2D-616D-79B452FA222E}"/>
                </a:ext>
              </a:extLst>
            </p:cNvPr>
            <p:cNvSpPr txBox="1"/>
            <p:nvPr/>
          </p:nvSpPr>
          <p:spPr>
            <a:xfrm>
              <a:off x="9358331" y="2043589"/>
              <a:ext cx="2833669" cy="4233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Добавляем в индекс</a:t>
              </a:r>
              <a:endParaRPr lang="en-US" sz="2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B87FFD9-DE71-A390-5113-E26C7A9ADD5D}"/>
                </a:ext>
              </a:extLst>
            </p:cNvPr>
            <p:cNvSpPr txBox="1"/>
            <p:nvPr/>
          </p:nvSpPr>
          <p:spPr>
            <a:xfrm>
              <a:off x="6005384" y="584474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48F28526-4136-E684-1291-BA34CB8D50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2003" y="1890257"/>
            <a:ext cx="4726015" cy="2837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0136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C9ED3-AF0F-9775-1CB7-26576D8C8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F5D0C-339B-BFA0-A0BF-2346BBB3D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НЕчистая</a:t>
            </a:r>
            <a:r>
              <a:rPr lang="ru-RU" dirty="0"/>
              <a:t> рабочая область</a:t>
            </a:r>
            <a:endParaRPr lang="en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2B22C2-73DB-A81B-D479-42F6503A43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4594" y="3892378"/>
            <a:ext cx="5267406" cy="2965622"/>
          </a:xfrm>
          <a:prstGeom prst="roundRect">
            <a:avLst>
              <a:gd name="adj" fmla="val 1841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85C2722-B42D-9A92-BDC2-F967B61438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9711" y="1798182"/>
            <a:ext cx="7198462" cy="4464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3374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815CA-42A8-6864-A377-CB4C4D853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Просмотр истории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EDF6F-338E-4A91-0476-C16A57B3A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42" y="1143000"/>
            <a:ext cx="7986192" cy="60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1117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25F50-FE94-3A88-938B-74B740338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025D02F-943E-C292-00D8-42416C3E5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42" y="1143000"/>
            <a:ext cx="7986192" cy="6000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A9EFD9-A2C5-560C-BDC9-53E2DE0BB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Просмотр истории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FBECB31-CCAD-08CD-83DB-F1468C03ADD5}"/>
              </a:ext>
            </a:extLst>
          </p:cNvPr>
          <p:cNvSpPr txBox="1">
            <a:spLocks/>
          </p:cNvSpPr>
          <p:nvPr/>
        </p:nvSpPr>
        <p:spPr>
          <a:xfrm>
            <a:off x="587829" y="3032125"/>
            <a:ext cx="10765971" cy="132556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  </a:t>
            </a:r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963834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B09D-4CDD-A061-45A6-EC56CDA5A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88411-5F9A-0094-5A0E-2A70E368A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Ветки</a:t>
            </a:r>
            <a:endParaRPr lang="en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0807B4-BD80-61D3-6BF1-EE79DAE66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42" y="1143000"/>
            <a:ext cx="7986192" cy="60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3189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352FA-2D32-C04B-F7E7-E4241142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CF79ED0-8A19-1041-E543-70B8A4860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10" y="1798182"/>
            <a:ext cx="7198461" cy="44909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288DE8F-6123-E15D-170E-00E185D8D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ветки</a:t>
            </a:r>
            <a:endParaRPr lang="en-RU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66EABFC-FC92-AC1C-4F79-0597C7F0F187}"/>
              </a:ext>
            </a:extLst>
          </p:cNvPr>
          <p:cNvCxnSpPr>
            <a:cxnSpLocks/>
          </p:cNvCxnSpPr>
          <p:nvPr/>
        </p:nvCxnSpPr>
        <p:spPr>
          <a:xfrm flipV="1">
            <a:off x="6410684" y="2521494"/>
            <a:ext cx="0" cy="125584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08C36723-9ACD-C60E-7B27-E49C7CBB3C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9102" y="4008978"/>
            <a:ext cx="4229100" cy="23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9526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DED62-707C-C222-2764-5F7AFB484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A611-FEEE-B6C5-09FC-7610E2B79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Переключение веток</a:t>
            </a:r>
            <a:endParaRPr lang="en-R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A2A200-FE62-6090-820D-7EBCE1F605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69710" y="1828222"/>
            <a:ext cx="7198461" cy="443082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EA0D6B4-12A1-EEA1-1C95-0A280AE069EC}"/>
              </a:ext>
            </a:extLst>
          </p:cNvPr>
          <p:cNvCxnSpPr>
            <a:cxnSpLocks/>
          </p:cNvCxnSpPr>
          <p:nvPr/>
        </p:nvCxnSpPr>
        <p:spPr>
          <a:xfrm>
            <a:off x="6869305" y="1281771"/>
            <a:ext cx="0" cy="81783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63295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32834-13F6-7E48-0DF4-B44EB62E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B43B-0FD0-CB13-2902-14902F03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Переключение веток</a:t>
            </a:r>
            <a:r>
              <a:rPr lang="en-US" dirty="0"/>
              <a:t> </a:t>
            </a:r>
            <a:r>
              <a:rPr lang="ru-RU" dirty="0"/>
              <a:t>не работает</a:t>
            </a:r>
            <a:endParaRPr lang="en-RU" dirty="0"/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3CA65068-5092-41A6-FB38-FA618BC16B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83"/>
          <a:stretch>
            <a:fillRect/>
          </a:stretch>
        </p:blipFill>
        <p:spPr bwMode="auto">
          <a:xfrm>
            <a:off x="662607" y="1690687"/>
            <a:ext cx="9306117" cy="3755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425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19B69-55F6-8CEA-35FE-B9B2CB3F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14554-98AC-E90C-145A-58E0C412E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Переключение веток</a:t>
            </a:r>
            <a:r>
              <a:rPr lang="en-US" dirty="0"/>
              <a:t> </a:t>
            </a:r>
            <a:r>
              <a:rPr lang="ru-RU" dirty="0"/>
              <a:t>не работает</a:t>
            </a:r>
            <a:endParaRPr lang="en-RU" dirty="0"/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910495DC-0C91-8791-B66A-6EB559F423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83"/>
          <a:stretch>
            <a:fillRect/>
          </a:stretch>
        </p:blipFill>
        <p:spPr bwMode="auto">
          <a:xfrm>
            <a:off x="662607" y="1690687"/>
            <a:ext cx="9306117" cy="3755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ECAD91-273F-5BAA-DAA6-8D96A4191F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7904" y="2451100"/>
            <a:ext cx="7112000" cy="44069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0BBD800-3A34-BFDB-5EA2-5174C3BE3722}"/>
              </a:ext>
            </a:extLst>
          </p:cNvPr>
          <p:cNvSpPr txBox="1">
            <a:spLocks/>
          </p:cNvSpPr>
          <p:nvPr/>
        </p:nvSpPr>
        <p:spPr>
          <a:xfrm>
            <a:off x="4877904" y="1518408"/>
            <a:ext cx="7112000" cy="760414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err="1"/>
              <a:t>НЕчистая</a:t>
            </a:r>
            <a:r>
              <a:rPr lang="ru-RU" dirty="0"/>
              <a:t> рабочая область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7286260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A4963-3205-225E-4FF6-F5062F037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CE4F7-6D1A-D902-739C-737F17B9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Слияние веток</a:t>
            </a:r>
            <a:r>
              <a:rPr lang="en-US" dirty="0"/>
              <a:t> (merge)</a:t>
            </a:r>
            <a:endParaRPr lang="en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5D2A74-DD88-A4FC-BAAE-CB9C09D29878}"/>
              </a:ext>
            </a:extLst>
          </p:cNvPr>
          <p:cNvSpPr txBox="1"/>
          <p:nvPr/>
        </p:nvSpPr>
        <p:spPr>
          <a:xfrm>
            <a:off x="838200" y="1690688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Monaco" pitchFamily="2" charset="77"/>
              </a:rPr>
              <a:t>git merge boxplot</a:t>
            </a:r>
          </a:p>
        </p:txBody>
      </p:sp>
    </p:spTree>
    <p:extLst>
      <p:ext uri="{BB962C8B-B14F-4D97-AF65-F5344CB8AC3E}">
        <p14:creationId xmlns:p14="http://schemas.microsoft.com/office/powerpoint/2010/main" val="32801932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0CEDE-B831-B5C0-C0D9-14D096B2B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93DEA-6741-5487-1903-517238AF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Слияние веток</a:t>
            </a:r>
            <a:r>
              <a:rPr lang="en-US" dirty="0"/>
              <a:t> (merge)</a:t>
            </a:r>
            <a:endParaRPr lang="en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940AE7-3D32-7C78-0E76-AF37AB9D1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8120270" cy="4816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2311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912F7-1D96-5978-D4B2-235938B5E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RU" dirty="0"/>
              <a:t>erge conflict</a:t>
            </a:r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BBBBD556-20F8-D461-54AD-D83F91FE6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30" y="1690688"/>
            <a:ext cx="8763000" cy="4864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40640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B59B6-D2D9-C69E-ADFD-491D6B693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7032C-AFD1-88CE-48BD-9861B42CA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RU" dirty="0"/>
              <a:t>erge conflict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8C4F3-2A55-ED69-D2F0-FB50D81523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9223"/>
            <a:ext cx="340518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sz="1800" dirty="0">
              <a:solidFill>
                <a:schemeClr val="accent6"/>
              </a:solidFill>
              <a:latin typeface="Monaco" pitchFamily="2" charset="77"/>
            </a:endParaRPr>
          </a:p>
          <a:p>
            <a:pPr marL="0" indent="0">
              <a:buNone/>
            </a:pPr>
            <a:r>
              <a:rPr lang="en-RU" sz="1800">
                <a:solidFill>
                  <a:schemeClr val="accent6"/>
                </a:solidFill>
                <a:latin typeface="Monaco" pitchFamily="2" charset="77"/>
              </a:rPr>
              <a:t>&lt;&lt;&lt;&lt;&lt;&lt;&lt; </a:t>
            </a:r>
            <a:r>
              <a:rPr lang="en-US" sz="1800" dirty="0">
                <a:solidFill>
                  <a:schemeClr val="accent6"/>
                </a:solidFill>
                <a:latin typeface="Monaco" pitchFamily="2" charset="77"/>
              </a:rPr>
              <a:t>feature-a</a:t>
            </a:r>
          </a:p>
          <a:p>
            <a:pPr marL="0" indent="0">
              <a:buNone/>
            </a:pPr>
            <a:r>
              <a:rPr lang="ru-RU" sz="1800" dirty="0">
                <a:solidFill>
                  <a:schemeClr val="accent6"/>
                </a:solidFill>
                <a:latin typeface="Monaco" pitchFamily="2" charset="77"/>
              </a:rPr>
              <a:t>Изменения из </a:t>
            </a:r>
            <a:r>
              <a:rPr lang="en-US" sz="1800" dirty="0">
                <a:solidFill>
                  <a:schemeClr val="accent6"/>
                </a:solidFill>
                <a:latin typeface="Monaco" pitchFamily="2" charset="77"/>
              </a:rPr>
              <a:t>feature-a</a:t>
            </a:r>
          </a:p>
          <a:p>
            <a:pPr marL="0" indent="0">
              <a:buNone/>
            </a:pPr>
            <a:r>
              <a:rPr lang="en-RU" sz="1800" dirty="0">
                <a:latin typeface="Monaco" pitchFamily="2" charset="77"/>
              </a:rPr>
              <a:t>=======</a:t>
            </a:r>
            <a:endParaRPr lang="en-US" sz="18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ru-RU" sz="1800" dirty="0">
                <a:solidFill>
                  <a:schemeClr val="accent4"/>
                </a:solidFill>
                <a:latin typeface="Monaco" pitchFamily="2" charset="77"/>
              </a:rPr>
              <a:t>Изменения из </a:t>
            </a:r>
            <a:r>
              <a:rPr lang="en-US" sz="1800" dirty="0">
                <a:solidFill>
                  <a:schemeClr val="accent4"/>
                </a:solidFill>
                <a:latin typeface="Monaco" pitchFamily="2" charset="77"/>
              </a:rPr>
              <a:t>main</a:t>
            </a:r>
          </a:p>
          <a:p>
            <a:pPr marL="0" indent="0">
              <a:buNone/>
            </a:pPr>
            <a:r>
              <a:rPr lang="en-GB" sz="1800" dirty="0">
                <a:solidFill>
                  <a:schemeClr val="accent4"/>
                </a:solidFill>
                <a:latin typeface="Monaco" pitchFamily="2" charset="77"/>
              </a:rPr>
              <a:t>&gt;&gt;&gt;&gt;&gt;&gt;&gt; main</a:t>
            </a:r>
            <a:endParaRPr lang="en-RU" sz="1800" dirty="0">
              <a:solidFill>
                <a:schemeClr val="accent4"/>
              </a:solidFill>
              <a:latin typeface="Monac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456647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B7B14-0157-0670-79E1-DC4BDE0AA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F33F6-8473-2959-B4B1-2FEB06971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RU" dirty="0"/>
              <a:t>erge conflict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57383-88F9-498C-99C0-DE476CAEC6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9223"/>
            <a:ext cx="340518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sz="1800" dirty="0">
              <a:solidFill>
                <a:schemeClr val="accent6"/>
              </a:solidFill>
              <a:latin typeface="Monaco" pitchFamily="2" charset="77"/>
            </a:endParaRPr>
          </a:p>
          <a:p>
            <a:pPr marL="0" indent="0">
              <a:buNone/>
            </a:pPr>
            <a:r>
              <a:rPr lang="en-RU" sz="1800">
                <a:solidFill>
                  <a:schemeClr val="accent6"/>
                </a:solidFill>
                <a:latin typeface="Monaco" pitchFamily="2" charset="77"/>
              </a:rPr>
              <a:t>&lt;&lt;&lt;&lt;&lt;&lt;&lt; </a:t>
            </a:r>
            <a:r>
              <a:rPr lang="en-US" sz="1800" dirty="0">
                <a:solidFill>
                  <a:schemeClr val="accent6"/>
                </a:solidFill>
                <a:latin typeface="Monaco" pitchFamily="2" charset="77"/>
              </a:rPr>
              <a:t>feature-a</a:t>
            </a:r>
          </a:p>
          <a:p>
            <a:pPr marL="0" indent="0">
              <a:buNone/>
            </a:pPr>
            <a:r>
              <a:rPr lang="ru-RU" sz="1800" dirty="0">
                <a:solidFill>
                  <a:schemeClr val="accent6"/>
                </a:solidFill>
                <a:latin typeface="Monaco" pitchFamily="2" charset="77"/>
              </a:rPr>
              <a:t>Изменения из </a:t>
            </a:r>
            <a:r>
              <a:rPr lang="en-US" sz="1800" dirty="0">
                <a:solidFill>
                  <a:schemeClr val="accent6"/>
                </a:solidFill>
                <a:latin typeface="Monaco" pitchFamily="2" charset="77"/>
              </a:rPr>
              <a:t>feature-a</a:t>
            </a:r>
          </a:p>
          <a:p>
            <a:pPr marL="0" indent="0">
              <a:buNone/>
            </a:pPr>
            <a:r>
              <a:rPr lang="en-RU" sz="1800" dirty="0">
                <a:latin typeface="Monaco" pitchFamily="2" charset="77"/>
              </a:rPr>
              <a:t>=======</a:t>
            </a:r>
            <a:endParaRPr lang="en-US" sz="18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ru-RU" sz="1800" dirty="0">
                <a:solidFill>
                  <a:schemeClr val="accent4"/>
                </a:solidFill>
                <a:latin typeface="Monaco" pitchFamily="2" charset="77"/>
              </a:rPr>
              <a:t>Изменения из </a:t>
            </a:r>
            <a:r>
              <a:rPr lang="en-US" sz="1800" dirty="0">
                <a:solidFill>
                  <a:schemeClr val="accent4"/>
                </a:solidFill>
                <a:latin typeface="Monaco" pitchFamily="2" charset="77"/>
              </a:rPr>
              <a:t>main</a:t>
            </a:r>
          </a:p>
          <a:p>
            <a:pPr marL="0" indent="0">
              <a:buNone/>
            </a:pPr>
            <a:r>
              <a:rPr lang="en-GB" sz="1800" dirty="0">
                <a:solidFill>
                  <a:schemeClr val="accent4"/>
                </a:solidFill>
                <a:latin typeface="Monaco" pitchFamily="2" charset="77"/>
              </a:rPr>
              <a:t>&gt;&gt;&gt;&gt;&gt;&gt;&gt; main</a:t>
            </a:r>
            <a:endParaRPr lang="en-RU" sz="1800" dirty="0">
              <a:solidFill>
                <a:schemeClr val="accent4"/>
              </a:solidFill>
              <a:latin typeface="Monaco" pitchFamily="2" charset="77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D8D110-248A-BE83-1356-B445BAE00F9A}"/>
              </a:ext>
            </a:extLst>
          </p:cNvPr>
          <p:cNvSpPr txBox="1">
            <a:spLocks/>
          </p:cNvSpPr>
          <p:nvPr/>
        </p:nvSpPr>
        <p:spPr>
          <a:xfrm>
            <a:off x="6515099" y="2379223"/>
            <a:ext cx="48387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1800" dirty="0">
                <a:latin typeface="Monaco" pitchFamily="2" charset="77"/>
              </a:rPr>
              <a:t>Убираем вспомогательные символы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1800" dirty="0">
                <a:latin typeface="Monaco" pitchFamily="2" charset="77"/>
              </a:rPr>
              <a:t>Согласуем между собой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1800" dirty="0">
              <a:latin typeface="Monaco" pitchFamily="2" charset="77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1800" dirty="0">
                <a:latin typeface="Monaco" pitchFamily="2" charset="77"/>
              </a:rPr>
              <a:t>Изменения из </a:t>
            </a:r>
            <a:r>
              <a:rPr lang="en-US" sz="1800" dirty="0">
                <a:solidFill>
                  <a:schemeClr val="accent6"/>
                </a:solidFill>
                <a:latin typeface="Monaco" pitchFamily="2" charset="77"/>
              </a:rPr>
              <a:t>feature-a</a:t>
            </a:r>
            <a:r>
              <a:rPr lang="en-US" sz="1800" dirty="0">
                <a:latin typeface="Monaco" pitchFamily="2" charset="77"/>
              </a:rPr>
              <a:t> </a:t>
            </a:r>
            <a:r>
              <a:rPr lang="ru-RU" sz="1800" dirty="0">
                <a:latin typeface="Monaco" pitchFamily="2" charset="77"/>
              </a:rPr>
              <a:t>и </a:t>
            </a:r>
            <a:r>
              <a:rPr lang="en-US" sz="1800" dirty="0">
                <a:solidFill>
                  <a:schemeClr val="accent4"/>
                </a:solidFill>
                <a:latin typeface="Monaco" pitchFamily="2" charset="77"/>
              </a:rPr>
              <a:t>main</a:t>
            </a:r>
            <a:endParaRPr lang="ru-RU" sz="1800" dirty="0">
              <a:solidFill>
                <a:schemeClr val="accent4"/>
              </a:solidFill>
              <a:latin typeface="Monaco" pitchFamily="2" charset="77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ru-RU" sz="1800" dirty="0">
              <a:solidFill>
                <a:schemeClr val="accent4"/>
              </a:solidFill>
              <a:latin typeface="Monaco" pitchFamily="2" charset="77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1800" dirty="0">
                <a:latin typeface="Monaco" pitchFamily="2" charset="77"/>
              </a:rPr>
              <a:t>Чтобы был обычный запускаемый код</a:t>
            </a:r>
            <a:endParaRPr lang="en-US" sz="1800" dirty="0">
              <a:latin typeface="Monaco" pitchFamily="2" charset="77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3DDABC1B-B1B3-ADF0-FE61-6E56213340D2}"/>
              </a:ext>
            </a:extLst>
          </p:cNvPr>
          <p:cNvSpPr/>
          <p:nvPr/>
        </p:nvSpPr>
        <p:spPr>
          <a:xfrm>
            <a:off x="4243388" y="3429000"/>
            <a:ext cx="2097098" cy="553598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323268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C7616-9946-C373-3082-8810738E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72D04-727D-B478-6470-9F9F9CD86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RU" dirty="0"/>
              <a:t>erge conflict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0A95C-C09B-3EA8-AE18-8DB55E39B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821935" cy="490378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GB" sz="1800" dirty="0">
                <a:latin typeface="Monaco" pitchFamily="2" charset="77"/>
              </a:rPr>
              <a:t>l</a:t>
            </a:r>
            <a:r>
              <a:rPr lang="en-RU" sz="1800" dirty="0">
                <a:latin typeface="Monaco" pitchFamily="2" charset="77"/>
              </a:rPr>
              <a:t>ibrary(tidyverse)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GB" sz="18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GB" sz="1800" dirty="0">
                <a:latin typeface="Monaco" pitchFamily="2" charset="77"/>
              </a:rPr>
              <a:t>s</a:t>
            </a:r>
            <a:r>
              <a:rPr lang="en-RU" sz="1800" dirty="0">
                <a:latin typeface="Monaco" pitchFamily="2" charset="77"/>
              </a:rPr>
              <a:t>ource("data.R")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latin typeface="Monaco" pitchFamily="2" charset="77"/>
              </a:rPr>
              <a:t>```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RU" sz="18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>
                <a:solidFill>
                  <a:schemeClr val="accent6"/>
                </a:solidFill>
                <a:latin typeface="Monaco" pitchFamily="2" charset="77"/>
              </a:rPr>
              <a:t>&lt;&lt;&lt;&lt;&lt;&lt;&lt; </a:t>
            </a:r>
            <a:r>
              <a:rPr lang="en-US" sz="1800" dirty="0">
                <a:solidFill>
                  <a:schemeClr val="accent6"/>
                </a:solidFill>
                <a:latin typeface="Monaco" pitchFamily="2" charset="77"/>
              </a:rPr>
              <a:t>advanced-plots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solidFill>
                  <a:schemeClr val="accent6"/>
                </a:solidFill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chemeClr val="accent6"/>
                </a:solidFill>
                <a:latin typeface="Monaco" pitchFamily="2" charset="77"/>
              </a:rPr>
              <a:t>plot(density(top$x))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latin typeface="Monaco" pitchFamily="2" charset="77"/>
              </a:rPr>
              <a:t>=======</a:t>
            </a:r>
            <a:endParaRPr lang="en-US" sz="18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solidFill>
                  <a:schemeClr val="accent4"/>
                </a:solidFill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chemeClr val="accent4"/>
                </a:solidFill>
                <a:latin typeface="Monaco" pitchFamily="2" charset="77"/>
              </a:rPr>
              <a:t>ggplot(top, aes(x)) +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chemeClr val="accent4"/>
                </a:solidFill>
                <a:latin typeface="Monaco" pitchFamily="2" charset="77"/>
              </a:rPr>
              <a:t>  geom_histogram()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GB" sz="1800" dirty="0">
                <a:solidFill>
                  <a:schemeClr val="accent4"/>
                </a:solidFill>
                <a:latin typeface="Monaco" pitchFamily="2" charset="77"/>
              </a:rPr>
              <a:t>&gt;&gt;&gt;&gt;&gt;&gt;&gt; main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latin typeface="Monaco" pitchFamily="2" charset="77"/>
              </a:rPr>
              <a:t>```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RU" sz="1800" dirty="0">
              <a:latin typeface="Monac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745027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01449-DDC5-1683-7115-0CDD4B4A3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1372E-CE7E-B2EF-4829-EC4FE4BA9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RU" dirty="0"/>
              <a:t>erge conflict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D9AD5-3406-BC0E-2008-55917CA86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821935" cy="490378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GB" sz="1800" dirty="0">
                <a:latin typeface="Monaco" pitchFamily="2" charset="77"/>
              </a:rPr>
              <a:t>l</a:t>
            </a:r>
            <a:r>
              <a:rPr lang="en-RU" sz="1800" dirty="0">
                <a:latin typeface="Monaco" pitchFamily="2" charset="77"/>
              </a:rPr>
              <a:t>ibrary(tidyverse)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GB" sz="18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GB" sz="1800" dirty="0">
                <a:latin typeface="Monaco" pitchFamily="2" charset="77"/>
              </a:rPr>
              <a:t>s</a:t>
            </a:r>
            <a:r>
              <a:rPr lang="en-RU" sz="1800" dirty="0">
                <a:latin typeface="Monaco" pitchFamily="2" charset="77"/>
              </a:rPr>
              <a:t>ource("data.R")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latin typeface="Monaco" pitchFamily="2" charset="77"/>
              </a:rPr>
              <a:t>```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RU" sz="18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>
                <a:solidFill>
                  <a:schemeClr val="accent6"/>
                </a:solidFill>
                <a:latin typeface="Monaco" pitchFamily="2" charset="77"/>
              </a:rPr>
              <a:t>&lt;&lt;&lt;&lt;&lt;&lt;&lt; </a:t>
            </a:r>
            <a:r>
              <a:rPr lang="en-US" sz="1800" dirty="0">
                <a:solidFill>
                  <a:schemeClr val="accent6"/>
                </a:solidFill>
                <a:latin typeface="Monaco" pitchFamily="2" charset="77"/>
              </a:rPr>
              <a:t>advanced-plots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solidFill>
                  <a:schemeClr val="accent6"/>
                </a:solidFill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chemeClr val="accent6"/>
                </a:solidFill>
                <a:latin typeface="Monaco" pitchFamily="2" charset="77"/>
              </a:rPr>
              <a:t>plot(density(top$x))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latin typeface="Monaco" pitchFamily="2" charset="77"/>
              </a:rPr>
              <a:t>=======</a:t>
            </a:r>
            <a:endParaRPr lang="en-US" sz="18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solidFill>
                  <a:schemeClr val="accent4"/>
                </a:solidFill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chemeClr val="accent4"/>
                </a:solidFill>
                <a:latin typeface="Monaco" pitchFamily="2" charset="77"/>
              </a:rPr>
              <a:t>ggplot(top, aes(x)) +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chemeClr val="accent4"/>
                </a:solidFill>
                <a:latin typeface="Monaco" pitchFamily="2" charset="77"/>
              </a:rPr>
              <a:t>  geom_histogram()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GB" sz="1800" dirty="0">
                <a:solidFill>
                  <a:schemeClr val="accent4"/>
                </a:solidFill>
                <a:latin typeface="Monaco" pitchFamily="2" charset="77"/>
              </a:rPr>
              <a:t>&gt;&gt;&gt;&gt;&gt;&gt;&gt; main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latin typeface="Monaco" pitchFamily="2" charset="77"/>
              </a:rPr>
              <a:t>```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RU" sz="1800" dirty="0">
              <a:latin typeface="Monaco" pitchFamily="2" charset="77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B81957E-44C1-703E-8845-7A2EC9E5EF62}"/>
              </a:ext>
            </a:extLst>
          </p:cNvPr>
          <p:cNvSpPr txBox="1">
            <a:spLocks/>
          </p:cNvSpPr>
          <p:nvPr/>
        </p:nvSpPr>
        <p:spPr>
          <a:xfrm>
            <a:off x="6634163" y="1690688"/>
            <a:ext cx="3821935" cy="49037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RU" sz="1800"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GB" sz="1800" dirty="0">
                <a:latin typeface="Monaco" pitchFamily="2" charset="77"/>
              </a:rPr>
              <a:t>l</a:t>
            </a:r>
            <a:r>
              <a:rPr lang="en-RU" sz="1800">
                <a:latin typeface="Monaco" pitchFamily="2" charset="77"/>
              </a:rPr>
              <a:t>ibrary(tidyverse)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endParaRPr lang="en-GB" sz="18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GB" sz="1800" dirty="0">
                <a:latin typeface="Monaco" pitchFamily="2" charset="77"/>
              </a:rPr>
              <a:t>s</a:t>
            </a:r>
            <a:r>
              <a:rPr lang="en-RU" sz="1800">
                <a:latin typeface="Monaco" pitchFamily="2" charset="77"/>
              </a:rPr>
              <a:t>ource("data.R")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RU" sz="1800">
                <a:latin typeface="Monaco" pitchFamily="2" charset="77"/>
              </a:rPr>
              <a:t>```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endParaRPr lang="en-RU" sz="180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RU" sz="1800"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US" sz="1800" dirty="0">
                <a:solidFill>
                  <a:srgbClr val="0E9ED5"/>
                </a:solidFill>
                <a:latin typeface="Monaco" pitchFamily="2" charset="77"/>
              </a:rPr>
              <a:t>ggplot(top, aes(x)) +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US" sz="1800" dirty="0">
                <a:latin typeface="Monaco" pitchFamily="2" charset="77"/>
              </a:rPr>
              <a:t>  </a:t>
            </a:r>
            <a:r>
              <a:rPr lang="en-US" sz="1800" dirty="0">
                <a:solidFill>
                  <a:srgbClr val="4DA72E"/>
                </a:solidFill>
                <a:latin typeface="Monaco" pitchFamily="2" charset="77"/>
              </a:rPr>
              <a:t>geom_density()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RU" sz="1800">
                <a:latin typeface="Monaco" pitchFamily="2" charset="77"/>
              </a:rPr>
              <a:t>```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endParaRPr lang="en-RU" sz="1800" dirty="0">
              <a:latin typeface="Monaco" pitchFamily="2" charset="77"/>
            </a:endParaRP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81C55E86-2F4E-8589-C3C1-41C106883401}"/>
              </a:ext>
            </a:extLst>
          </p:cNvPr>
          <p:cNvSpPr/>
          <p:nvPr/>
        </p:nvSpPr>
        <p:spPr>
          <a:xfrm>
            <a:off x="4243388" y="3971925"/>
            <a:ext cx="2097098" cy="553598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2741543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51B7D-ED7E-5384-F643-4A044FFF9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79FF1-429A-4A4D-FC3D-B332D67CA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RU" dirty="0"/>
              <a:t>erge conflict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19CB4-54C5-8DD9-A05C-337AF3FE2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821935" cy="490378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GB" sz="1800" dirty="0">
                <a:latin typeface="Monaco" pitchFamily="2" charset="77"/>
              </a:rPr>
              <a:t>l</a:t>
            </a:r>
            <a:r>
              <a:rPr lang="en-RU" sz="1800" dirty="0">
                <a:latin typeface="Monaco" pitchFamily="2" charset="77"/>
              </a:rPr>
              <a:t>ibrary(tidyverse)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GB" sz="18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GB" sz="1800" dirty="0">
                <a:latin typeface="Monaco" pitchFamily="2" charset="77"/>
              </a:rPr>
              <a:t>s</a:t>
            </a:r>
            <a:r>
              <a:rPr lang="en-RU" sz="1800" dirty="0">
                <a:latin typeface="Monaco" pitchFamily="2" charset="77"/>
              </a:rPr>
              <a:t>ource("data.R")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latin typeface="Monaco" pitchFamily="2" charset="77"/>
              </a:rPr>
              <a:t>```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RU" sz="18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>
                <a:solidFill>
                  <a:schemeClr val="accent6"/>
                </a:solidFill>
                <a:latin typeface="Monaco" pitchFamily="2" charset="77"/>
              </a:rPr>
              <a:t>&lt;&lt;&lt;&lt;&lt;&lt;&lt; </a:t>
            </a:r>
            <a:r>
              <a:rPr lang="en-US" sz="1800" dirty="0">
                <a:solidFill>
                  <a:schemeClr val="accent6"/>
                </a:solidFill>
                <a:latin typeface="Monaco" pitchFamily="2" charset="77"/>
              </a:rPr>
              <a:t>advanced-plots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solidFill>
                  <a:schemeClr val="accent6"/>
                </a:solidFill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chemeClr val="accent6"/>
                </a:solidFill>
                <a:latin typeface="Monaco" pitchFamily="2" charset="77"/>
              </a:rPr>
              <a:t>plot(density(top$x))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latin typeface="Monaco" pitchFamily="2" charset="77"/>
              </a:rPr>
              <a:t>=======</a:t>
            </a:r>
            <a:endParaRPr lang="en-US" sz="18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solidFill>
                  <a:schemeClr val="accent4"/>
                </a:solidFill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chemeClr val="accent4"/>
                </a:solidFill>
                <a:latin typeface="Monaco" pitchFamily="2" charset="77"/>
              </a:rPr>
              <a:t>ggplot(top, aes(x)) +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chemeClr val="accent4"/>
                </a:solidFill>
                <a:latin typeface="Monaco" pitchFamily="2" charset="77"/>
              </a:rPr>
              <a:t>  geom_histogram()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GB" sz="1800" dirty="0">
                <a:solidFill>
                  <a:schemeClr val="accent4"/>
                </a:solidFill>
                <a:latin typeface="Monaco" pitchFamily="2" charset="77"/>
              </a:rPr>
              <a:t>&gt;&gt;&gt;&gt;&gt;&gt;&gt; main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RU" sz="1800" dirty="0">
                <a:latin typeface="Monaco" pitchFamily="2" charset="77"/>
              </a:rPr>
              <a:t>```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RU" sz="1800" dirty="0">
              <a:latin typeface="Monaco" pitchFamily="2" charset="77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F467AD9-6D00-0553-3439-3C65E9CCFF5A}"/>
              </a:ext>
            </a:extLst>
          </p:cNvPr>
          <p:cNvSpPr txBox="1">
            <a:spLocks/>
          </p:cNvSpPr>
          <p:nvPr/>
        </p:nvSpPr>
        <p:spPr>
          <a:xfrm>
            <a:off x="6634163" y="1690688"/>
            <a:ext cx="3821935" cy="49037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RU" sz="1800"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GB" sz="1800" dirty="0">
                <a:latin typeface="Monaco" pitchFamily="2" charset="77"/>
              </a:rPr>
              <a:t>l</a:t>
            </a:r>
            <a:r>
              <a:rPr lang="en-RU" sz="1800">
                <a:latin typeface="Monaco" pitchFamily="2" charset="77"/>
              </a:rPr>
              <a:t>ibrary(tidyverse)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endParaRPr lang="en-GB" sz="18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GB" sz="1800" dirty="0">
                <a:latin typeface="Monaco" pitchFamily="2" charset="77"/>
              </a:rPr>
              <a:t>s</a:t>
            </a:r>
            <a:r>
              <a:rPr lang="en-RU" sz="1800">
                <a:latin typeface="Monaco" pitchFamily="2" charset="77"/>
              </a:rPr>
              <a:t>ource("data.R")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RU" sz="1800">
                <a:latin typeface="Monaco" pitchFamily="2" charset="77"/>
              </a:rPr>
              <a:t>```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endParaRPr lang="en-RU" sz="180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RU" sz="1800">
                <a:latin typeface="Monaco" pitchFamily="2" charset="77"/>
              </a:rPr>
              <a:t>```{r}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US" sz="1800" dirty="0">
                <a:latin typeface="Monaco" pitchFamily="2" charset="77"/>
              </a:rPr>
              <a:t>ggplot(top, aes(x)) +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US" sz="1800" dirty="0">
                <a:latin typeface="Monaco" pitchFamily="2" charset="77"/>
              </a:rPr>
              <a:t>  geom_density()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RU" sz="1800">
                <a:latin typeface="Monaco" pitchFamily="2" charset="77"/>
              </a:rPr>
              <a:t>```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None/>
            </a:pPr>
            <a:endParaRPr lang="en-RU" sz="1800" dirty="0">
              <a:latin typeface="Monaco" pitchFamily="2" charset="77"/>
            </a:endParaRP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506D4B1D-154B-1AD0-0668-9ECA9E27BDEF}"/>
              </a:ext>
            </a:extLst>
          </p:cNvPr>
          <p:cNvSpPr/>
          <p:nvPr/>
        </p:nvSpPr>
        <p:spPr>
          <a:xfrm>
            <a:off x="4243388" y="3971925"/>
            <a:ext cx="2097098" cy="553598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07387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537F6-50B3-6F1E-A82C-0FAF7F14D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9B992-F0EC-89AA-95EC-B6CA79557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7954DD-38D0-1744-8B3B-494D5D4CE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Заключение тут</a:t>
            </a:r>
          </a:p>
        </p:txBody>
      </p:sp>
    </p:spTree>
    <p:extLst>
      <p:ext uri="{BB962C8B-B14F-4D97-AF65-F5344CB8AC3E}">
        <p14:creationId xmlns:p14="http://schemas.microsoft.com/office/powerpoint/2010/main" val="20319710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BEF62-F6FF-5E0A-43CA-C04A28408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EBB0B-7118-CED9-D0B3-DE4F9AD34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Настройка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33290897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63AC2-9282-638C-7D72-174A5099D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A65F5-B0FB-CB59-4098-973B78911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Удаленный репозиторий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24256267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BDA77-46E8-CEF8-CE00-418FB62A5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83D50-B771-6C39-8181-4E42F1462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Загрузка изменений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26753868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0DE3A-B3A4-21C3-CD58-EFF843474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24DCE-3389-F33C-05E9-49F8F3EDA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Pull Request</a:t>
            </a:r>
            <a:endParaRPr lang="en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303BC4-2927-A8B1-B00F-F312AC8F1557}"/>
              </a:ext>
            </a:extLst>
          </p:cNvPr>
          <p:cNvSpPr txBox="1"/>
          <p:nvPr/>
        </p:nvSpPr>
        <p:spPr>
          <a:xfrm>
            <a:off x="1000897" y="2038865"/>
            <a:ext cx="10322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Маст.</a:t>
            </a:r>
          </a:p>
        </p:txBody>
      </p:sp>
    </p:spTree>
    <p:extLst>
      <p:ext uri="{BB962C8B-B14F-4D97-AF65-F5344CB8AC3E}">
        <p14:creationId xmlns:p14="http://schemas.microsoft.com/office/powerpoint/2010/main" val="8885629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A8DFB-3BCA-4E92-08D8-7758BDC4F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0FC3F-477A-A56D-C517-B4013EBB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Клонирование репозитория</a:t>
            </a:r>
            <a:endParaRPr lang="en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60F80D-928E-739A-7DC4-8056E7357C8E}"/>
              </a:ext>
            </a:extLst>
          </p:cNvPr>
          <p:cNvSpPr txBox="1"/>
          <p:nvPr/>
        </p:nvSpPr>
        <p:spPr>
          <a:xfrm>
            <a:off x="838200" y="1690688"/>
            <a:ext cx="100624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Маст, но можно перенести в создание, но тут тоже проговорить.</a:t>
            </a:r>
          </a:p>
        </p:txBody>
      </p:sp>
    </p:spTree>
    <p:extLst>
      <p:ext uri="{BB962C8B-B14F-4D97-AF65-F5344CB8AC3E}">
        <p14:creationId xmlns:p14="http://schemas.microsoft.com/office/powerpoint/2010/main" val="23282404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161934A-020E-8880-8E1B-543CBB19D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74807"/>
            <a:ext cx="7772400" cy="5253566"/>
          </a:xfrm>
          <a:prstGeom prst="rect">
            <a:avLst/>
          </a:prstGeom>
          <a:ln w="12700">
            <a:noFill/>
          </a:ln>
          <a:effectLst>
            <a:glow rad="317500">
              <a:schemeClr val="bg1">
                <a:lumMod val="50000"/>
                <a:alpha val="3000"/>
              </a:schemeClr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3A44C49-633B-97F5-FA86-1574120E7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Используйте чистую сессию</a:t>
            </a:r>
            <a:endParaRPr lang="en-RU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50AA071-541B-6857-0DFC-A451018E11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43" t="967" r="1453" b="583"/>
          <a:stretch/>
        </p:blipFill>
        <p:spPr>
          <a:xfrm>
            <a:off x="1186089" y="2209032"/>
            <a:ext cx="4121274" cy="4283843"/>
          </a:xfrm>
          <a:prstGeom prst="rect">
            <a:avLst/>
          </a:prstGeom>
          <a:ln w="3175">
            <a:solidFill>
              <a:schemeClr val="bg1">
                <a:lumMod val="50000"/>
              </a:schemeClr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DA15FF4-9DEC-7708-3F6C-F72ACFB48D89}"/>
              </a:ext>
            </a:extLst>
          </p:cNvPr>
          <p:cNvSpPr/>
          <p:nvPr/>
        </p:nvSpPr>
        <p:spPr>
          <a:xfrm>
            <a:off x="2207535" y="3550443"/>
            <a:ext cx="2027582" cy="58640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8EDDD-8C2A-8473-CD4E-DEC6145E254F}"/>
              </a:ext>
            </a:extLst>
          </p:cNvPr>
          <p:cNvSpPr txBox="1"/>
          <p:nvPr/>
        </p:nvSpPr>
        <p:spPr>
          <a:xfrm>
            <a:off x="8818745" y="2289526"/>
            <a:ext cx="328064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rgbClr val="C00000"/>
                </a:solidFill>
              </a:rPr>
              <a:t>В директории проекта</a:t>
            </a:r>
          </a:p>
          <a:p>
            <a:r>
              <a:rPr lang="ru-RU" sz="2400" dirty="0">
                <a:solidFill>
                  <a:srgbClr val="C00000"/>
                </a:solidFill>
              </a:rPr>
              <a:t>не должно быть файла</a:t>
            </a:r>
          </a:p>
          <a:p>
            <a:endParaRPr lang="ru-RU" sz="2400" dirty="0">
              <a:solidFill>
                <a:srgbClr val="C00000"/>
              </a:solidFill>
            </a:endParaRPr>
          </a:p>
          <a:p>
            <a:pPr algn="ctr"/>
            <a:r>
              <a:rPr lang="en-US" sz="2400" dirty="0">
                <a:solidFill>
                  <a:srgbClr val="C00000"/>
                </a:solidFill>
                <a:latin typeface="Monaco" pitchFamily="2" charset="77"/>
              </a:rPr>
              <a:t>.</a:t>
            </a:r>
            <a:r>
              <a:rPr lang="en-US" sz="2400" dirty="0" err="1">
                <a:solidFill>
                  <a:srgbClr val="C00000"/>
                </a:solidFill>
                <a:latin typeface="Monaco" pitchFamily="2" charset="77"/>
              </a:rPr>
              <a:t>RData</a:t>
            </a:r>
            <a:endParaRPr lang="en-US" sz="2400" dirty="0">
              <a:solidFill>
                <a:srgbClr val="C00000"/>
              </a:solidFill>
              <a:latin typeface="Monaco" pitchFamily="2" charset="77"/>
            </a:endParaRPr>
          </a:p>
          <a:p>
            <a:pPr algn="ctr"/>
            <a:r>
              <a:rPr lang="en-US" sz="2400" dirty="0">
                <a:solidFill>
                  <a:srgbClr val="C00000"/>
                </a:solidFill>
              </a:rPr>
              <a:t>(</a:t>
            </a:r>
            <a:r>
              <a:rPr lang="ru-RU" sz="2400" dirty="0">
                <a:solidFill>
                  <a:srgbClr val="C00000"/>
                </a:solidFill>
              </a:rPr>
              <a:t>файл с состоянием)</a:t>
            </a:r>
            <a:endParaRPr lang="en-US" sz="2400" dirty="0">
              <a:solidFill>
                <a:srgbClr val="C00000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4FFCA4E-7BE4-7798-FBE7-DE8F8D88B40D}"/>
              </a:ext>
            </a:extLst>
          </p:cNvPr>
          <p:cNvCxnSpPr>
            <a:cxnSpLocks/>
          </p:cNvCxnSpPr>
          <p:nvPr/>
        </p:nvCxnSpPr>
        <p:spPr>
          <a:xfrm>
            <a:off x="6235227" y="4950903"/>
            <a:ext cx="1016000" cy="0"/>
          </a:xfrm>
          <a:prstGeom prst="line">
            <a:avLst/>
          </a:prstGeom>
          <a:ln w="3810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769470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77E67-D959-64EA-6A79-5EF0D5E59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62256-2D03-6B08-4B54-9D636FEA1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Перезапускайте сессию</a:t>
            </a:r>
            <a:endParaRPr lang="en-R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E49FED-5660-6141-D4D2-89055A298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5981739" cy="297268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3050AED-CD69-2CF1-B295-E68FFEEA4160}"/>
              </a:ext>
            </a:extLst>
          </p:cNvPr>
          <p:cNvCxnSpPr>
            <a:cxnSpLocks/>
          </p:cNvCxnSpPr>
          <p:nvPr/>
        </p:nvCxnSpPr>
        <p:spPr>
          <a:xfrm>
            <a:off x="4127027" y="3122103"/>
            <a:ext cx="1016000" cy="0"/>
          </a:xfrm>
          <a:prstGeom prst="line">
            <a:avLst/>
          </a:prstGeom>
          <a:ln w="3810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66369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CE5C-66F7-5937-5F66-33E1ADA6E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66347-EB3B-6442-43AB-B90C7FB4E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Подсказки</a:t>
            </a:r>
            <a:endParaRPr lang="en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4BEA8F-2E3F-0892-8C59-101D21843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19" y="1524689"/>
            <a:ext cx="10031548" cy="454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60563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20427-1436-BC05-6E72-005035219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E75C5-969F-690A-6578-BCB5CD4FC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Подсказки</a:t>
            </a:r>
            <a:endParaRPr lang="en-RU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479721C-E68C-64BC-7B71-91898BFB74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61" t="1537" r="1002" b="1482"/>
          <a:stretch/>
        </p:blipFill>
        <p:spPr>
          <a:xfrm>
            <a:off x="705678" y="1690688"/>
            <a:ext cx="7527851" cy="3627600"/>
          </a:xfrm>
          <a:prstGeom prst="rect">
            <a:avLst/>
          </a:prstGeom>
          <a:effectLst>
            <a:glow rad="317500">
              <a:schemeClr val="bg1">
                <a:lumMod val="50000"/>
                <a:alpha val="5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69631314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B4D3B-C124-A931-0868-9840BD57B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B64BF-6A40-9AA8-CD8C-5B77A7C1D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push rejection</a:t>
            </a:r>
            <a:endParaRPr lang="en-RU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BD38A84-F03D-14DC-3035-27D1F66B49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61" t="1537" r="1002" b="1482"/>
          <a:stretch/>
        </p:blipFill>
        <p:spPr>
          <a:xfrm>
            <a:off x="705678" y="1690688"/>
            <a:ext cx="7527851" cy="3627600"/>
          </a:xfrm>
          <a:prstGeom prst="rect">
            <a:avLst/>
          </a:prstGeom>
          <a:effectLst>
            <a:glow rad="317500">
              <a:schemeClr val="bg1">
                <a:lumMod val="50000"/>
                <a:alpha val="5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EBBFEA6-BEBB-9367-F37D-33950576AF54}"/>
              </a:ext>
            </a:extLst>
          </p:cNvPr>
          <p:cNvSpPr txBox="1"/>
          <p:nvPr/>
        </p:nvSpPr>
        <p:spPr>
          <a:xfrm>
            <a:off x="838200" y="5605671"/>
            <a:ext cx="28905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accent6"/>
                </a:solidFill>
                <a:latin typeface="Monaco" pitchFamily="2" charset="77"/>
              </a:rPr>
              <a:t>git pull</a:t>
            </a:r>
          </a:p>
        </p:txBody>
      </p:sp>
    </p:spTree>
    <p:extLst>
      <p:ext uri="{BB962C8B-B14F-4D97-AF65-F5344CB8AC3E}">
        <p14:creationId xmlns:p14="http://schemas.microsoft.com/office/powerpoint/2010/main" val="131155073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5D943-8A13-B19C-FCC0-644543AEA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RU" dirty="0"/>
              <a:t>amend</a:t>
            </a:r>
            <a:r>
              <a:rPr lang="ru-RU" dirty="0"/>
              <a:t> – редактирует последний коммит</a:t>
            </a:r>
            <a:endParaRPr lang="en-RU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6F15D14-4655-2BE1-1231-1AD99FCB6F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8062" y="1341465"/>
            <a:ext cx="7531439" cy="58797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AD60D9-282F-D9EF-7D82-99465C546615}"/>
              </a:ext>
            </a:extLst>
          </p:cNvPr>
          <p:cNvSpPr txBox="1"/>
          <p:nvPr/>
        </p:nvSpPr>
        <p:spPr>
          <a:xfrm>
            <a:off x="7834513" y="1690688"/>
            <a:ext cx="31790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rgbClr val="C00000"/>
                </a:solidFill>
              </a:rPr>
              <a:t>Только последний</a:t>
            </a:r>
          </a:p>
          <a:p>
            <a:r>
              <a:rPr lang="ru-RU" sz="2400" dirty="0">
                <a:solidFill>
                  <a:srgbClr val="C00000"/>
                </a:solidFill>
              </a:rPr>
              <a:t>Только не запушенный</a:t>
            </a:r>
            <a:endParaRPr lang="en-RU" sz="2400" dirty="0">
              <a:solidFill>
                <a:srgbClr val="C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1BDB109-286B-ED3A-752B-6D53470ABAE1}"/>
              </a:ext>
            </a:extLst>
          </p:cNvPr>
          <p:cNvCxnSpPr>
            <a:cxnSpLocks/>
          </p:cNvCxnSpPr>
          <p:nvPr/>
        </p:nvCxnSpPr>
        <p:spPr>
          <a:xfrm>
            <a:off x="4877781" y="3345045"/>
            <a:ext cx="190930" cy="470599"/>
          </a:xfrm>
          <a:prstGeom prst="line">
            <a:avLst/>
          </a:prstGeom>
          <a:ln w="38100">
            <a:solidFill>
              <a:srgbClr val="C00000"/>
            </a:solidFill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11756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32C12-53BD-78C7-AF1A-3311A3E2B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2C21E-A952-3076-975A-C6FFE4C60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</a:t>
            </a:r>
            <a:r>
              <a:rPr lang="en-US" dirty="0" err="1"/>
              <a:t>gitignore</a:t>
            </a:r>
            <a:endParaRPr lang="en-RU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6F3B2C4-1333-0799-B292-C49F57D6A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Rproj.user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Rhistory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RData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Ruserdata</a:t>
            </a:r>
            <a:endParaRPr lang="en-US" sz="2400" dirty="0">
              <a:latin typeface="Monac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942055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09700-AE1C-6CE7-8759-E56AD1B23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DF9E9-3AE9-B14B-018E-5E65BA524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</a:t>
            </a:r>
            <a:r>
              <a:rPr lang="en-US" dirty="0" err="1"/>
              <a:t>gitignore</a:t>
            </a:r>
            <a:endParaRPr lang="en-RU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6C4EDC5-0FA4-ED5C-5511-97FDE39AE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Rproj.user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Rhistory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RData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Ruserdata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endParaRPr lang="en-US" sz="1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DS_Store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 err="1">
                <a:latin typeface="Monaco" pitchFamily="2" charset="77"/>
              </a:rPr>
              <a:t>tmp</a:t>
            </a:r>
            <a:endParaRPr lang="en-US" sz="2400" dirty="0">
              <a:latin typeface="Monac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25693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A3B3-D576-AEF6-FE0F-33B273272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3465D-9939-CB50-0A59-4CEEE4446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</a:t>
            </a:r>
            <a:r>
              <a:rPr lang="en-US" dirty="0" err="1"/>
              <a:t>gitignore</a:t>
            </a:r>
            <a:endParaRPr lang="en-RU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BBD6C95-6B09-0DB9-26B6-F5F259588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32984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>
              <a:buNone/>
            </a:pPr>
            <a:endParaRPr lang="en-US" sz="2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Rproj.user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Rhistory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RData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Ruserdata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endParaRPr lang="en-US" sz="1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DS_Store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 err="1">
                <a:latin typeface="Monaco" pitchFamily="2" charset="77"/>
              </a:rPr>
              <a:t>tmp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endParaRPr lang="en-US" sz="1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*.</a:t>
            </a:r>
            <a:r>
              <a:rPr lang="en-US" sz="2400" dirty="0" err="1">
                <a:latin typeface="Monaco" pitchFamily="2" charset="77"/>
              </a:rPr>
              <a:t>vcf</a:t>
            </a:r>
            <a:endParaRPr lang="en-US" sz="2400" dirty="0">
              <a:latin typeface="Monaco" pitchFamily="2" charset="77"/>
            </a:endParaRP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data/private</a:t>
            </a:r>
          </a:p>
          <a:p>
            <a:pPr marL="0" indent="0">
              <a:buNone/>
            </a:pPr>
            <a:r>
              <a:rPr lang="en-US" sz="2400" dirty="0">
                <a:latin typeface="Monaco" pitchFamily="2" charset="77"/>
              </a:rPr>
              <a:t>.</a:t>
            </a:r>
            <a:r>
              <a:rPr lang="en-US" sz="2400" dirty="0" err="1">
                <a:latin typeface="Monaco" pitchFamily="2" charset="77"/>
              </a:rPr>
              <a:t>secure_token</a:t>
            </a:r>
            <a:endParaRPr lang="en-US" sz="2400" dirty="0">
              <a:latin typeface="Monac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145411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76FD1-41BE-B9B0-FE66-EE258AAA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Monaco" pitchFamily="2" charset="77"/>
              </a:rPr>
              <a:t>g</a:t>
            </a:r>
            <a:r>
              <a:rPr lang="en-RU" dirty="0">
                <a:latin typeface="Monaco" pitchFamily="2" charset="77"/>
              </a:rPr>
              <a:t>it push --force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8BC96-DFC9-0CF9-9C70-3F4CC1A4D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Вы пытаетесь переписать чужие изменения.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Вы пытаетесь переписать</a:t>
            </a:r>
            <a:r>
              <a:rPr lang="en-US" dirty="0"/>
              <a:t> </a:t>
            </a:r>
            <a:r>
              <a:rPr lang="ru-RU" dirty="0"/>
              <a:t>свои изменения,</a:t>
            </a:r>
          </a:p>
          <a:p>
            <a:pPr marL="0" indent="0">
              <a:buNone/>
            </a:pPr>
            <a:r>
              <a:rPr lang="ru-RU" dirty="0"/>
              <a:t>но если их уже кто-то запулил –</a:t>
            </a:r>
          </a:p>
          <a:p>
            <a:pPr marL="0" indent="0">
              <a:buNone/>
            </a:pPr>
            <a:r>
              <a:rPr lang="ru-RU" dirty="0"/>
              <a:t>все сгорит </a:t>
            </a:r>
            <a:r>
              <a:rPr lang="en-US" dirty="0"/>
              <a:t>💀</a:t>
            </a:r>
          </a:p>
        </p:txBody>
      </p:sp>
      <p:pic>
        <p:nvPicPr>
          <p:cNvPr id="1026" name="Picture 2" descr="Square peg in a round hole Meme Generator - Imgflip">
            <a:extLst>
              <a:ext uri="{FF2B5EF4-FFF2-40B4-BE49-F238E27FC236}">
                <a16:creationId xmlns:a16="http://schemas.microsoft.com/office/drawing/2014/main" id="{F055E44F-7979-76D0-502A-DE29B7E7B2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2813" y="1690688"/>
            <a:ext cx="2693031" cy="4053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94034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ires - How They Start and How They Spread - FireArrest">
            <a:extLst>
              <a:ext uri="{FF2B5EF4-FFF2-40B4-BE49-F238E27FC236}">
                <a16:creationId xmlns:a16="http://schemas.microsoft.com/office/drawing/2014/main" id="{8C7769C0-8BE6-1A55-6707-4906321E14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590" y="2476442"/>
            <a:ext cx="8372820" cy="4381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EA1B44-CC1D-A22F-4E0A-47164F10C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Все сломалось</a:t>
            </a:r>
            <a:endParaRPr lang="en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82F4-433F-BAF1-82A3-F96319783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ru-RU" dirty="0"/>
              <a:t>Закройте </a:t>
            </a:r>
            <a:r>
              <a:rPr lang="en-US" dirty="0"/>
              <a:t>RStudio </a:t>
            </a:r>
            <a:r>
              <a:rPr lang="ru-RU" dirty="0"/>
              <a:t>и переименуйте папку</a:t>
            </a:r>
            <a:endParaRPr lang="en-US" dirty="0"/>
          </a:p>
          <a:p>
            <a:r>
              <a:rPr lang="ru-RU" dirty="0" err="1"/>
              <a:t>Склонируйте</a:t>
            </a:r>
            <a:r>
              <a:rPr lang="ru-RU" dirty="0"/>
              <a:t> репозиторий заново</a:t>
            </a:r>
          </a:p>
          <a:p>
            <a:r>
              <a:rPr lang="ru-RU" dirty="0"/>
              <a:t>Внесите изменения из старой папки</a:t>
            </a:r>
            <a:endParaRPr lang="en-US" dirty="0"/>
          </a:p>
          <a:p>
            <a:r>
              <a:rPr lang="ru-RU" dirty="0"/>
              <a:t>Удалите старую папку</a:t>
            </a:r>
          </a:p>
        </p:txBody>
      </p:sp>
    </p:spTree>
    <p:extLst>
      <p:ext uri="{BB962C8B-B14F-4D97-AF65-F5344CB8AC3E}">
        <p14:creationId xmlns:p14="http://schemas.microsoft.com/office/powerpoint/2010/main" val="274984674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A351C-A165-9108-D842-1EF86BBBE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ires - How They Start and How They Spread - FireArrest">
            <a:extLst>
              <a:ext uri="{FF2B5EF4-FFF2-40B4-BE49-F238E27FC236}">
                <a16:creationId xmlns:a16="http://schemas.microsoft.com/office/drawing/2014/main" id="{AF5C4157-5B91-6E31-1755-35D429A1FF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590" y="2476442"/>
            <a:ext cx="8372820" cy="4381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D091F0-1672-E5B5-566F-AFC36C7DC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Ветка на пользователя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31833677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C85E438-3A65-83E7-4ACF-CFE5E8F5C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5B18-E23E-3821-0957-435CC3C16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README.md</a:t>
            </a:r>
            <a:endParaRPr lang="en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14DBE-70D9-6823-0B2A-511C69ABD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8925"/>
            <a:ext cx="10515600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600" b="1" dirty="0">
                <a:latin typeface="Monaco" pitchFamily="2" charset="77"/>
              </a:rPr>
              <a:t># </a:t>
            </a:r>
            <a:r>
              <a:rPr lang="ru-RU" sz="1600" b="1" dirty="0">
                <a:latin typeface="Monaco" pitchFamily="2" charset="77"/>
              </a:rPr>
              <a:t>Название проекта</a:t>
            </a:r>
            <a:endParaRPr lang="en-US" sz="1600" b="1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ru-RU" sz="16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ru-RU" sz="1600" dirty="0">
                <a:latin typeface="Monaco" pitchFamily="2" charset="77"/>
              </a:rPr>
              <a:t>Краткое описание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US" sz="16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600" b="1" dirty="0">
                <a:latin typeface="Monaco" pitchFamily="2" charset="77"/>
              </a:rPr>
              <a:t>## </a:t>
            </a:r>
            <a:r>
              <a:rPr lang="ru-RU" sz="1600" b="1" dirty="0">
                <a:latin typeface="Monaco" pitchFamily="2" charset="77"/>
              </a:rPr>
              <a:t>Данные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ru-RU" sz="16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ru-RU" sz="1600" dirty="0">
                <a:latin typeface="Monaco" pitchFamily="2" charset="77"/>
              </a:rPr>
              <a:t>В файле </a:t>
            </a:r>
            <a:r>
              <a:rPr lang="en-US" sz="1600" dirty="0">
                <a:solidFill>
                  <a:srgbClr val="0070C0"/>
                </a:solidFill>
                <a:latin typeface="Monaco" pitchFamily="2" charset="77"/>
              </a:rPr>
              <a:t>[imdb250.csv](imdb250.csv)</a:t>
            </a:r>
            <a:r>
              <a:rPr lang="en-US" sz="1600" dirty="0">
                <a:latin typeface="Monaco" pitchFamily="2" charset="77"/>
              </a:rPr>
              <a:t> </a:t>
            </a:r>
            <a:r>
              <a:rPr lang="ru-RU" sz="1600" dirty="0">
                <a:latin typeface="Monaco" pitchFamily="2" charset="77"/>
              </a:rPr>
              <a:t>содержится</a:t>
            </a:r>
            <a:endParaRPr lang="en-US" sz="16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ru-RU" sz="1600" dirty="0">
                <a:latin typeface="Monaco" pitchFamily="2" charset="77"/>
              </a:rPr>
              <a:t>250 самых оцениваемых фильмов с 1980 по 2024 год.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US" sz="16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600" b="1" dirty="0">
                <a:latin typeface="Monaco" pitchFamily="2" charset="77"/>
              </a:rPr>
              <a:t>##</a:t>
            </a:r>
            <a:r>
              <a:rPr lang="ru-RU" sz="1600" b="1" dirty="0">
                <a:latin typeface="Monaco" pitchFamily="2" charset="77"/>
              </a:rPr>
              <a:t> Анализ выживаемости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ru-RU" sz="1600" b="1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ru-RU" sz="1600" dirty="0">
                <a:latin typeface="Monaco" pitchFamily="2" charset="77"/>
              </a:rPr>
              <a:t>Краткое описание и ссылка на файл с анализом. Общая выживаемость проанализирована при помощи </a:t>
            </a:r>
            <a:r>
              <a:rPr lang="en-US" sz="1600" dirty="0">
                <a:solidFill>
                  <a:srgbClr val="0070C0"/>
                </a:solidFill>
                <a:latin typeface="Monaco" pitchFamily="2" charset="77"/>
              </a:rPr>
              <a:t>[</a:t>
            </a:r>
            <a:r>
              <a:rPr lang="ru-RU" sz="1600" dirty="0">
                <a:solidFill>
                  <a:srgbClr val="0070C0"/>
                </a:solidFill>
                <a:latin typeface="Monaco" pitchFamily="2" charset="77"/>
              </a:rPr>
              <a:t>регрессии Кокса, построены скорректированные (</a:t>
            </a:r>
            <a:r>
              <a:rPr lang="en-US" sz="1600" dirty="0">
                <a:solidFill>
                  <a:srgbClr val="0070C0"/>
                </a:solidFill>
                <a:latin typeface="Monaco" pitchFamily="2" charset="77"/>
              </a:rPr>
              <a:t>adjusted) </a:t>
            </a:r>
            <a:r>
              <a:rPr lang="ru-RU" sz="1600" dirty="0">
                <a:solidFill>
                  <a:srgbClr val="0070C0"/>
                </a:solidFill>
                <a:latin typeface="Monaco" pitchFamily="2" charset="77"/>
              </a:rPr>
              <a:t>кривые выживаемости</a:t>
            </a:r>
            <a:r>
              <a:rPr lang="en-US" sz="1600" dirty="0">
                <a:solidFill>
                  <a:srgbClr val="0070C0"/>
                </a:solidFill>
                <a:latin typeface="Monaco" pitchFamily="2" charset="77"/>
              </a:rPr>
              <a:t>](03-mod.Rmd)</a:t>
            </a:r>
            <a:r>
              <a:rPr lang="ru-RU" sz="1600" dirty="0">
                <a:latin typeface="Monaco" pitchFamily="2" charset="77"/>
              </a:rPr>
              <a:t> при помощи </a:t>
            </a:r>
            <a:r>
              <a:rPr lang="en-US" sz="1600" dirty="0" err="1">
                <a:latin typeface="Monaco" pitchFamily="2" charset="77"/>
              </a:rPr>
              <a:t>survexp</a:t>
            </a:r>
            <a:r>
              <a:rPr lang="en-US" sz="1600" dirty="0">
                <a:latin typeface="Monaco" pitchFamily="2" charset="77"/>
              </a:rPr>
              <a:t>[^1]</a:t>
            </a:r>
            <a:r>
              <a:rPr lang="ru-RU" sz="1600" dirty="0">
                <a:latin typeface="Monaco" pitchFamily="2" charset="77"/>
              </a:rPr>
              <a:t>.</a:t>
            </a:r>
            <a:endParaRPr lang="en-US" sz="16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US" sz="16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US" sz="1600" dirty="0">
              <a:latin typeface="Monaco" pitchFamily="2" charset="77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600" dirty="0">
                <a:latin typeface="Monaco" pitchFamily="2" charset="77"/>
              </a:rPr>
              <a:t>[^1]: Adjusted Survival Curves. </a:t>
            </a:r>
            <a:r>
              <a:rPr lang="en-US" sz="1600" dirty="0" err="1">
                <a:latin typeface="Monaco" pitchFamily="2" charset="77"/>
              </a:rPr>
              <a:t>Therneau</a:t>
            </a:r>
            <a:r>
              <a:rPr lang="en-US" sz="1600" dirty="0">
                <a:latin typeface="Monaco" pitchFamily="2" charset="77"/>
              </a:rPr>
              <a:t>, Crowson, Atkinson, 2015</a:t>
            </a:r>
            <a:endParaRPr lang="ru-RU" sz="1600" dirty="0">
              <a:latin typeface="Monac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5089682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71CE8-3C87-81B9-ABF2-CB68AC35D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Клиенты</a:t>
            </a:r>
            <a:endParaRPr lang="en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0D368C-6B70-4CB9-E26F-0DC9F6E68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(</a:t>
            </a:r>
            <a:r>
              <a:rPr lang="ru-RU" dirty="0"/>
              <a:t>терминал)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73D148-6D0B-6C93-A194-1EAA028AA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3933" y="902481"/>
            <a:ext cx="7772400" cy="5590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93535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A5E1AD-0FC2-77E8-04F3-BEEB9D58F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430C-C9F5-DDD8-FF4E-310960B50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Клиенты</a:t>
            </a:r>
            <a:endParaRPr lang="en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C0C008-BD21-05D1-5884-AF8F89C7C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(</a:t>
            </a:r>
            <a:r>
              <a:rPr lang="ru-RU" dirty="0"/>
              <a:t>терминал)</a:t>
            </a:r>
            <a:endParaRPr lang="en-US" dirty="0"/>
          </a:p>
          <a:p>
            <a:r>
              <a:rPr lang="en-US" dirty="0"/>
              <a:t>RStudio</a:t>
            </a:r>
            <a:endParaRPr lang="en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4EB943-059E-045C-127E-FF4E6C0F8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022" y="681037"/>
            <a:ext cx="6872778" cy="6254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0269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0F128C8-2791-6C7D-E429-25F4D0923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A1F8C-C662-F0F1-EFB7-0E2B95990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Клиенты</a:t>
            </a:r>
            <a:endParaRPr lang="en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7C937-AAB7-6881-345C-22F7F8D10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(</a:t>
            </a:r>
            <a:r>
              <a:rPr lang="ru-RU" dirty="0"/>
              <a:t>терминал)</a:t>
            </a:r>
            <a:endParaRPr lang="en-US" dirty="0"/>
          </a:p>
          <a:p>
            <a:r>
              <a:rPr lang="en-US" dirty="0"/>
              <a:t>RStudio</a:t>
            </a:r>
            <a:endParaRPr lang="en-RU" dirty="0"/>
          </a:p>
          <a:p>
            <a:r>
              <a:rPr lang="en-RU" dirty="0"/>
              <a:t>GitKraken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0D0C87-A039-492E-C3EA-09607BDD5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980" y="822954"/>
            <a:ext cx="8305800" cy="61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50471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1EFA10-A66F-AC97-406A-AE204F1C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B7FCE-DAD2-A4D1-5193-574A02ED6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Клиенты</a:t>
            </a:r>
            <a:endParaRPr lang="en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5486C-2654-C44B-CAA2-91A88AF03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(</a:t>
            </a:r>
            <a:r>
              <a:rPr lang="ru-RU" dirty="0"/>
              <a:t>терминал)</a:t>
            </a:r>
            <a:endParaRPr lang="en-US" dirty="0"/>
          </a:p>
          <a:p>
            <a:r>
              <a:rPr lang="en-US" dirty="0"/>
              <a:t>RStudio</a:t>
            </a:r>
            <a:endParaRPr lang="en-RU" dirty="0"/>
          </a:p>
          <a:p>
            <a:r>
              <a:rPr lang="en-RU" dirty="0"/>
              <a:t>GitKraken</a:t>
            </a:r>
          </a:p>
          <a:p>
            <a:r>
              <a:rPr lang="en-RU" dirty="0"/>
              <a:t>GitHub Desktop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ABB3A6-D21F-4EE6-96BA-5541E20208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742980" y="911434"/>
            <a:ext cx="8305800" cy="598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318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5610</TotalTime>
  <Words>1071</Words>
  <Application>Microsoft Macintosh PowerPoint</Application>
  <PresentationFormat>Widescreen</PresentationFormat>
  <Paragraphs>366</Paragraphs>
  <Slides>67</Slides>
  <Notes>31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3" baseType="lpstr">
      <vt:lpstr>Aptos</vt:lpstr>
      <vt:lpstr>Arial</vt:lpstr>
      <vt:lpstr>Calibri</vt:lpstr>
      <vt:lpstr>Calibri Light</vt:lpstr>
      <vt:lpstr>Monaco</vt:lpstr>
      <vt:lpstr>Office Theme</vt:lpstr>
      <vt:lpstr>Основы Git</vt:lpstr>
      <vt:lpstr>Кто использует Git</vt:lpstr>
      <vt:lpstr>Кто использует Git</vt:lpstr>
      <vt:lpstr>Кто использует Git</vt:lpstr>
      <vt:lpstr>Кто использует Git</vt:lpstr>
      <vt:lpstr>Кто использует Git</vt:lpstr>
      <vt:lpstr>Зачем?</vt:lpstr>
      <vt:lpstr>Зачем?</vt:lpstr>
      <vt:lpstr>Зачем?</vt:lpstr>
      <vt:lpstr>Зачем?</vt:lpstr>
      <vt:lpstr>Зачем?</vt:lpstr>
      <vt:lpstr>План</vt:lpstr>
      <vt:lpstr>Что такое Git</vt:lpstr>
      <vt:lpstr>Что такое Git</vt:lpstr>
      <vt:lpstr>Совместная работа</vt:lpstr>
      <vt:lpstr>Вопросы?</vt:lpstr>
      <vt:lpstr>Создание репозитория</vt:lpstr>
      <vt:lpstr>Создание репозитория</vt:lpstr>
      <vt:lpstr>Создание репозитория</vt:lpstr>
      <vt:lpstr>Создание репозитория</vt:lpstr>
      <vt:lpstr>Отслеживание изменений</vt:lpstr>
      <vt:lpstr>Отслеживание изменений</vt:lpstr>
      <vt:lpstr>Отслеживание изменений</vt:lpstr>
      <vt:lpstr>Отслеживание изменений</vt:lpstr>
      <vt:lpstr>Чистая рабочая область</vt:lpstr>
      <vt:lpstr>Чистая рабочая область</vt:lpstr>
      <vt:lpstr>Чистая рабочая область</vt:lpstr>
      <vt:lpstr>Чистая рабочая область</vt:lpstr>
      <vt:lpstr>НЕчистая рабочая область</vt:lpstr>
      <vt:lpstr>Просмотр истории</vt:lpstr>
      <vt:lpstr>Просмотр истории</vt:lpstr>
      <vt:lpstr>Ветки</vt:lpstr>
      <vt:lpstr>Создание ветки</vt:lpstr>
      <vt:lpstr>Переключение веток</vt:lpstr>
      <vt:lpstr>Переключение веток не работает</vt:lpstr>
      <vt:lpstr>Переключение веток не работает</vt:lpstr>
      <vt:lpstr>Слияние веток (merge)</vt:lpstr>
      <vt:lpstr>Слияние веток (merge)</vt:lpstr>
      <vt:lpstr>merge conflict</vt:lpstr>
      <vt:lpstr>merge conflict</vt:lpstr>
      <vt:lpstr>merge conflict</vt:lpstr>
      <vt:lpstr>merge conflict</vt:lpstr>
      <vt:lpstr>merge conflict</vt:lpstr>
      <vt:lpstr>merge conflict</vt:lpstr>
      <vt:lpstr>Вопросы?</vt:lpstr>
      <vt:lpstr>Настройка</vt:lpstr>
      <vt:lpstr>Удаленный репозиторий</vt:lpstr>
      <vt:lpstr>Загрузка изменений</vt:lpstr>
      <vt:lpstr>Pull Request</vt:lpstr>
      <vt:lpstr>Клонирование репозитория</vt:lpstr>
      <vt:lpstr>Используйте чистую сессию</vt:lpstr>
      <vt:lpstr>Перезапускайте сессию</vt:lpstr>
      <vt:lpstr>Подсказки</vt:lpstr>
      <vt:lpstr>Подсказки</vt:lpstr>
      <vt:lpstr>push rejection</vt:lpstr>
      <vt:lpstr>amend – редактирует последний коммит</vt:lpstr>
      <vt:lpstr>.gitignore</vt:lpstr>
      <vt:lpstr>.gitignore</vt:lpstr>
      <vt:lpstr>.gitignore</vt:lpstr>
      <vt:lpstr>git push --force</vt:lpstr>
      <vt:lpstr>Все сломалось</vt:lpstr>
      <vt:lpstr>Ветка на пользователя</vt:lpstr>
      <vt:lpstr>README.md</vt:lpstr>
      <vt:lpstr>Клиенты</vt:lpstr>
      <vt:lpstr>Клиенты</vt:lpstr>
      <vt:lpstr>Клиенты</vt:lpstr>
      <vt:lpstr>Клиенты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Kirill Voronin</dc:creator>
  <cp:lastModifiedBy>Kirill Voronin</cp:lastModifiedBy>
  <cp:revision>609</cp:revision>
  <dcterms:created xsi:type="dcterms:W3CDTF">2024-12-01T19:57:34Z</dcterms:created>
  <dcterms:modified xsi:type="dcterms:W3CDTF">2025-09-12T23:23:29Z</dcterms:modified>
</cp:coreProperties>
</file>