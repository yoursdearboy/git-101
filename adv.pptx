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256" r:id="rId2"/>
    <p:sldId id="257" r:id="rId3"/>
    <p:sldId id="385" r:id="rId4"/>
    <p:sldId id="394" r:id="rId5"/>
    <p:sldId id="380" r:id="rId6"/>
    <p:sldId id="395" r:id="rId7"/>
    <p:sldId id="372" r:id="rId8"/>
    <p:sldId id="398" r:id="rId9"/>
    <p:sldId id="361" r:id="rId10"/>
    <p:sldId id="396" r:id="rId11"/>
    <p:sldId id="397" r:id="rId12"/>
    <p:sldId id="351" r:id="rId13"/>
    <p:sldId id="358" r:id="rId14"/>
    <p:sldId id="359" r:id="rId15"/>
    <p:sldId id="353" r:id="rId16"/>
    <p:sldId id="355" r:id="rId17"/>
    <p:sldId id="354" r:id="rId18"/>
    <p:sldId id="357" r:id="rId19"/>
    <p:sldId id="393" r:id="rId20"/>
    <p:sldId id="384" r:id="rId21"/>
    <p:sldId id="399" r:id="rId22"/>
    <p:sldId id="387" r:id="rId23"/>
    <p:sldId id="388" r:id="rId24"/>
    <p:sldId id="375" r:id="rId25"/>
    <p:sldId id="390" r:id="rId26"/>
    <p:sldId id="391" r:id="rId27"/>
    <p:sldId id="392" r:id="rId28"/>
    <p:sldId id="376" r:id="rId29"/>
    <p:sldId id="400" r:id="rId30"/>
    <p:sldId id="377" r:id="rId31"/>
    <p:sldId id="401" r:id="rId32"/>
    <p:sldId id="331" r:id="rId33"/>
    <p:sldId id="334" r:id="rId34"/>
    <p:sldId id="262" r:id="rId35"/>
    <p:sldId id="333" r:id="rId36"/>
    <p:sldId id="332" r:id="rId37"/>
    <p:sldId id="309" r:id="rId38"/>
    <p:sldId id="310" r:id="rId39"/>
    <p:sldId id="259" r:id="rId40"/>
    <p:sldId id="378" r:id="rId41"/>
    <p:sldId id="379" r:id="rId42"/>
    <p:sldId id="338" r:id="rId43"/>
    <p:sldId id="339" r:id="rId44"/>
    <p:sldId id="341" r:id="rId45"/>
    <p:sldId id="342" r:id="rId46"/>
    <p:sldId id="278" r:id="rId47"/>
    <p:sldId id="344" r:id="rId48"/>
    <p:sldId id="345" r:id="rId49"/>
    <p:sldId id="346" r:id="rId50"/>
    <p:sldId id="347" r:id="rId51"/>
    <p:sldId id="366" r:id="rId52"/>
    <p:sldId id="367" r:id="rId53"/>
    <p:sldId id="368" r:id="rId54"/>
    <p:sldId id="386" r:id="rId55"/>
    <p:sldId id="279" r:id="rId56"/>
    <p:sldId id="280" r:id="rId57"/>
    <p:sldId id="350" r:id="rId58"/>
    <p:sldId id="303" r:id="rId59"/>
    <p:sldId id="281" r:id="rId60"/>
    <p:sldId id="337" r:id="rId61"/>
    <p:sldId id="324" r:id="rId62"/>
    <p:sldId id="319" r:id="rId63"/>
    <p:sldId id="330" r:id="rId64"/>
    <p:sldId id="402" r:id="rId65"/>
    <p:sldId id="373" r:id="rId66"/>
    <p:sldId id="321" r:id="rId67"/>
    <p:sldId id="374" r:id="rId68"/>
    <p:sldId id="364" r:id="rId69"/>
    <p:sldId id="363" r:id="rId70"/>
    <p:sldId id="381" r:id="rId71"/>
    <p:sldId id="326" r:id="rId72"/>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8816C0C-9EAD-5045-A1AE-D0071E40A392}">
          <p14:sldIdLst>
            <p14:sldId id="256"/>
            <p14:sldId id="257"/>
          </p14:sldIdLst>
        </p14:section>
        <p14:section name="Проекты" id="{7E348698-E369-0844-85E3-2E23B45C0B93}">
          <p14:sldIdLst>
            <p14:sldId id="385"/>
            <p14:sldId id="394"/>
            <p14:sldId id="380"/>
            <p14:sldId id="395"/>
            <p14:sldId id="372"/>
            <p14:sldId id="398"/>
            <p14:sldId id="361"/>
            <p14:sldId id="396"/>
            <p14:sldId id="397"/>
          </p14:sldIdLst>
        </p14:section>
        <p14:section name="renv" id="{514F98AF-928D-AC4D-9CF5-05DFDA20BC28}">
          <p14:sldIdLst>
            <p14:sldId id="351"/>
            <p14:sldId id="358"/>
            <p14:sldId id="359"/>
            <p14:sldId id="353"/>
            <p14:sldId id="355"/>
            <p14:sldId id="354"/>
            <p14:sldId id="357"/>
            <p14:sldId id="393"/>
            <p14:sldId id="384"/>
            <p14:sldId id="399"/>
          </p14:sldIdLst>
        </p14:section>
        <p14:section name="assertr" id="{C2E28FCF-417E-FF45-81EE-AAFBA358C4FB}">
          <p14:sldIdLst>
            <p14:sldId id="387"/>
            <p14:sldId id="388"/>
            <p14:sldId id="375"/>
            <p14:sldId id="390"/>
            <p14:sldId id="391"/>
            <p14:sldId id="392"/>
            <p14:sldId id="376"/>
            <p14:sldId id="400"/>
          </p14:sldIdLst>
        </p14:section>
        <p14:section name="reprex" id="{D460FE90-1027-C24D-9E40-A573ACD7DE5A}">
          <p14:sldIdLst>
            <p14:sldId id="377"/>
            <p14:sldId id="401"/>
          </p14:sldIdLst>
        </p14:section>
        <p14:section name="Git" id="{77BEFC8F-18A7-8E41-B869-16BE949BD031}">
          <p14:sldIdLst>
            <p14:sldId id="331"/>
            <p14:sldId id="334"/>
            <p14:sldId id="262"/>
            <p14:sldId id="333"/>
            <p14:sldId id="332"/>
          </p14:sldIdLst>
        </p14:section>
        <p14:section name="Зачем нужен Git" id="{DB16989C-E3BD-2E48-B8C6-4E850E81CC78}">
          <p14:sldIdLst>
            <p14:sldId id="309"/>
            <p14:sldId id="310"/>
            <p14:sldId id="259"/>
          </p14:sldIdLst>
        </p14:section>
        <p14:section name="Терминология" id="{0C7FF6CA-8C21-BF44-8A63-64F4902B94DC}">
          <p14:sldIdLst>
            <p14:sldId id="378"/>
            <p14:sldId id="379"/>
            <p14:sldId id="338"/>
            <p14:sldId id="339"/>
            <p14:sldId id="341"/>
            <p14:sldId id="342"/>
            <p14:sldId id="278"/>
            <p14:sldId id="344"/>
            <p14:sldId id="345"/>
            <p14:sldId id="346"/>
            <p14:sldId id="347"/>
            <p14:sldId id="366"/>
            <p14:sldId id="367"/>
            <p14:sldId id="368"/>
            <p14:sldId id="386"/>
            <p14:sldId id="279"/>
            <p14:sldId id="280"/>
            <p14:sldId id="350"/>
            <p14:sldId id="303"/>
            <p14:sldId id="281"/>
            <p14:sldId id="337"/>
            <p14:sldId id="324"/>
            <p14:sldId id="319"/>
            <p14:sldId id="330"/>
            <p14:sldId id="402"/>
            <p14:sldId id="373"/>
            <p14:sldId id="321"/>
            <p14:sldId id="374"/>
            <p14:sldId id="364"/>
            <p14:sldId id="363"/>
          </p14:sldIdLst>
        </p14:section>
        <p14:section name="Ссылки" id="{AAA71CEA-55FE-9444-AE9F-B7C93E8ACC47}">
          <p14:sldIdLst>
            <p14:sldId id="381"/>
            <p14:sldId id="3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A72E"/>
    <a:srgbClr val="C00000"/>
    <a:srgbClr val="0E9ED5"/>
    <a:srgbClr val="EF3B2C"/>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70"/>
    <p:restoredTop sz="82171"/>
  </p:normalViewPr>
  <p:slideViewPr>
    <p:cSldViewPr snapToGrid="0">
      <p:cViewPr varScale="1">
        <p:scale>
          <a:sx n="110" d="100"/>
          <a:sy n="110" d="100"/>
        </p:scale>
        <p:origin x="864" y="176"/>
      </p:cViewPr>
      <p:guideLst/>
    </p:cSldViewPr>
  </p:slideViewPr>
  <p:outlineViewPr>
    <p:cViewPr>
      <p:scale>
        <a:sx n="33" d="100"/>
        <a:sy n="33" d="100"/>
      </p:scale>
      <p:origin x="0" y="-119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5F5216-AE74-114D-86F8-D8BCED9ED3D1}" type="datetimeFigureOut">
              <a:rPr lang="en-RU" smtClean="0"/>
              <a:t>4/5/25</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FE0D41-93C9-A64D-BD89-67176F36031A}" type="slidenum">
              <a:rPr lang="en-RU" smtClean="0"/>
              <a:t>‹#›</a:t>
            </a:fld>
            <a:endParaRPr lang="en-RU"/>
          </a:p>
        </p:txBody>
      </p:sp>
    </p:spTree>
    <p:extLst>
      <p:ext uri="{BB962C8B-B14F-4D97-AF65-F5344CB8AC3E}">
        <p14:creationId xmlns:p14="http://schemas.microsoft.com/office/powerpoint/2010/main" val="544095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Кирилл</a:t>
            </a:r>
          </a:p>
          <a:p>
            <a:r>
              <a:rPr lang="ru-RU" dirty="0"/>
              <a:t>Центр гематологи и онкологии Димы Рогачева</a:t>
            </a:r>
          </a:p>
          <a:p>
            <a:r>
              <a:rPr lang="ru-RU" dirty="0"/>
              <a:t>Команда</a:t>
            </a:r>
            <a:r>
              <a:rPr lang="en-US" dirty="0"/>
              <a:t> R, </a:t>
            </a:r>
            <a:r>
              <a:rPr lang="en-US" dirty="0" err="1"/>
              <a:t>Rmarkdown</a:t>
            </a:r>
            <a:r>
              <a:rPr lang="en-US" dirty="0"/>
              <a:t>, </a:t>
            </a:r>
            <a:r>
              <a:rPr lang="ru-RU" dirty="0"/>
              <a:t>те же библиотеки, </a:t>
            </a:r>
            <a:r>
              <a:rPr lang="en-US" dirty="0"/>
              <a:t>git</a:t>
            </a:r>
            <a:endParaRPr lang="en-RU" dirty="0"/>
          </a:p>
        </p:txBody>
      </p:sp>
      <p:sp>
        <p:nvSpPr>
          <p:cNvPr id="4" name="Slide Number Placeholder 3"/>
          <p:cNvSpPr>
            <a:spLocks noGrp="1"/>
          </p:cNvSpPr>
          <p:nvPr>
            <p:ph type="sldNum" sz="quarter" idx="5"/>
          </p:nvPr>
        </p:nvSpPr>
        <p:spPr/>
        <p:txBody>
          <a:bodyPr/>
          <a:lstStyle/>
          <a:p>
            <a:fld id="{31FE0D41-93C9-A64D-BD89-67176F36031A}" type="slidenum">
              <a:rPr lang="en-RU" smtClean="0"/>
              <a:t>1</a:t>
            </a:fld>
            <a:endParaRPr lang="en-RU"/>
          </a:p>
        </p:txBody>
      </p:sp>
    </p:spTree>
    <p:extLst>
      <p:ext uri="{BB962C8B-B14F-4D97-AF65-F5344CB8AC3E}">
        <p14:creationId xmlns:p14="http://schemas.microsoft.com/office/powerpoint/2010/main" val="2658880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en-US" dirty="0"/>
              <a:t>Establish the concept of the project as the basic organizational unit of work.</a:t>
            </a:r>
          </a:p>
          <a:p>
            <a:pPr>
              <a:buFont typeface="+mj-lt"/>
              <a:buAutoNum type="arabicPeriod"/>
            </a:pPr>
            <a:r>
              <a:rPr lang="en-US" dirty="0"/>
              <a:t>Apply best practices in and leverage benefits of working in RStudio projects, including</a:t>
            </a:r>
          </a:p>
          <a:p>
            <a:pPr>
              <a:buFont typeface="Arial" panose="020B0604020202020204" pitchFamily="34" charset="0"/>
              <a:buChar char="•"/>
            </a:pPr>
            <a:r>
              <a:rPr lang="en-US" dirty="0"/>
              <a:t>Creating robust file paths that travel well in time and space.</a:t>
            </a:r>
          </a:p>
          <a:p>
            <a:pPr>
              <a:buFont typeface="Arial" panose="020B0604020202020204" pitchFamily="34" charset="0"/>
              <a:buChar char="•"/>
            </a:pPr>
            <a:r>
              <a:rPr lang="en-US" dirty="0"/>
              <a:t>Constructing human and machine readable file names that sort nicely.</a:t>
            </a:r>
          </a:p>
          <a:p>
            <a:pPr>
              <a:buFont typeface="Arial" panose="020B0604020202020204" pitchFamily="34" charset="0"/>
              <a:buChar char="•"/>
            </a:pPr>
            <a:r>
              <a:rPr lang="en-US" dirty="0"/>
              <a:t>Differentiating workflow elements, analysis inputs, and analysis outputs in project structure to create navigable programming interfaces.</a:t>
            </a:r>
          </a:p>
          <a:p>
            <a:pPr>
              <a:buFont typeface="Arial" panose="020B0604020202020204" pitchFamily="34" charset="0"/>
              <a:buChar char="•"/>
            </a:pPr>
            <a:r>
              <a:rPr lang="en-US" dirty="0"/>
              <a:t>Restarting R frequently, with a blank slate.</a:t>
            </a:r>
          </a:p>
        </p:txBody>
      </p:sp>
      <p:sp>
        <p:nvSpPr>
          <p:cNvPr id="4" name="Slide Number Placeholder 3"/>
          <p:cNvSpPr>
            <a:spLocks noGrp="1"/>
          </p:cNvSpPr>
          <p:nvPr>
            <p:ph type="sldNum" sz="quarter" idx="5"/>
          </p:nvPr>
        </p:nvSpPr>
        <p:spPr/>
        <p:txBody>
          <a:bodyPr/>
          <a:lstStyle/>
          <a:p>
            <a:fld id="{31FE0D41-93C9-A64D-BD89-67176F36031A}" type="slidenum">
              <a:rPr lang="en-RU" smtClean="0"/>
              <a:t>2</a:t>
            </a:fld>
            <a:endParaRPr lang="en-RU"/>
          </a:p>
        </p:txBody>
      </p:sp>
    </p:spTree>
    <p:extLst>
      <p:ext uri="{BB962C8B-B14F-4D97-AF65-F5344CB8AC3E}">
        <p14:creationId xmlns:p14="http://schemas.microsoft.com/office/powerpoint/2010/main" val="2128696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Как решить эту проблему</a:t>
            </a:r>
            <a:r>
              <a:rPr lang="en-US" dirty="0"/>
              <a:t>? </a:t>
            </a:r>
            <a:r>
              <a:rPr lang="ru-RU" dirty="0"/>
              <a:t>Локализовать установку пакетов в проект.</a:t>
            </a:r>
            <a:endParaRPr lang="en-RU" dirty="0"/>
          </a:p>
        </p:txBody>
      </p:sp>
      <p:sp>
        <p:nvSpPr>
          <p:cNvPr id="4" name="Slide Number Placeholder 3"/>
          <p:cNvSpPr>
            <a:spLocks noGrp="1"/>
          </p:cNvSpPr>
          <p:nvPr>
            <p:ph type="sldNum" sz="quarter" idx="5"/>
          </p:nvPr>
        </p:nvSpPr>
        <p:spPr/>
        <p:txBody>
          <a:bodyPr/>
          <a:lstStyle/>
          <a:p>
            <a:fld id="{31FE0D41-93C9-A64D-BD89-67176F36031A}" type="slidenum">
              <a:rPr lang="en-RU" smtClean="0"/>
              <a:t>14</a:t>
            </a:fld>
            <a:endParaRPr lang="en-RU"/>
          </a:p>
        </p:txBody>
      </p:sp>
    </p:spTree>
    <p:extLst>
      <p:ext uri="{BB962C8B-B14F-4D97-AF65-F5344CB8AC3E}">
        <p14:creationId xmlns:p14="http://schemas.microsoft.com/office/powerpoint/2010/main" val="4274727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FE0D41-93C9-A64D-BD89-67176F36031A}" type="slidenum">
              <a:rPr lang="en-RU" smtClean="0"/>
              <a:t>30</a:t>
            </a:fld>
            <a:endParaRPr lang="en-RU"/>
          </a:p>
        </p:txBody>
      </p:sp>
    </p:spTree>
    <p:extLst>
      <p:ext uri="{BB962C8B-B14F-4D97-AF65-F5344CB8AC3E}">
        <p14:creationId xmlns:p14="http://schemas.microsoft.com/office/powerpoint/2010/main" val="868390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Стоит у вас на компьютере, я просил поставить</a:t>
            </a:r>
            <a:r>
              <a:rPr lang="en-US" dirty="0"/>
              <a:t> </a:t>
            </a:r>
            <a:r>
              <a:rPr lang="ru-RU" dirty="0"/>
              <a:t>для практической части</a:t>
            </a:r>
            <a:endParaRPr lang="en-US" dirty="0"/>
          </a:p>
          <a:p>
            <a:r>
              <a:rPr lang="ru-RU" dirty="0"/>
              <a:t>Что означает контроль версий</a:t>
            </a:r>
            <a:endParaRPr lang="en-RU" dirty="0"/>
          </a:p>
        </p:txBody>
      </p:sp>
      <p:sp>
        <p:nvSpPr>
          <p:cNvPr id="4" name="Slide Number Placeholder 3"/>
          <p:cNvSpPr>
            <a:spLocks noGrp="1"/>
          </p:cNvSpPr>
          <p:nvPr>
            <p:ph type="sldNum" sz="quarter" idx="5"/>
          </p:nvPr>
        </p:nvSpPr>
        <p:spPr/>
        <p:txBody>
          <a:bodyPr/>
          <a:lstStyle/>
          <a:p>
            <a:fld id="{31FE0D41-93C9-A64D-BD89-67176F36031A}" type="slidenum">
              <a:rPr lang="en-RU" smtClean="0"/>
              <a:t>32</a:t>
            </a:fld>
            <a:endParaRPr lang="en-RU"/>
          </a:p>
        </p:txBody>
      </p:sp>
    </p:spTree>
    <p:extLst>
      <p:ext uri="{BB962C8B-B14F-4D97-AF65-F5344CB8AC3E}">
        <p14:creationId xmlns:p14="http://schemas.microsoft.com/office/powerpoint/2010/main" val="2468932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911D7-B23A-FE6E-3E66-218195D9AE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9B2776-EFA8-7D1F-A0E7-1634F656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E825BE-3A6F-3AAD-298D-BB132B1E2DD4}"/>
              </a:ext>
            </a:extLst>
          </p:cNvPr>
          <p:cNvSpPr>
            <a:spLocks noGrp="1"/>
          </p:cNvSpPr>
          <p:nvPr>
            <p:ph type="body" idx="1"/>
          </p:nvPr>
        </p:nvSpPr>
        <p:spPr/>
        <p:txBody>
          <a:bodyPr/>
          <a:lstStyle/>
          <a:p>
            <a:r>
              <a:rPr lang="ru-RU" dirty="0"/>
              <a:t>Наверное все были в такой ситуации</a:t>
            </a:r>
            <a:r>
              <a:rPr lang="en-US" dirty="0"/>
              <a:t> – </a:t>
            </a:r>
            <a:r>
              <a:rPr lang="ru-RU" dirty="0"/>
              <a:t>версии, бранчи, хорошо если есть </a:t>
            </a:r>
            <a:r>
              <a:rPr lang="ru-RU" dirty="0" err="1"/>
              <a:t>дропбокс</a:t>
            </a:r>
            <a:r>
              <a:rPr lang="ru-RU" dirty="0"/>
              <a:t> или </a:t>
            </a:r>
            <a:r>
              <a:rPr lang="en-US" dirty="0"/>
              <a:t>google doc</a:t>
            </a:r>
          </a:p>
          <a:p>
            <a:endParaRPr lang="en-US" dirty="0"/>
          </a:p>
          <a:p>
            <a:r>
              <a:rPr lang="ru-RU" dirty="0"/>
              <a:t>хорошо если </a:t>
            </a:r>
            <a:r>
              <a:rPr lang="en-US" dirty="0"/>
              <a:t>Dropbox, Google drive</a:t>
            </a:r>
            <a:endParaRPr lang="en-RU" dirty="0"/>
          </a:p>
        </p:txBody>
      </p:sp>
      <p:sp>
        <p:nvSpPr>
          <p:cNvPr id="4" name="Slide Number Placeholder 3">
            <a:extLst>
              <a:ext uri="{FF2B5EF4-FFF2-40B4-BE49-F238E27FC236}">
                <a16:creationId xmlns:a16="http://schemas.microsoft.com/office/drawing/2014/main" id="{B269F7AF-DA96-D3C9-4E85-95DD931AEA49}"/>
              </a:ext>
            </a:extLst>
          </p:cNvPr>
          <p:cNvSpPr>
            <a:spLocks noGrp="1"/>
          </p:cNvSpPr>
          <p:nvPr>
            <p:ph type="sldNum" sz="quarter" idx="5"/>
          </p:nvPr>
        </p:nvSpPr>
        <p:spPr/>
        <p:txBody>
          <a:bodyPr/>
          <a:lstStyle/>
          <a:p>
            <a:fld id="{31FE0D41-93C9-A64D-BD89-67176F36031A}" type="slidenum">
              <a:rPr lang="en-RU" smtClean="0"/>
              <a:t>33</a:t>
            </a:fld>
            <a:endParaRPr lang="en-RU"/>
          </a:p>
        </p:txBody>
      </p:sp>
    </p:spTree>
    <p:extLst>
      <p:ext uri="{BB962C8B-B14F-4D97-AF65-F5344CB8AC3E}">
        <p14:creationId xmlns:p14="http://schemas.microsoft.com/office/powerpoint/2010/main" val="3887940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1FE0D41-93C9-A64D-BD89-67176F36031A}" type="slidenum">
              <a:rPr lang="en-RU" smtClean="0"/>
              <a:t>34</a:t>
            </a:fld>
            <a:endParaRPr lang="en-RU"/>
          </a:p>
        </p:txBody>
      </p:sp>
    </p:spTree>
    <p:extLst>
      <p:ext uri="{BB962C8B-B14F-4D97-AF65-F5344CB8AC3E}">
        <p14:creationId xmlns:p14="http://schemas.microsoft.com/office/powerpoint/2010/main" val="4258743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AA446-F5D3-43B7-F9CF-58ECE0191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1C1967-7C59-2CED-09B5-FE13A5FCFB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007A58-98B3-4C57-8F3B-E4844D02A1CA}"/>
              </a:ext>
            </a:extLst>
          </p:cNvPr>
          <p:cNvSpPr>
            <a:spLocks noGrp="1"/>
          </p:cNvSpPr>
          <p:nvPr>
            <p:ph type="body" idx="1"/>
          </p:nvPr>
        </p:nvSpPr>
        <p:spPr/>
        <p:txBody>
          <a:bodyPr/>
          <a:lstStyle/>
          <a:p>
            <a:r>
              <a:rPr lang="en-GB" dirty="0"/>
              <a:t>g</a:t>
            </a:r>
            <a:r>
              <a:rPr lang="en-RU" dirty="0"/>
              <a:t>it </a:t>
            </a:r>
            <a:r>
              <a:rPr lang="ru-RU" dirty="0"/>
              <a:t>так же оперирует директориями, только называются они репозитории</a:t>
            </a:r>
          </a:p>
          <a:p>
            <a:r>
              <a:rPr lang="ru-RU" dirty="0"/>
              <a:t>Показать </a:t>
            </a:r>
            <a:r>
              <a:rPr lang="en-US" dirty="0"/>
              <a:t>.git</a:t>
            </a:r>
            <a:endParaRPr lang="en-RU" dirty="0"/>
          </a:p>
        </p:txBody>
      </p:sp>
      <p:sp>
        <p:nvSpPr>
          <p:cNvPr id="4" name="Slide Number Placeholder 3">
            <a:extLst>
              <a:ext uri="{FF2B5EF4-FFF2-40B4-BE49-F238E27FC236}">
                <a16:creationId xmlns:a16="http://schemas.microsoft.com/office/drawing/2014/main" id="{FE5343C7-EAF3-5B99-7063-C82021071A5B}"/>
              </a:ext>
            </a:extLst>
          </p:cNvPr>
          <p:cNvSpPr>
            <a:spLocks noGrp="1"/>
          </p:cNvSpPr>
          <p:nvPr>
            <p:ph type="sldNum" sz="quarter" idx="5"/>
          </p:nvPr>
        </p:nvSpPr>
        <p:spPr/>
        <p:txBody>
          <a:bodyPr/>
          <a:lstStyle/>
          <a:p>
            <a:fld id="{31FE0D41-93C9-A64D-BD89-67176F36031A}" type="slidenum">
              <a:rPr lang="en-RU" smtClean="0"/>
              <a:t>35</a:t>
            </a:fld>
            <a:endParaRPr lang="en-RU"/>
          </a:p>
        </p:txBody>
      </p:sp>
    </p:spTree>
    <p:extLst>
      <p:ext uri="{BB962C8B-B14F-4D97-AF65-F5344CB8AC3E}">
        <p14:creationId xmlns:p14="http://schemas.microsoft.com/office/powerpoint/2010/main" val="20281387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Можем загрузить репозиторий на </a:t>
            </a:r>
            <a:r>
              <a:rPr lang="en-US" b="0" dirty="0"/>
              <a:t>GitHub - </a:t>
            </a:r>
            <a:r>
              <a:rPr lang="ru-RU" b="0" dirty="0"/>
              <a:t>это хостинг</a:t>
            </a:r>
          </a:p>
          <a:p>
            <a:endParaRPr lang="ru-RU" b="0" dirty="0"/>
          </a:p>
          <a:p>
            <a:r>
              <a:rPr lang="ru-RU" b="0" dirty="0"/>
              <a:t>В больших компаниях вокруг </a:t>
            </a:r>
            <a:r>
              <a:rPr lang="en-US" b="0" dirty="0"/>
              <a:t>Git </a:t>
            </a:r>
            <a:r>
              <a:rPr lang="ru-RU" b="0" dirty="0"/>
              <a:t>и </a:t>
            </a:r>
            <a:r>
              <a:rPr lang="en-US" b="0" dirty="0" err="1"/>
              <a:t>Github</a:t>
            </a:r>
            <a:r>
              <a:rPr lang="ru-RU" b="0" dirty="0"/>
              <a:t>... уведомления, обсуждения, отслеживание задач</a:t>
            </a:r>
          </a:p>
          <a:p>
            <a:endParaRPr lang="ru-RU" b="0" dirty="0"/>
          </a:p>
          <a:p>
            <a:r>
              <a:rPr lang="ru-RU" b="0" dirty="0"/>
              <a:t>Но даже для работы одному</a:t>
            </a:r>
            <a:endParaRPr lang="en-US" b="0" dirty="0"/>
          </a:p>
        </p:txBody>
      </p:sp>
      <p:sp>
        <p:nvSpPr>
          <p:cNvPr id="4" name="Slide Number Placeholder 3"/>
          <p:cNvSpPr>
            <a:spLocks noGrp="1"/>
          </p:cNvSpPr>
          <p:nvPr>
            <p:ph type="sldNum" sz="quarter" idx="5"/>
          </p:nvPr>
        </p:nvSpPr>
        <p:spPr/>
        <p:txBody>
          <a:bodyPr/>
          <a:lstStyle/>
          <a:p>
            <a:fld id="{31FE0D41-93C9-A64D-BD89-67176F36031A}" type="slidenum">
              <a:rPr lang="en-RU" smtClean="0"/>
              <a:t>36</a:t>
            </a:fld>
            <a:endParaRPr lang="en-RU"/>
          </a:p>
        </p:txBody>
      </p:sp>
    </p:spTree>
    <p:extLst>
      <p:ext uri="{BB962C8B-B14F-4D97-AF65-F5344CB8AC3E}">
        <p14:creationId xmlns:p14="http://schemas.microsoft.com/office/powerpoint/2010/main" val="39329415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dirty="0"/>
              <a:t>Культурный феномен </a:t>
            </a:r>
            <a:r>
              <a:rPr lang="en-US" b="0" dirty="0"/>
              <a:t>open source.</a:t>
            </a:r>
            <a:r>
              <a:rPr lang="ru-RU" b="0" dirty="0"/>
              <a:t> </a:t>
            </a:r>
            <a:r>
              <a:rPr lang="en-US" b="0" dirty="0"/>
              <a:t>GitHub </a:t>
            </a:r>
            <a:r>
              <a:rPr lang="ru-RU" b="0" dirty="0"/>
              <a:t>это вообще социальная сеть.</a:t>
            </a:r>
            <a:endParaRPr lang="en-US" b="0" dirty="0"/>
          </a:p>
        </p:txBody>
      </p:sp>
      <p:sp>
        <p:nvSpPr>
          <p:cNvPr id="4" name="Slide Number Placeholder 3"/>
          <p:cNvSpPr>
            <a:spLocks noGrp="1"/>
          </p:cNvSpPr>
          <p:nvPr>
            <p:ph type="sldNum" sz="quarter" idx="5"/>
          </p:nvPr>
        </p:nvSpPr>
        <p:spPr/>
        <p:txBody>
          <a:bodyPr/>
          <a:lstStyle/>
          <a:p>
            <a:fld id="{31FE0D41-93C9-A64D-BD89-67176F36031A}" type="slidenum">
              <a:rPr lang="en-RU" smtClean="0"/>
              <a:t>37</a:t>
            </a:fld>
            <a:endParaRPr lang="en-RU"/>
          </a:p>
        </p:txBody>
      </p:sp>
    </p:spTree>
    <p:extLst>
      <p:ext uri="{BB962C8B-B14F-4D97-AF65-F5344CB8AC3E}">
        <p14:creationId xmlns:p14="http://schemas.microsoft.com/office/powerpoint/2010/main" val="3982225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в резюме есть </a:t>
            </a:r>
            <a:r>
              <a:rPr lang="en-US" dirty="0" err="1"/>
              <a:t>Github</a:t>
            </a:r>
            <a:r>
              <a:rPr lang="en-US" dirty="0"/>
              <a:t> </a:t>
            </a:r>
            <a:r>
              <a:rPr lang="ru-RU" dirty="0"/>
              <a:t>это грин флаг</a:t>
            </a:r>
          </a:p>
          <a:p>
            <a:r>
              <a:rPr lang="ru-RU" dirty="0"/>
              <a:t>Умеет пользоваться </a:t>
            </a:r>
            <a:r>
              <a:rPr lang="en-US" dirty="0"/>
              <a:t>Git, </a:t>
            </a:r>
            <a:r>
              <a:rPr lang="en-US" dirty="0" err="1"/>
              <a:t>Rmd</a:t>
            </a:r>
            <a:r>
              <a:rPr lang="en-US" dirty="0"/>
              <a:t>, </a:t>
            </a:r>
            <a:r>
              <a:rPr lang="ru-RU" dirty="0"/>
              <a:t>пакетами</a:t>
            </a:r>
          </a:p>
          <a:p>
            <a:r>
              <a:rPr lang="ru-RU" dirty="0"/>
              <a:t>Хорошо оформленный</a:t>
            </a:r>
          </a:p>
          <a:p>
            <a:r>
              <a:rPr lang="ru-RU" dirty="0"/>
              <a:t>Похвалить предыдущий курс</a:t>
            </a:r>
            <a:endParaRPr lang="en-RU" dirty="0"/>
          </a:p>
        </p:txBody>
      </p:sp>
      <p:sp>
        <p:nvSpPr>
          <p:cNvPr id="4" name="Slide Number Placeholder 3"/>
          <p:cNvSpPr>
            <a:spLocks noGrp="1"/>
          </p:cNvSpPr>
          <p:nvPr>
            <p:ph type="sldNum" sz="quarter" idx="5"/>
          </p:nvPr>
        </p:nvSpPr>
        <p:spPr/>
        <p:txBody>
          <a:bodyPr/>
          <a:lstStyle/>
          <a:p>
            <a:fld id="{31FE0D41-93C9-A64D-BD89-67176F36031A}" type="slidenum">
              <a:rPr lang="en-RU" smtClean="0"/>
              <a:t>39</a:t>
            </a:fld>
            <a:endParaRPr lang="en-RU"/>
          </a:p>
        </p:txBody>
      </p:sp>
    </p:spTree>
    <p:extLst>
      <p:ext uri="{BB962C8B-B14F-4D97-AF65-F5344CB8AC3E}">
        <p14:creationId xmlns:p14="http://schemas.microsoft.com/office/powerpoint/2010/main" val="21439728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FE0D41-93C9-A64D-BD89-67176F36031A}" type="slidenum">
              <a:rPr lang="en-RU" smtClean="0"/>
              <a:t>40</a:t>
            </a:fld>
            <a:endParaRPr lang="en-RU"/>
          </a:p>
        </p:txBody>
      </p:sp>
    </p:spTree>
    <p:extLst>
      <p:ext uri="{BB962C8B-B14F-4D97-AF65-F5344CB8AC3E}">
        <p14:creationId xmlns:p14="http://schemas.microsoft.com/office/powerpoint/2010/main" val="12272745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389AD-317E-755B-8B5C-E88069B9E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FE522-8BD4-B669-8BE9-2175A7ACED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153DA5-5DE1-1A4D-9AB9-AA52275D8C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E2E58A-3F9F-F7EA-6A49-33384A7FE86C}"/>
              </a:ext>
            </a:extLst>
          </p:cNvPr>
          <p:cNvSpPr>
            <a:spLocks noGrp="1"/>
          </p:cNvSpPr>
          <p:nvPr>
            <p:ph type="sldNum" sz="quarter" idx="5"/>
          </p:nvPr>
        </p:nvSpPr>
        <p:spPr/>
        <p:txBody>
          <a:bodyPr/>
          <a:lstStyle/>
          <a:p>
            <a:fld id="{31FE0D41-93C9-A64D-BD89-67176F36031A}" type="slidenum">
              <a:rPr lang="en-RU" smtClean="0"/>
              <a:t>41</a:t>
            </a:fld>
            <a:endParaRPr lang="en-RU"/>
          </a:p>
        </p:txBody>
      </p:sp>
    </p:spTree>
    <p:extLst>
      <p:ext uri="{BB962C8B-B14F-4D97-AF65-F5344CB8AC3E}">
        <p14:creationId xmlns:p14="http://schemas.microsoft.com/office/powerpoint/2010/main" val="29242811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803C8-AE4C-3186-F16E-ACA65C8803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2F90EF-FFF3-532C-48DB-39E4606430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BE7B2A-10ED-4E8B-30F6-68D91BE2CF79}"/>
              </a:ext>
            </a:extLst>
          </p:cNvPr>
          <p:cNvSpPr>
            <a:spLocks noGrp="1"/>
          </p:cNvSpPr>
          <p:nvPr>
            <p:ph type="body" idx="1"/>
          </p:nvPr>
        </p:nvSpPr>
        <p:spPr/>
        <p:txBody>
          <a:bodyPr/>
          <a:lstStyle/>
          <a:p>
            <a:r>
              <a:rPr lang="ru-RU" dirty="0"/>
              <a:t>Я буду объяснять все на примерах</a:t>
            </a:r>
          </a:p>
          <a:p>
            <a:r>
              <a:rPr lang="ru-RU" dirty="0"/>
              <a:t>Это очень практический навык.</a:t>
            </a:r>
          </a:p>
          <a:p>
            <a:endParaRPr lang="ru-RU" dirty="0"/>
          </a:p>
          <a:p>
            <a:r>
              <a:rPr lang="ru-RU" dirty="0"/>
              <a:t>Вот репозиторий. В </a:t>
            </a:r>
            <a:r>
              <a:rPr lang="en-US" dirty="0"/>
              <a:t>.git </a:t>
            </a:r>
            <a:r>
              <a:rPr lang="ru-RU" dirty="0"/>
              <a:t>там хранятся версии.</a:t>
            </a:r>
          </a:p>
          <a:p>
            <a:endParaRPr lang="ru-RU" dirty="0"/>
          </a:p>
          <a:p>
            <a:r>
              <a:rPr lang="ru-RU" dirty="0"/>
              <a:t>рабочая область - версия загруженная в текущий момент</a:t>
            </a:r>
            <a:endParaRPr lang="en-RU" dirty="0"/>
          </a:p>
        </p:txBody>
      </p:sp>
      <p:sp>
        <p:nvSpPr>
          <p:cNvPr id="4" name="Slide Number Placeholder 3">
            <a:extLst>
              <a:ext uri="{FF2B5EF4-FFF2-40B4-BE49-F238E27FC236}">
                <a16:creationId xmlns:a16="http://schemas.microsoft.com/office/drawing/2014/main" id="{B30A9AAB-5B5F-22D9-CA75-F84942060148}"/>
              </a:ext>
            </a:extLst>
          </p:cNvPr>
          <p:cNvSpPr>
            <a:spLocks noGrp="1"/>
          </p:cNvSpPr>
          <p:nvPr>
            <p:ph type="sldNum" sz="quarter" idx="5"/>
          </p:nvPr>
        </p:nvSpPr>
        <p:spPr/>
        <p:txBody>
          <a:bodyPr/>
          <a:lstStyle/>
          <a:p>
            <a:fld id="{31FE0D41-93C9-A64D-BD89-67176F36031A}" type="slidenum">
              <a:rPr lang="en-RU" smtClean="0"/>
              <a:t>42</a:t>
            </a:fld>
            <a:endParaRPr lang="en-RU"/>
          </a:p>
        </p:txBody>
      </p:sp>
    </p:spTree>
    <p:extLst>
      <p:ext uri="{BB962C8B-B14F-4D97-AF65-F5344CB8AC3E}">
        <p14:creationId xmlns:p14="http://schemas.microsoft.com/office/powerpoint/2010/main" val="41858177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9AFE-58B9-5F29-2342-0C3D56FBE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40116-16C0-D333-4329-C525851743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FD2BAC-EDD0-9F81-DB19-137A5779BE31}"/>
              </a:ext>
            </a:extLst>
          </p:cNvPr>
          <p:cNvSpPr>
            <a:spLocks noGrp="1"/>
          </p:cNvSpPr>
          <p:nvPr>
            <p:ph type="body" idx="1"/>
          </p:nvPr>
        </p:nvSpPr>
        <p:spPr/>
        <p:txBody>
          <a:bodyPr/>
          <a:lstStyle/>
          <a:p>
            <a:endParaRPr lang="en-RU" dirty="0"/>
          </a:p>
        </p:txBody>
      </p:sp>
      <p:sp>
        <p:nvSpPr>
          <p:cNvPr id="4" name="Slide Number Placeholder 3">
            <a:extLst>
              <a:ext uri="{FF2B5EF4-FFF2-40B4-BE49-F238E27FC236}">
                <a16:creationId xmlns:a16="http://schemas.microsoft.com/office/drawing/2014/main" id="{687110DF-8CC1-EDD3-5C54-ED058E786C8D}"/>
              </a:ext>
            </a:extLst>
          </p:cNvPr>
          <p:cNvSpPr>
            <a:spLocks noGrp="1"/>
          </p:cNvSpPr>
          <p:nvPr>
            <p:ph type="sldNum" sz="quarter" idx="5"/>
          </p:nvPr>
        </p:nvSpPr>
        <p:spPr/>
        <p:txBody>
          <a:bodyPr/>
          <a:lstStyle/>
          <a:p>
            <a:fld id="{31FE0D41-93C9-A64D-BD89-67176F36031A}" type="slidenum">
              <a:rPr lang="en-RU" smtClean="0"/>
              <a:t>43</a:t>
            </a:fld>
            <a:endParaRPr lang="en-RU"/>
          </a:p>
        </p:txBody>
      </p:sp>
    </p:spTree>
    <p:extLst>
      <p:ext uri="{BB962C8B-B14F-4D97-AF65-F5344CB8AC3E}">
        <p14:creationId xmlns:p14="http://schemas.microsoft.com/office/powerpoint/2010/main" val="2265121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26D15-29E6-477D-87C8-C57502C03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8BBD61-1BC9-B767-F1B9-E80E2D8D07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75A437-DEDE-9397-9E91-7D35ED404BB0}"/>
              </a:ext>
            </a:extLst>
          </p:cNvPr>
          <p:cNvSpPr>
            <a:spLocks noGrp="1"/>
          </p:cNvSpPr>
          <p:nvPr>
            <p:ph type="body" idx="1"/>
          </p:nvPr>
        </p:nvSpPr>
        <p:spPr/>
        <p:txBody>
          <a:bodyPr/>
          <a:lstStyle/>
          <a:p>
            <a:endParaRPr lang="en-RU" dirty="0"/>
          </a:p>
        </p:txBody>
      </p:sp>
      <p:sp>
        <p:nvSpPr>
          <p:cNvPr id="4" name="Slide Number Placeholder 3">
            <a:extLst>
              <a:ext uri="{FF2B5EF4-FFF2-40B4-BE49-F238E27FC236}">
                <a16:creationId xmlns:a16="http://schemas.microsoft.com/office/drawing/2014/main" id="{3BA53B4B-B0FC-535C-55A1-5E04BA6C6900}"/>
              </a:ext>
            </a:extLst>
          </p:cNvPr>
          <p:cNvSpPr>
            <a:spLocks noGrp="1"/>
          </p:cNvSpPr>
          <p:nvPr>
            <p:ph type="sldNum" sz="quarter" idx="5"/>
          </p:nvPr>
        </p:nvSpPr>
        <p:spPr/>
        <p:txBody>
          <a:bodyPr/>
          <a:lstStyle/>
          <a:p>
            <a:fld id="{31FE0D41-93C9-A64D-BD89-67176F36031A}" type="slidenum">
              <a:rPr lang="en-RU" smtClean="0"/>
              <a:t>44</a:t>
            </a:fld>
            <a:endParaRPr lang="en-RU"/>
          </a:p>
        </p:txBody>
      </p:sp>
    </p:spTree>
    <p:extLst>
      <p:ext uri="{BB962C8B-B14F-4D97-AF65-F5344CB8AC3E}">
        <p14:creationId xmlns:p14="http://schemas.microsoft.com/office/powerpoint/2010/main" val="10648505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96348-5604-6B14-FE12-8133D6512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2C44F-066B-3E82-1EA3-75E0678D46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984C0E-F404-4C6E-C536-0CB71FBE8D82}"/>
              </a:ext>
            </a:extLst>
          </p:cNvPr>
          <p:cNvSpPr>
            <a:spLocks noGrp="1"/>
          </p:cNvSpPr>
          <p:nvPr>
            <p:ph type="body" idx="1"/>
          </p:nvPr>
        </p:nvSpPr>
        <p:spPr/>
        <p:txBody>
          <a:bodyPr/>
          <a:lstStyle/>
          <a:p>
            <a:r>
              <a:rPr lang="ru-RU" dirty="0"/>
              <a:t>Можем какие-то файлы не добавлять в </a:t>
            </a:r>
            <a:r>
              <a:rPr lang="en-US" dirty="0"/>
              <a:t>staging</a:t>
            </a:r>
            <a:endParaRPr lang="en-RU" dirty="0"/>
          </a:p>
        </p:txBody>
      </p:sp>
      <p:sp>
        <p:nvSpPr>
          <p:cNvPr id="4" name="Slide Number Placeholder 3">
            <a:extLst>
              <a:ext uri="{FF2B5EF4-FFF2-40B4-BE49-F238E27FC236}">
                <a16:creationId xmlns:a16="http://schemas.microsoft.com/office/drawing/2014/main" id="{44365EC9-02D1-1DAC-D717-37CDC4584355}"/>
              </a:ext>
            </a:extLst>
          </p:cNvPr>
          <p:cNvSpPr>
            <a:spLocks noGrp="1"/>
          </p:cNvSpPr>
          <p:nvPr>
            <p:ph type="sldNum" sz="quarter" idx="5"/>
          </p:nvPr>
        </p:nvSpPr>
        <p:spPr/>
        <p:txBody>
          <a:bodyPr/>
          <a:lstStyle/>
          <a:p>
            <a:fld id="{31FE0D41-93C9-A64D-BD89-67176F36031A}" type="slidenum">
              <a:rPr lang="en-RU" smtClean="0"/>
              <a:t>45</a:t>
            </a:fld>
            <a:endParaRPr lang="en-RU"/>
          </a:p>
        </p:txBody>
      </p:sp>
    </p:spTree>
    <p:extLst>
      <p:ext uri="{BB962C8B-B14F-4D97-AF65-F5344CB8AC3E}">
        <p14:creationId xmlns:p14="http://schemas.microsoft.com/office/powerpoint/2010/main" val="38863153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A4C94-8289-2E90-BB70-FC884BB55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B00999-FFD7-AAB0-C0BE-3EA60C0D5C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684EF1-B63D-80BC-A646-2A9B6DF304A6}"/>
              </a:ext>
            </a:extLst>
          </p:cNvPr>
          <p:cNvSpPr>
            <a:spLocks noGrp="1"/>
          </p:cNvSpPr>
          <p:nvPr>
            <p:ph type="body" idx="1"/>
          </p:nvPr>
        </p:nvSpPr>
        <p:spPr/>
        <p:txBody>
          <a:bodyPr/>
          <a:lstStyle/>
          <a:p>
            <a:r>
              <a:rPr lang="ru-RU" dirty="0"/>
              <a:t>Можем какие-то файлы не добавлять в </a:t>
            </a:r>
            <a:r>
              <a:rPr lang="en-US" dirty="0"/>
              <a:t>staging</a:t>
            </a:r>
            <a:endParaRPr lang="en-RU" dirty="0"/>
          </a:p>
        </p:txBody>
      </p:sp>
      <p:sp>
        <p:nvSpPr>
          <p:cNvPr id="4" name="Slide Number Placeholder 3">
            <a:extLst>
              <a:ext uri="{FF2B5EF4-FFF2-40B4-BE49-F238E27FC236}">
                <a16:creationId xmlns:a16="http://schemas.microsoft.com/office/drawing/2014/main" id="{852C28EF-8A20-A61B-C75A-543EB2927A70}"/>
              </a:ext>
            </a:extLst>
          </p:cNvPr>
          <p:cNvSpPr>
            <a:spLocks noGrp="1"/>
          </p:cNvSpPr>
          <p:nvPr>
            <p:ph type="sldNum" sz="quarter" idx="5"/>
          </p:nvPr>
        </p:nvSpPr>
        <p:spPr/>
        <p:txBody>
          <a:bodyPr/>
          <a:lstStyle/>
          <a:p>
            <a:fld id="{31FE0D41-93C9-A64D-BD89-67176F36031A}" type="slidenum">
              <a:rPr lang="en-RU" smtClean="0"/>
              <a:t>47</a:t>
            </a:fld>
            <a:endParaRPr lang="en-RU"/>
          </a:p>
        </p:txBody>
      </p:sp>
    </p:spTree>
    <p:extLst>
      <p:ext uri="{BB962C8B-B14F-4D97-AF65-F5344CB8AC3E}">
        <p14:creationId xmlns:p14="http://schemas.microsoft.com/office/powerpoint/2010/main" val="23905872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22E04-AD00-99C5-95B1-02499683A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58393-67C6-7620-C73D-A398BABDA3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851220-DB4A-343B-7571-D5A4E3E83F33}"/>
              </a:ext>
            </a:extLst>
          </p:cNvPr>
          <p:cNvSpPr>
            <a:spLocks noGrp="1"/>
          </p:cNvSpPr>
          <p:nvPr>
            <p:ph type="body" idx="1"/>
          </p:nvPr>
        </p:nvSpPr>
        <p:spPr/>
        <p:txBody>
          <a:bodyPr/>
          <a:lstStyle/>
          <a:p>
            <a:r>
              <a:rPr lang="ru-RU" dirty="0"/>
              <a:t>Можем какие-то файлы не добавлять в </a:t>
            </a:r>
            <a:r>
              <a:rPr lang="en-US" dirty="0"/>
              <a:t>staging</a:t>
            </a:r>
            <a:endParaRPr lang="en-RU" dirty="0"/>
          </a:p>
        </p:txBody>
      </p:sp>
      <p:sp>
        <p:nvSpPr>
          <p:cNvPr id="4" name="Slide Number Placeholder 3">
            <a:extLst>
              <a:ext uri="{FF2B5EF4-FFF2-40B4-BE49-F238E27FC236}">
                <a16:creationId xmlns:a16="http://schemas.microsoft.com/office/drawing/2014/main" id="{8710D1C7-081C-D3E2-BA69-D0CFE4366557}"/>
              </a:ext>
            </a:extLst>
          </p:cNvPr>
          <p:cNvSpPr>
            <a:spLocks noGrp="1"/>
          </p:cNvSpPr>
          <p:nvPr>
            <p:ph type="sldNum" sz="quarter" idx="5"/>
          </p:nvPr>
        </p:nvSpPr>
        <p:spPr/>
        <p:txBody>
          <a:bodyPr/>
          <a:lstStyle/>
          <a:p>
            <a:fld id="{31FE0D41-93C9-A64D-BD89-67176F36031A}" type="slidenum">
              <a:rPr lang="en-RU" smtClean="0"/>
              <a:t>48</a:t>
            </a:fld>
            <a:endParaRPr lang="en-RU"/>
          </a:p>
        </p:txBody>
      </p:sp>
    </p:spTree>
    <p:extLst>
      <p:ext uri="{BB962C8B-B14F-4D97-AF65-F5344CB8AC3E}">
        <p14:creationId xmlns:p14="http://schemas.microsoft.com/office/powerpoint/2010/main" val="311179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4438B-F66D-E9BD-5A54-B3CC6CBBA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CD64A-93C9-50D0-22E2-B824969FCE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28CF70-23FE-EE3A-ACF1-C64BD78299B3}"/>
              </a:ext>
            </a:extLst>
          </p:cNvPr>
          <p:cNvSpPr>
            <a:spLocks noGrp="1"/>
          </p:cNvSpPr>
          <p:nvPr>
            <p:ph type="body" idx="1"/>
          </p:nvPr>
        </p:nvSpPr>
        <p:spPr/>
        <p:txBody>
          <a:bodyPr/>
          <a:lstStyle/>
          <a:p>
            <a:r>
              <a:rPr lang="ru-RU" dirty="0"/>
              <a:t>Можем какие-то файлы не добавлять в </a:t>
            </a:r>
            <a:r>
              <a:rPr lang="en-US" dirty="0"/>
              <a:t>staging</a:t>
            </a:r>
            <a:endParaRPr lang="en-RU" dirty="0"/>
          </a:p>
        </p:txBody>
      </p:sp>
      <p:sp>
        <p:nvSpPr>
          <p:cNvPr id="4" name="Slide Number Placeholder 3">
            <a:extLst>
              <a:ext uri="{FF2B5EF4-FFF2-40B4-BE49-F238E27FC236}">
                <a16:creationId xmlns:a16="http://schemas.microsoft.com/office/drawing/2014/main" id="{26C381A2-0F5D-3720-2748-115631B18594}"/>
              </a:ext>
            </a:extLst>
          </p:cNvPr>
          <p:cNvSpPr>
            <a:spLocks noGrp="1"/>
          </p:cNvSpPr>
          <p:nvPr>
            <p:ph type="sldNum" sz="quarter" idx="5"/>
          </p:nvPr>
        </p:nvSpPr>
        <p:spPr/>
        <p:txBody>
          <a:bodyPr/>
          <a:lstStyle/>
          <a:p>
            <a:fld id="{31FE0D41-93C9-A64D-BD89-67176F36031A}" type="slidenum">
              <a:rPr lang="en-RU" smtClean="0"/>
              <a:t>49</a:t>
            </a:fld>
            <a:endParaRPr lang="en-RU"/>
          </a:p>
        </p:txBody>
      </p:sp>
    </p:spTree>
    <p:extLst>
      <p:ext uri="{BB962C8B-B14F-4D97-AF65-F5344CB8AC3E}">
        <p14:creationId xmlns:p14="http://schemas.microsoft.com/office/powerpoint/2010/main" val="26446137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incremental changes</a:t>
            </a:r>
          </a:p>
        </p:txBody>
      </p:sp>
      <p:sp>
        <p:nvSpPr>
          <p:cNvPr id="4" name="Slide Number Placeholder 3"/>
          <p:cNvSpPr>
            <a:spLocks noGrp="1"/>
          </p:cNvSpPr>
          <p:nvPr>
            <p:ph type="sldNum" sz="quarter" idx="5"/>
          </p:nvPr>
        </p:nvSpPr>
        <p:spPr/>
        <p:txBody>
          <a:bodyPr/>
          <a:lstStyle/>
          <a:p>
            <a:fld id="{31FE0D41-93C9-A64D-BD89-67176F36031A}" type="slidenum">
              <a:rPr lang="en-RU" smtClean="0"/>
              <a:t>50</a:t>
            </a:fld>
            <a:endParaRPr lang="en-RU"/>
          </a:p>
        </p:txBody>
      </p:sp>
    </p:spTree>
    <p:extLst>
      <p:ext uri="{BB962C8B-B14F-4D97-AF65-F5344CB8AC3E}">
        <p14:creationId xmlns:p14="http://schemas.microsoft.com/office/powerpoint/2010/main" val="36315736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бранчи это не способ держать параллельно несколько версий</a:t>
            </a:r>
          </a:p>
          <a:p>
            <a:r>
              <a:rPr lang="ru-RU" dirty="0"/>
              <a:t>бранчи на задачи, не на людей</a:t>
            </a:r>
            <a:endParaRPr lang="en-RU" dirty="0"/>
          </a:p>
        </p:txBody>
      </p:sp>
      <p:sp>
        <p:nvSpPr>
          <p:cNvPr id="4" name="Slide Number Placeholder 3"/>
          <p:cNvSpPr>
            <a:spLocks noGrp="1"/>
          </p:cNvSpPr>
          <p:nvPr>
            <p:ph type="sldNum" sz="quarter" idx="5"/>
          </p:nvPr>
        </p:nvSpPr>
        <p:spPr/>
        <p:txBody>
          <a:bodyPr/>
          <a:lstStyle/>
          <a:p>
            <a:fld id="{31FE0D41-93C9-A64D-BD89-67176F36031A}" type="slidenum">
              <a:rPr lang="en-RU" smtClean="0"/>
              <a:t>56</a:t>
            </a:fld>
            <a:endParaRPr lang="en-RU"/>
          </a:p>
        </p:txBody>
      </p:sp>
    </p:spTree>
    <p:extLst>
      <p:ext uri="{BB962C8B-B14F-4D97-AF65-F5344CB8AC3E}">
        <p14:creationId xmlns:p14="http://schemas.microsoft.com/office/powerpoint/2010/main" val="19534372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не забывайте их вливать обратно в основную</a:t>
            </a:r>
            <a:endParaRPr lang="en-RU" dirty="0"/>
          </a:p>
        </p:txBody>
      </p:sp>
      <p:sp>
        <p:nvSpPr>
          <p:cNvPr id="4" name="Slide Number Placeholder 3"/>
          <p:cNvSpPr>
            <a:spLocks noGrp="1"/>
          </p:cNvSpPr>
          <p:nvPr>
            <p:ph type="sldNum" sz="quarter" idx="5"/>
          </p:nvPr>
        </p:nvSpPr>
        <p:spPr/>
        <p:txBody>
          <a:bodyPr/>
          <a:lstStyle/>
          <a:p>
            <a:fld id="{31FE0D41-93C9-A64D-BD89-67176F36031A}" type="slidenum">
              <a:rPr lang="en-RU" smtClean="0"/>
              <a:t>57</a:t>
            </a:fld>
            <a:endParaRPr lang="en-RU"/>
          </a:p>
        </p:txBody>
      </p:sp>
    </p:spTree>
    <p:extLst>
      <p:ext uri="{BB962C8B-B14F-4D97-AF65-F5344CB8AC3E}">
        <p14:creationId xmlns:p14="http://schemas.microsoft.com/office/powerpoint/2010/main" val="41765967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FE0D41-93C9-A64D-BD89-67176F36031A}" type="slidenum">
              <a:rPr lang="en-RU" smtClean="0"/>
              <a:t>60</a:t>
            </a:fld>
            <a:endParaRPr lang="en-RU"/>
          </a:p>
        </p:txBody>
      </p:sp>
    </p:spTree>
    <p:extLst>
      <p:ext uri="{BB962C8B-B14F-4D97-AF65-F5344CB8AC3E}">
        <p14:creationId xmlns:p14="http://schemas.microsoft.com/office/powerpoint/2010/main" val="14315853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Если задачу нужно выполнить </a:t>
            </a:r>
            <a:r>
              <a:rPr lang="en-US" dirty="0"/>
              <a:t>&gt; 1 </a:t>
            </a:r>
            <a:r>
              <a:rPr lang="ru-RU" dirty="0"/>
              <a:t>раза – напишите скрипт. По крайней мере получите опыт.</a:t>
            </a:r>
            <a:endParaRPr lang="en-US" dirty="0"/>
          </a:p>
          <a:p>
            <a:endParaRPr lang="en-US" dirty="0"/>
          </a:p>
          <a:p>
            <a:r>
              <a:rPr lang="ru-RU" dirty="0"/>
              <a:t>Пишите все в </a:t>
            </a:r>
            <a:r>
              <a:rPr lang="en-US" dirty="0" err="1"/>
              <a:t>Rmd</a:t>
            </a:r>
            <a:r>
              <a:rPr lang="en-US" dirty="0"/>
              <a:t> </a:t>
            </a:r>
            <a:r>
              <a:rPr lang="ru-RU" dirty="0"/>
              <a:t>и </a:t>
            </a:r>
            <a:r>
              <a:rPr lang="en-US" dirty="0"/>
              <a:t>R, </a:t>
            </a:r>
            <a:r>
              <a:rPr lang="ru-RU" dirty="0"/>
              <a:t>запускайте оттуда при помощи </a:t>
            </a:r>
            <a:r>
              <a:rPr lang="en-US" dirty="0"/>
              <a:t>Ctrl + Enter</a:t>
            </a:r>
            <a:r>
              <a:rPr lang="ru-RU" dirty="0"/>
              <a:t>.</a:t>
            </a:r>
            <a:endParaRPr lang="en-US" dirty="0"/>
          </a:p>
        </p:txBody>
      </p:sp>
      <p:sp>
        <p:nvSpPr>
          <p:cNvPr id="4" name="Slide Number Placeholder 3"/>
          <p:cNvSpPr>
            <a:spLocks noGrp="1"/>
          </p:cNvSpPr>
          <p:nvPr>
            <p:ph type="sldNum" sz="quarter" idx="5"/>
          </p:nvPr>
        </p:nvSpPr>
        <p:spPr/>
        <p:txBody>
          <a:bodyPr/>
          <a:lstStyle/>
          <a:p>
            <a:fld id="{31FE0D41-93C9-A64D-BD89-67176F36031A}" type="slidenum">
              <a:rPr lang="en-RU" smtClean="0"/>
              <a:t>63</a:t>
            </a:fld>
            <a:endParaRPr lang="en-RU"/>
          </a:p>
        </p:txBody>
      </p:sp>
    </p:spTree>
    <p:extLst>
      <p:ext uri="{BB962C8B-B14F-4D97-AF65-F5344CB8AC3E}">
        <p14:creationId xmlns:p14="http://schemas.microsoft.com/office/powerpoint/2010/main" val="36652673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D1B7A-6D1E-6A3F-9F48-943F68289B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33281-79A0-1D7A-011C-B1D5D8FD03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E4CA36-C9D1-2120-FBDE-DD84108345DA}"/>
              </a:ext>
            </a:extLst>
          </p:cNvPr>
          <p:cNvSpPr>
            <a:spLocks noGrp="1"/>
          </p:cNvSpPr>
          <p:nvPr>
            <p:ph type="body" idx="1"/>
          </p:nvPr>
        </p:nvSpPr>
        <p:spPr/>
        <p:txBody>
          <a:bodyPr/>
          <a:lstStyle/>
          <a:p>
            <a:r>
              <a:rPr lang="ru-RU" dirty="0"/>
              <a:t>Если задачу нужно выполнить </a:t>
            </a:r>
            <a:r>
              <a:rPr lang="en-US" dirty="0"/>
              <a:t>&gt; 1 </a:t>
            </a:r>
            <a:r>
              <a:rPr lang="ru-RU" dirty="0"/>
              <a:t>раза – напишите скрипт. По крайней мере получите опыт.</a:t>
            </a:r>
            <a:endParaRPr lang="en-US" dirty="0"/>
          </a:p>
          <a:p>
            <a:endParaRPr lang="en-US" dirty="0"/>
          </a:p>
          <a:p>
            <a:r>
              <a:rPr lang="ru-RU" dirty="0"/>
              <a:t>Пишите все в </a:t>
            </a:r>
            <a:r>
              <a:rPr lang="en-US" dirty="0" err="1"/>
              <a:t>Rmd</a:t>
            </a:r>
            <a:r>
              <a:rPr lang="en-US" dirty="0"/>
              <a:t> </a:t>
            </a:r>
            <a:r>
              <a:rPr lang="ru-RU" dirty="0"/>
              <a:t>и </a:t>
            </a:r>
            <a:r>
              <a:rPr lang="en-US" dirty="0"/>
              <a:t>R, </a:t>
            </a:r>
            <a:r>
              <a:rPr lang="ru-RU" dirty="0"/>
              <a:t>запускайте оттуда при помощи </a:t>
            </a:r>
            <a:r>
              <a:rPr lang="en-US" dirty="0"/>
              <a:t>Ctrl + Enter</a:t>
            </a:r>
            <a:r>
              <a:rPr lang="ru-RU" dirty="0"/>
              <a:t>.</a:t>
            </a:r>
            <a:endParaRPr lang="en-US" dirty="0"/>
          </a:p>
        </p:txBody>
      </p:sp>
      <p:sp>
        <p:nvSpPr>
          <p:cNvPr id="4" name="Slide Number Placeholder 3">
            <a:extLst>
              <a:ext uri="{FF2B5EF4-FFF2-40B4-BE49-F238E27FC236}">
                <a16:creationId xmlns:a16="http://schemas.microsoft.com/office/drawing/2014/main" id="{520E997F-427F-75A1-1F3A-B008A14D69EF}"/>
              </a:ext>
            </a:extLst>
          </p:cNvPr>
          <p:cNvSpPr>
            <a:spLocks noGrp="1"/>
          </p:cNvSpPr>
          <p:nvPr>
            <p:ph type="sldNum" sz="quarter" idx="5"/>
          </p:nvPr>
        </p:nvSpPr>
        <p:spPr/>
        <p:txBody>
          <a:bodyPr/>
          <a:lstStyle/>
          <a:p>
            <a:fld id="{31FE0D41-93C9-A64D-BD89-67176F36031A}" type="slidenum">
              <a:rPr lang="en-RU" smtClean="0"/>
              <a:t>64</a:t>
            </a:fld>
            <a:endParaRPr lang="en-RU"/>
          </a:p>
        </p:txBody>
      </p:sp>
    </p:spTree>
    <p:extLst>
      <p:ext uri="{BB962C8B-B14F-4D97-AF65-F5344CB8AC3E}">
        <p14:creationId xmlns:p14="http://schemas.microsoft.com/office/powerpoint/2010/main" val="3469351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60C47-E9D0-6B5B-C35F-A98DE516D9A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RU"/>
          </a:p>
        </p:txBody>
      </p:sp>
      <p:sp>
        <p:nvSpPr>
          <p:cNvPr id="3" name="Subtitle 2">
            <a:extLst>
              <a:ext uri="{FF2B5EF4-FFF2-40B4-BE49-F238E27FC236}">
                <a16:creationId xmlns:a16="http://schemas.microsoft.com/office/drawing/2014/main" id="{4681A527-69E5-9933-B95C-3C09400561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RU"/>
          </a:p>
        </p:txBody>
      </p:sp>
      <p:sp>
        <p:nvSpPr>
          <p:cNvPr id="4" name="Date Placeholder 3">
            <a:extLst>
              <a:ext uri="{FF2B5EF4-FFF2-40B4-BE49-F238E27FC236}">
                <a16:creationId xmlns:a16="http://schemas.microsoft.com/office/drawing/2014/main" id="{FD9E1104-DDC6-BCE9-D907-23726CACBFC9}"/>
              </a:ext>
            </a:extLst>
          </p:cNvPr>
          <p:cNvSpPr>
            <a:spLocks noGrp="1"/>
          </p:cNvSpPr>
          <p:nvPr>
            <p:ph type="dt" sz="half" idx="10"/>
          </p:nvPr>
        </p:nvSpPr>
        <p:spPr/>
        <p:txBody>
          <a:bodyPr/>
          <a:lstStyle/>
          <a:p>
            <a:fld id="{01D09F9A-9089-6443-AB94-B837FAF2A1B8}" type="datetimeFigureOut">
              <a:rPr lang="en-RU" smtClean="0"/>
              <a:t>4/5/25</a:t>
            </a:fld>
            <a:endParaRPr lang="en-RU"/>
          </a:p>
        </p:txBody>
      </p:sp>
      <p:sp>
        <p:nvSpPr>
          <p:cNvPr id="5" name="Footer Placeholder 4">
            <a:extLst>
              <a:ext uri="{FF2B5EF4-FFF2-40B4-BE49-F238E27FC236}">
                <a16:creationId xmlns:a16="http://schemas.microsoft.com/office/drawing/2014/main" id="{B75D3812-FCC1-1A07-98BD-11F7D70D42FC}"/>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9B352749-6B69-A61F-4003-0DAF54C5823B}"/>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907418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20542-0D8E-4B69-B30D-EB28FA3F2A7B}"/>
              </a:ext>
            </a:extLst>
          </p:cNvPr>
          <p:cNvSpPr>
            <a:spLocks noGrp="1"/>
          </p:cNvSpPr>
          <p:nvPr>
            <p:ph type="title"/>
          </p:nvPr>
        </p:nvSpPr>
        <p:spPr/>
        <p:txBody>
          <a:bodyPr/>
          <a:lstStyle/>
          <a:p>
            <a:r>
              <a:rPr lang="en-GB"/>
              <a:t>Click to edit Master title style</a:t>
            </a:r>
            <a:endParaRPr lang="en-RU"/>
          </a:p>
        </p:txBody>
      </p:sp>
      <p:sp>
        <p:nvSpPr>
          <p:cNvPr id="3" name="Content Placeholder 2">
            <a:extLst>
              <a:ext uri="{FF2B5EF4-FFF2-40B4-BE49-F238E27FC236}">
                <a16:creationId xmlns:a16="http://schemas.microsoft.com/office/drawing/2014/main" id="{48573B2E-8BFA-40C1-BCB2-416D102CC94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9D5EE93C-58F7-6518-217B-7070CE0EA9F7}"/>
              </a:ext>
            </a:extLst>
          </p:cNvPr>
          <p:cNvSpPr>
            <a:spLocks noGrp="1"/>
          </p:cNvSpPr>
          <p:nvPr>
            <p:ph type="dt" sz="half" idx="10"/>
          </p:nvPr>
        </p:nvSpPr>
        <p:spPr/>
        <p:txBody>
          <a:bodyPr/>
          <a:lstStyle/>
          <a:p>
            <a:fld id="{01D09F9A-9089-6443-AB94-B837FAF2A1B8}" type="datetimeFigureOut">
              <a:rPr lang="en-RU" smtClean="0"/>
              <a:t>4/5/25</a:t>
            </a:fld>
            <a:endParaRPr lang="en-RU"/>
          </a:p>
        </p:txBody>
      </p:sp>
      <p:sp>
        <p:nvSpPr>
          <p:cNvPr id="5" name="Footer Placeholder 4">
            <a:extLst>
              <a:ext uri="{FF2B5EF4-FFF2-40B4-BE49-F238E27FC236}">
                <a16:creationId xmlns:a16="http://schemas.microsoft.com/office/drawing/2014/main" id="{D2D55055-D9B9-E10C-4B2F-910849B86320}"/>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F913C712-E1C5-704B-4AA1-483D5563EB21}"/>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1980209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1870E-1BAD-EA30-82E3-01DDF380E0B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RU"/>
          </a:p>
        </p:txBody>
      </p:sp>
      <p:sp>
        <p:nvSpPr>
          <p:cNvPr id="3" name="Text Placeholder 2">
            <a:extLst>
              <a:ext uri="{FF2B5EF4-FFF2-40B4-BE49-F238E27FC236}">
                <a16:creationId xmlns:a16="http://schemas.microsoft.com/office/drawing/2014/main" id="{62A61B0F-650C-0858-BDCB-099228AC5A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39D223A-C3B4-CD6E-55DD-340AF99E20B2}"/>
              </a:ext>
            </a:extLst>
          </p:cNvPr>
          <p:cNvSpPr>
            <a:spLocks noGrp="1"/>
          </p:cNvSpPr>
          <p:nvPr>
            <p:ph type="dt" sz="half" idx="10"/>
          </p:nvPr>
        </p:nvSpPr>
        <p:spPr/>
        <p:txBody>
          <a:bodyPr/>
          <a:lstStyle/>
          <a:p>
            <a:fld id="{01D09F9A-9089-6443-AB94-B837FAF2A1B8}" type="datetimeFigureOut">
              <a:rPr lang="en-RU" smtClean="0"/>
              <a:t>4/5/25</a:t>
            </a:fld>
            <a:endParaRPr lang="en-RU"/>
          </a:p>
        </p:txBody>
      </p:sp>
      <p:sp>
        <p:nvSpPr>
          <p:cNvPr id="5" name="Footer Placeholder 4">
            <a:extLst>
              <a:ext uri="{FF2B5EF4-FFF2-40B4-BE49-F238E27FC236}">
                <a16:creationId xmlns:a16="http://schemas.microsoft.com/office/drawing/2014/main" id="{19BFD5A8-1BC0-6563-02C4-824B6B7087D6}"/>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17C27C00-F961-2B9C-083E-588BC93D0D9C}"/>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1193193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5382D-E888-E151-8903-7BE6DEB7D529}"/>
              </a:ext>
            </a:extLst>
          </p:cNvPr>
          <p:cNvSpPr>
            <a:spLocks noGrp="1"/>
          </p:cNvSpPr>
          <p:nvPr>
            <p:ph type="title"/>
          </p:nvPr>
        </p:nvSpPr>
        <p:spPr/>
        <p:txBody>
          <a:bodyPr/>
          <a:lstStyle/>
          <a:p>
            <a:r>
              <a:rPr lang="en-GB"/>
              <a:t>Click to edit Master title style</a:t>
            </a:r>
            <a:endParaRPr lang="en-RU"/>
          </a:p>
        </p:txBody>
      </p:sp>
      <p:sp>
        <p:nvSpPr>
          <p:cNvPr id="3" name="Content Placeholder 2">
            <a:extLst>
              <a:ext uri="{FF2B5EF4-FFF2-40B4-BE49-F238E27FC236}">
                <a16:creationId xmlns:a16="http://schemas.microsoft.com/office/drawing/2014/main" id="{98E70E31-F8AA-9C67-9444-D59EA39C295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Content Placeholder 3">
            <a:extLst>
              <a:ext uri="{FF2B5EF4-FFF2-40B4-BE49-F238E27FC236}">
                <a16:creationId xmlns:a16="http://schemas.microsoft.com/office/drawing/2014/main" id="{3ADFBA1C-1C63-560E-6826-A7A9888E342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5" name="Date Placeholder 4">
            <a:extLst>
              <a:ext uri="{FF2B5EF4-FFF2-40B4-BE49-F238E27FC236}">
                <a16:creationId xmlns:a16="http://schemas.microsoft.com/office/drawing/2014/main" id="{ED292CA7-D2F5-F0B8-7087-FE19E3F2FA98}"/>
              </a:ext>
            </a:extLst>
          </p:cNvPr>
          <p:cNvSpPr>
            <a:spLocks noGrp="1"/>
          </p:cNvSpPr>
          <p:nvPr>
            <p:ph type="dt" sz="half" idx="10"/>
          </p:nvPr>
        </p:nvSpPr>
        <p:spPr/>
        <p:txBody>
          <a:bodyPr/>
          <a:lstStyle/>
          <a:p>
            <a:fld id="{01D09F9A-9089-6443-AB94-B837FAF2A1B8}" type="datetimeFigureOut">
              <a:rPr lang="en-RU" smtClean="0"/>
              <a:t>4/5/25</a:t>
            </a:fld>
            <a:endParaRPr lang="en-RU"/>
          </a:p>
        </p:txBody>
      </p:sp>
      <p:sp>
        <p:nvSpPr>
          <p:cNvPr id="6" name="Footer Placeholder 5">
            <a:extLst>
              <a:ext uri="{FF2B5EF4-FFF2-40B4-BE49-F238E27FC236}">
                <a16:creationId xmlns:a16="http://schemas.microsoft.com/office/drawing/2014/main" id="{B35030AE-DE84-695E-F22D-EBB45B16668F}"/>
              </a:ext>
            </a:extLst>
          </p:cNvPr>
          <p:cNvSpPr>
            <a:spLocks noGrp="1"/>
          </p:cNvSpPr>
          <p:nvPr>
            <p:ph type="ftr" sz="quarter" idx="11"/>
          </p:nvPr>
        </p:nvSpPr>
        <p:spPr/>
        <p:txBody>
          <a:bodyPr/>
          <a:lstStyle/>
          <a:p>
            <a:endParaRPr lang="en-RU"/>
          </a:p>
        </p:txBody>
      </p:sp>
      <p:sp>
        <p:nvSpPr>
          <p:cNvPr id="7" name="Slide Number Placeholder 6">
            <a:extLst>
              <a:ext uri="{FF2B5EF4-FFF2-40B4-BE49-F238E27FC236}">
                <a16:creationId xmlns:a16="http://schemas.microsoft.com/office/drawing/2014/main" id="{683CAE0A-2C3F-B2CD-5D1D-13EAF439C2ED}"/>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657444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CF7D2-2CBA-9BC8-FE3C-814EDF2FA35B}"/>
              </a:ext>
            </a:extLst>
          </p:cNvPr>
          <p:cNvSpPr>
            <a:spLocks noGrp="1"/>
          </p:cNvSpPr>
          <p:nvPr>
            <p:ph type="title"/>
          </p:nvPr>
        </p:nvSpPr>
        <p:spPr>
          <a:xfrm>
            <a:off x="839788" y="365125"/>
            <a:ext cx="10515600" cy="1325563"/>
          </a:xfrm>
        </p:spPr>
        <p:txBody>
          <a:bodyPr/>
          <a:lstStyle/>
          <a:p>
            <a:r>
              <a:rPr lang="en-GB"/>
              <a:t>Click to edit Master title style</a:t>
            </a:r>
            <a:endParaRPr lang="en-RU"/>
          </a:p>
        </p:txBody>
      </p:sp>
      <p:sp>
        <p:nvSpPr>
          <p:cNvPr id="3" name="Text Placeholder 2">
            <a:extLst>
              <a:ext uri="{FF2B5EF4-FFF2-40B4-BE49-F238E27FC236}">
                <a16:creationId xmlns:a16="http://schemas.microsoft.com/office/drawing/2014/main" id="{04BF0B56-DCE0-6967-AE23-E507A280B7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3F8077E-500F-3393-1789-BDCD15D4625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5" name="Text Placeholder 4">
            <a:extLst>
              <a:ext uri="{FF2B5EF4-FFF2-40B4-BE49-F238E27FC236}">
                <a16:creationId xmlns:a16="http://schemas.microsoft.com/office/drawing/2014/main" id="{95EAD54F-2BA4-4B45-03E4-3D265D23F7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A93B450-EED0-089F-FC19-F6999793101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7" name="Date Placeholder 6">
            <a:extLst>
              <a:ext uri="{FF2B5EF4-FFF2-40B4-BE49-F238E27FC236}">
                <a16:creationId xmlns:a16="http://schemas.microsoft.com/office/drawing/2014/main" id="{F1057329-9551-7A6D-6511-37ACD3069EB7}"/>
              </a:ext>
            </a:extLst>
          </p:cNvPr>
          <p:cNvSpPr>
            <a:spLocks noGrp="1"/>
          </p:cNvSpPr>
          <p:nvPr>
            <p:ph type="dt" sz="half" idx="10"/>
          </p:nvPr>
        </p:nvSpPr>
        <p:spPr/>
        <p:txBody>
          <a:bodyPr/>
          <a:lstStyle/>
          <a:p>
            <a:fld id="{01D09F9A-9089-6443-AB94-B837FAF2A1B8}" type="datetimeFigureOut">
              <a:rPr lang="en-RU" smtClean="0"/>
              <a:t>4/5/25</a:t>
            </a:fld>
            <a:endParaRPr lang="en-RU"/>
          </a:p>
        </p:txBody>
      </p:sp>
      <p:sp>
        <p:nvSpPr>
          <p:cNvPr id="8" name="Footer Placeholder 7">
            <a:extLst>
              <a:ext uri="{FF2B5EF4-FFF2-40B4-BE49-F238E27FC236}">
                <a16:creationId xmlns:a16="http://schemas.microsoft.com/office/drawing/2014/main" id="{3C89C973-5BDE-16BA-F256-A58EE29FEBFE}"/>
              </a:ext>
            </a:extLst>
          </p:cNvPr>
          <p:cNvSpPr>
            <a:spLocks noGrp="1"/>
          </p:cNvSpPr>
          <p:nvPr>
            <p:ph type="ftr" sz="quarter" idx="11"/>
          </p:nvPr>
        </p:nvSpPr>
        <p:spPr/>
        <p:txBody>
          <a:bodyPr/>
          <a:lstStyle/>
          <a:p>
            <a:endParaRPr lang="en-RU"/>
          </a:p>
        </p:txBody>
      </p:sp>
      <p:sp>
        <p:nvSpPr>
          <p:cNvPr id="9" name="Slide Number Placeholder 8">
            <a:extLst>
              <a:ext uri="{FF2B5EF4-FFF2-40B4-BE49-F238E27FC236}">
                <a16:creationId xmlns:a16="http://schemas.microsoft.com/office/drawing/2014/main" id="{02C3D7A0-3E26-EC14-CBB6-F3268903A5C3}"/>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190469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F89AE-E204-0602-EE0E-36729B818F06}"/>
              </a:ext>
            </a:extLst>
          </p:cNvPr>
          <p:cNvSpPr>
            <a:spLocks noGrp="1"/>
          </p:cNvSpPr>
          <p:nvPr>
            <p:ph type="title"/>
          </p:nvPr>
        </p:nvSpPr>
        <p:spPr/>
        <p:txBody>
          <a:bodyPr/>
          <a:lstStyle/>
          <a:p>
            <a:r>
              <a:rPr lang="en-GB"/>
              <a:t>Click to edit Master title style</a:t>
            </a:r>
            <a:endParaRPr lang="en-RU"/>
          </a:p>
        </p:txBody>
      </p:sp>
      <p:sp>
        <p:nvSpPr>
          <p:cNvPr id="3" name="Date Placeholder 2">
            <a:extLst>
              <a:ext uri="{FF2B5EF4-FFF2-40B4-BE49-F238E27FC236}">
                <a16:creationId xmlns:a16="http://schemas.microsoft.com/office/drawing/2014/main" id="{F3F2D9B9-9F00-2B3A-ACC9-669C3CFCFF0E}"/>
              </a:ext>
            </a:extLst>
          </p:cNvPr>
          <p:cNvSpPr>
            <a:spLocks noGrp="1"/>
          </p:cNvSpPr>
          <p:nvPr>
            <p:ph type="dt" sz="half" idx="10"/>
          </p:nvPr>
        </p:nvSpPr>
        <p:spPr/>
        <p:txBody>
          <a:bodyPr/>
          <a:lstStyle/>
          <a:p>
            <a:fld id="{01D09F9A-9089-6443-AB94-B837FAF2A1B8}" type="datetimeFigureOut">
              <a:rPr lang="en-RU" smtClean="0"/>
              <a:t>4/5/25</a:t>
            </a:fld>
            <a:endParaRPr lang="en-RU"/>
          </a:p>
        </p:txBody>
      </p:sp>
      <p:sp>
        <p:nvSpPr>
          <p:cNvPr id="4" name="Footer Placeholder 3">
            <a:extLst>
              <a:ext uri="{FF2B5EF4-FFF2-40B4-BE49-F238E27FC236}">
                <a16:creationId xmlns:a16="http://schemas.microsoft.com/office/drawing/2014/main" id="{E9B13B9E-D8DD-F047-3CB7-A3EE6FFDB302}"/>
              </a:ext>
            </a:extLst>
          </p:cNvPr>
          <p:cNvSpPr>
            <a:spLocks noGrp="1"/>
          </p:cNvSpPr>
          <p:nvPr>
            <p:ph type="ftr" sz="quarter" idx="11"/>
          </p:nvPr>
        </p:nvSpPr>
        <p:spPr/>
        <p:txBody>
          <a:bodyPr/>
          <a:lstStyle/>
          <a:p>
            <a:endParaRPr lang="en-RU"/>
          </a:p>
        </p:txBody>
      </p:sp>
      <p:sp>
        <p:nvSpPr>
          <p:cNvPr id="5" name="Slide Number Placeholder 4">
            <a:extLst>
              <a:ext uri="{FF2B5EF4-FFF2-40B4-BE49-F238E27FC236}">
                <a16:creationId xmlns:a16="http://schemas.microsoft.com/office/drawing/2014/main" id="{8ED6AAEE-F519-7D64-2DCF-BED1ACC48BE4}"/>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731635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CB32BC-0579-61F2-DD3B-3B2C455490F3}"/>
              </a:ext>
            </a:extLst>
          </p:cNvPr>
          <p:cNvSpPr>
            <a:spLocks noGrp="1"/>
          </p:cNvSpPr>
          <p:nvPr>
            <p:ph type="dt" sz="half" idx="10"/>
          </p:nvPr>
        </p:nvSpPr>
        <p:spPr/>
        <p:txBody>
          <a:bodyPr/>
          <a:lstStyle/>
          <a:p>
            <a:fld id="{01D09F9A-9089-6443-AB94-B837FAF2A1B8}" type="datetimeFigureOut">
              <a:rPr lang="en-RU" smtClean="0"/>
              <a:t>4/5/25</a:t>
            </a:fld>
            <a:endParaRPr lang="en-RU"/>
          </a:p>
        </p:txBody>
      </p:sp>
      <p:sp>
        <p:nvSpPr>
          <p:cNvPr id="3" name="Footer Placeholder 2">
            <a:extLst>
              <a:ext uri="{FF2B5EF4-FFF2-40B4-BE49-F238E27FC236}">
                <a16:creationId xmlns:a16="http://schemas.microsoft.com/office/drawing/2014/main" id="{4E5618E5-9A28-57BA-FE28-DF7D0C45FC03}"/>
              </a:ext>
            </a:extLst>
          </p:cNvPr>
          <p:cNvSpPr>
            <a:spLocks noGrp="1"/>
          </p:cNvSpPr>
          <p:nvPr>
            <p:ph type="ftr" sz="quarter" idx="11"/>
          </p:nvPr>
        </p:nvSpPr>
        <p:spPr/>
        <p:txBody>
          <a:bodyPr/>
          <a:lstStyle/>
          <a:p>
            <a:endParaRPr lang="en-RU"/>
          </a:p>
        </p:txBody>
      </p:sp>
      <p:sp>
        <p:nvSpPr>
          <p:cNvPr id="4" name="Slide Number Placeholder 3">
            <a:extLst>
              <a:ext uri="{FF2B5EF4-FFF2-40B4-BE49-F238E27FC236}">
                <a16:creationId xmlns:a16="http://schemas.microsoft.com/office/drawing/2014/main" id="{F44A64B8-6B30-C1A0-C9D0-A6FA59F6105E}"/>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2151982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45469-D030-525E-398A-A2CEA742E37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RU"/>
          </a:p>
        </p:txBody>
      </p:sp>
      <p:sp>
        <p:nvSpPr>
          <p:cNvPr id="3" name="Content Placeholder 2">
            <a:extLst>
              <a:ext uri="{FF2B5EF4-FFF2-40B4-BE49-F238E27FC236}">
                <a16:creationId xmlns:a16="http://schemas.microsoft.com/office/drawing/2014/main" id="{687FDFFD-5EC5-E5B6-F00C-DF823F7E5D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Text Placeholder 3">
            <a:extLst>
              <a:ext uri="{FF2B5EF4-FFF2-40B4-BE49-F238E27FC236}">
                <a16:creationId xmlns:a16="http://schemas.microsoft.com/office/drawing/2014/main" id="{B8C3AD57-4311-E9F7-1957-9ED7C1BAE7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27FD0CD-9F83-9CE7-8C92-231031447458}"/>
              </a:ext>
            </a:extLst>
          </p:cNvPr>
          <p:cNvSpPr>
            <a:spLocks noGrp="1"/>
          </p:cNvSpPr>
          <p:nvPr>
            <p:ph type="dt" sz="half" idx="10"/>
          </p:nvPr>
        </p:nvSpPr>
        <p:spPr/>
        <p:txBody>
          <a:bodyPr/>
          <a:lstStyle/>
          <a:p>
            <a:fld id="{01D09F9A-9089-6443-AB94-B837FAF2A1B8}" type="datetimeFigureOut">
              <a:rPr lang="en-RU" smtClean="0"/>
              <a:t>4/5/25</a:t>
            </a:fld>
            <a:endParaRPr lang="en-RU"/>
          </a:p>
        </p:txBody>
      </p:sp>
      <p:sp>
        <p:nvSpPr>
          <p:cNvPr id="6" name="Footer Placeholder 5">
            <a:extLst>
              <a:ext uri="{FF2B5EF4-FFF2-40B4-BE49-F238E27FC236}">
                <a16:creationId xmlns:a16="http://schemas.microsoft.com/office/drawing/2014/main" id="{81875AAE-8A99-3DCB-C383-8E4121979BEB}"/>
              </a:ext>
            </a:extLst>
          </p:cNvPr>
          <p:cNvSpPr>
            <a:spLocks noGrp="1"/>
          </p:cNvSpPr>
          <p:nvPr>
            <p:ph type="ftr" sz="quarter" idx="11"/>
          </p:nvPr>
        </p:nvSpPr>
        <p:spPr/>
        <p:txBody>
          <a:bodyPr/>
          <a:lstStyle/>
          <a:p>
            <a:endParaRPr lang="en-RU"/>
          </a:p>
        </p:txBody>
      </p:sp>
      <p:sp>
        <p:nvSpPr>
          <p:cNvPr id="7" name="Slide Number Placeholder 6">
            <a:extLst>
              <a:ext uri="{FF2B5EF4-FFF2-40B4-BE49-F238E27FC236}">
                <a16:creationId xmlns:a16="http://schemas.microsoft.com/office/drawing/2014/main" id="{5EB5F478-B5E5-94EA-A71A-32661849690B}"/>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35238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A60BB-2FD4-92A4-D670-5769964520B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RU"/>
          </a:p>
        </p:txBody>
      </p:sp>
      <p:sp>
        <p:nvSpPr>
          <p:cNvPr id="3" name="Picture Placeholder 2">
            <a:extLst>
              <a:ext uri="{FF2B5EF4-FFF2-40B4-BE49-F238E27FC236}">
                <a16:creationId xmlns:a16="http://schemas.microsoft.com/office/drawing/2014/main" id="{A5FD0873-A45C-7EFB-0C12-22A9D13DEB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RU"/>
          </a:p>
        </p:txBody>
      </p:sp>
      <p:sp>
        <p:nvSpPr>
          <p:cNvPr id="4" name="Text Placeholder 3">
            <a:extLst>
              <a:ext uri="{FF2B5EF4-FFF2-40B4-BE49-F238E27FC236}">
                <a16:creationId xmlns:a16="http://schemas.microsoft.com/office/drawing/2014/main" id="{81BE4438-31E0-31B6-388D-765F1D1893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2D0FF21-AD80-1A5C-7649-8B56090D2248}"/>
              </a:ext>
            </a:extLst>
          </p:cNvPr>
          <p:cNvSpPr>
            <a:spLocks noGrp="1"/>
          </p:cNvSpPr>
          <p:nvPr>
            <p:ph type="dt" sz="half" idx="10"/>
          </p:nvPr>
        </p:nvSpPr>
        <p:spPr/>
        <p:txBody>
          <a:bodyPr/>
          <a:lstStyle/>
          <a:p>
            <a:fld id="{01D09F9A-9089-6443-AB94-B837FAF2A1B8}" type="datetimeFigureOut">
              <a:rPr lang="en-RU" smtClean="0"/>
              <a:t>4/5/25</a:t>
            </a:fld>
            <a:endParaRPr lang="en-RU"/>
          </a:p>
        </p:txBody>
      </p:sp>
      <p:sp>
        <p:nvSpPr>
          <p:cNvPr id="6" name="Footer Placeholder 5">
            <a:extLst>
              <a:ext uri="{FF2B5EF4-FFF2-40B4-BE49-F238E27FC236}">
                <a16:creationId xmlns:a16="http://schemas.microsoft.com/office/drawing/2014/main" id="{829876FE-95AA-4A75-5D84-2C3FB01D26F0}"/>
              </a:ext>
            </a:extLst>
          </p:cNvPr>
          <p:cNvSpPr>
            <a:spLocks noGrp="1"/>
          </p:cNvSpPr>
          <p:nvPr>
            <p:ph type="ftr" sz="quarter" idx="11"/>
          </p:nvPr>
        </p:nvSpPr>
        <p:spPr/>
        <p:txBody>
          <a:bodyPr/>
          <a:lstStyle/>
          <a:p>
            <a:endParaRPr lang="en-RU"/>
          </a:p>
        </p:txBody>
      </p:sp>
      <p:sp>
        <p:nvSpPr>
          <p:cNvPr id="7" name="Slide Number Placeholder 6">
            <a:extLst>
              <a:ext uri="{FF2B5EF4-FFF2-40B4-BE49-F238E27FC236}">
                <a16:creationId xmlns:a16="http://schemas.microsoft.com/office/drawing/2014/main" id="{18EAD267-F868-60EA-EEE2-1005DE4A57E3}"/>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1795777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45003-A5EA-3A1F-3C44-FD9D0D54A85C}"/>
              </a:ext>
            </a:extLst>
          </p:cNvPr>
          <p:cNvSpPr>
            <a:spLocks noGrp="1"/>
          </p:cNvSpPr>
          <p:nvPr>
            <p:ph type="title"/>
          </p:nvPr>
        </p:nvSpPr>
        <p:spPr/>
        <p:txBody>
          <a:bodyPr/>
          <a:lstStyle/>
          <a:p>
            <a:r>
              <a:rPr lang="en-GB"/>
              <a:t>Click to edit Master title style</a:t>
            </a:r>
            <a:endParaRPr lang="en-RU"/>
          </a:p>
        </p:txBody>
      </p:sp>
      <p:sp>
        <p:nvSpPr>
          <p:cNvPr id="3" name="Vertical Text Placeholder 2">
            <a:extLst>
              <a:ext uri="{FF2B5EF4-FFF2-40B4-BE49-F238E27FC236}">
                <a16:creationId xmlns:a16="http://schemas.microsoft.com/office/drawing/2014/main" id="{63F9472B-17F4-7DD9-AE2D-40CD0F27B16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1E287EC1-4DB8-FBDC-8616-DE4339F8DDCF}"/>
              </a:ext>
            </a:extLst>
          </p:cNvPr>
          <p:cNvSpPr>
            <a:spLocks noGrp="1"/>
          </p:cNvSpPr>
          <p:nvPr>
            <p:ph type="dt" sz="half" idx="10"/>
          </p:nvPr>
        </p:nvSpPr>
        <p:spPr/>
        <p:txBody>
          <a:bodyPr/>
          <a:lstStyle/>
          <a:p>
            <a:fld id="{01D09F9A-9089-6443-AB94-B837FAF2A1B8}" type="datetimeFigureOut">
              <a:rPr lang="en-RU" smtClean="0"/>
              <a:t>4/5/25</a:t>
            </a:fld>
            <a:endParaRPr lang="en-RU"/>
          </a:p>
        </p:txBody>
      </p:sp>
      <p:sp>
        <p:nvSpPr>
          <p:cNvPr id="5" name="Footer Placeholder 4">
            <a:extLst>
              <a:ext uri="{FF2B5EF4-FFF2-40B4-BE49-F238E27FC236}">
                <a16:creationId xmlns:a16="http://schemas.microsoft.com/office/drawing/2014/main" id="{42B68F33-155A-3ECF-4082-1BD00AA39A9C}"/>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02155CD0-4FF1-2FA3-1170-55802F200B35}"/>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864331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6129C9-7189-7D9F-EB10-0415D7D9189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RU"/>
          </a:p>
        </p:txBody>
      </p:sp>
      <p:sp>
        <p:nvSpPr>
          <p:cNvPr id="3" name="Vertical Text Placeholder 2">
            <a:extLst>
              <a:ext uri="{FF2B5EF4-FFF2-40B4-BE49-F238E27FC236}">
                <a16:creationId xmlns:a16="http://schemas.microsoft.com/office/drawing/2014/main" id="{89560134-2FD2-482E-0B30-B952BD29009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41449905-A601-1B1D-1CFF-B0B0B2B6352D}"/>
              </a:ext>
            </a:extLst>
          </p:cNvPr>
          <p:cNvSpPr>
            <a:spLocks noGrp="1"/>
          </p:cNvSpPr>
          <p:nvPr>
            <p:ph type="dt" sz="half" idx="10"/>
          </p:nvPr>
        </p:nvSpPr>
        <p:spPr/>
        <p:txBody>
          <a:bodyPr/>
          <a:lstStyle/>
          <a:p>
            <a:fld id="{01D09F9A-9089-6443-AB94-B837FAF2A1B8}" type="datetimeFigureOut">
              <a:rPr lang="en-RU" smtClean="0"/>
              <a:t>4/5/25</a:t>
            </a:fld>
            <a:endParaRPr lang="en-RU"/>
          </a:p>
        </p:txBody>
      </p:sp>
      <p:sp>
        <p:nvSpPr>
          <p:cNvPr id="5" name="Footer Placeholder 4">
            <a:extLst>
              <a:ext uri="{FF2B5EF4-FFF2-40B4-BE49-F238E27FC236}">
                <a16:creationId xmlns:a16="http://schemas.microsoft.com/office/drawing/2014/main" id="{6877242A-D017-3F10-1D14-DB9A0F7F225E}"/>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5B783465-DCAF-CF68-315D-78C0BCD44A3E}"/>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923270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1C80FC-BAC1-F498-988F-9C4014E55A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RU"/>
          </a:p>
        </p:txBody>
      </p:sp>
      <p:sp>
        <p:nvSpPr>
          <p:cNvPr id="3" name="Text Placeholder 2">
            <a:extLst>
              <a:ext uri="{FF2B5EF4-FFF2-40B4-BE49-F238E27FC236}">
                <a16:creationId xmlns:a16="http://schemas.microsoft.com/office/drawing/2014/main" id="{B369409C-0B98-DB5F-09D9-5046605031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8D55715A-752D-A969-3F1D-DDAF7477BE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D09F9A-9089-6443-AB94-B837FAF2A1B8}" type="datetimeFigureOut">
              <a:rPr lang="en-RU" smtClean="0"/>
              <a:t>4/5/25</a:t>
            </a:fld>
            <a:endParaRPr lang="en-RU"/>
          </a:p>
        </p:txBody>
      </p:sp>
      <p:sp>
        <p:nvSpPr>
          <p:cNvPr id="5" name="Footer Placeholder 4">
            <a:extLst>
              <a:ext uri="{FF2B5EF4-FFF2-40B4-BE49-F238E27FC236}">
                <a16:creationId xmlns:a16="http://schemas.microsoft.com/office/drawing/2014/main" id="{1DD840E3-49BB-945C-FC4C-A2C1130A8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RU"/>
          </a:p>
        </p:txBody>
      </p:sp>
      <p:sp>
        <p:nvSpPr>
          <p:cNvPr id="6" name="Slide Number Placeholder 5">
            <a:extLst>
              <a:ext uri="{FF2B5EF4-FFF2-40B4-BE49-F238E27FC236}">
                <a16:creationId xmlns:a16="http://schemas.microsoft.com/office/drawing/2014/main" id="{680FE91F-DBFB-B16A-DC91-10DA18B676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6FFFA5-7565-224F-B0A0-BC25F36D181C}" type="slidenum">
              <a:rPr lang="en-RU" smtClean="0"/>
              <a:t>‹#›</a:t>
            </a:fld>
            <a:endParaRPr lang="en-RU"/>
          </a:p>
        </p:txBody>
      </p:sp>
    </p:spTree>
    <p:extLst>
      <p:ext uri="{BB962C8B-B14F-4D97-AF65-F5344CB8AC3E}">
        <p14:creationId xmlns:p14="http://schemas.microsoft.com/office/powerpoint/2010/main" val="1648612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nature.com/articles/s41597-022-01143-6"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nature.com/articles/s41597-022-01143-6"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nature.com/articles/s41597-022-01143-6"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nature.com/articles/s41597-022-01143-6"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journals.plos.org/plosbiology/article?id=10.1371/journal.pbio.1001745" TargetMode="External"/><Relationship Id="rId2" Type="http://schemas.openxmlformats.org/officeDocument/2006/relationships/hyperlink" Target="https://journals.plos.org/ploscompbiol/article?id=10.1371/journal.pcbi.1005510" TargetMode="External"/><Relationship Id="rId1" Type="http://schemas.openxmlformats.org/officeDocument/2006/relationships/slideLayout" Target="../slideLayouts/slideLayout2.xml"/><Relationship Id="rId5" Type="http://schemas.openxmlformats.org/officeDocument/2006/relationships/hyperlink" Target="https://github.com/rstats-wtf/wtf-2022-rsc" TargetMode="External"/><Relationship Id="rId4" Type="http://schemas.openxmlformats.org/officeDocument/2006/relationships/hyperlink" Target="https://happygitwithr.com/" TargetMode="External"/></Relationships>
</file>

<file path=ppt/slides/_rels/slide7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CB83D-7A21-B03C-7AD4-CFE6AC70AC07}"/>
              </a:ext>
            </a:extLst>
          </p:cNvPr>
          <p:cNvSpPr>
            <a:spLocks noGrp="1"/>
          </p:cNvSpPr>
          <p:nvPr>
            <p:ph type="ctrTitle"/>
          </p:nvPr>
        </p:nvSpPr>
        <p:spPr/>
        <p:txBody>
          <a:bodyPr>
            <a:normAutofit fontScale="90000"/>
          </a:bodyPr>
          <a:lstStyle/>
          <a:p>
            <a:r>
              <a:rPr lang="ru-RU" b="0" dirty="0">
                <a:solidFill>
                  <a:srgbClr val="333333"/>
                </a:solidFill>
                <a:effectLst/>
              </a:rPr>
              <a:t>Принципы воспроизводимого анализа данных</a:t>
            </a:r>
            <a:endParaRPr lang="en-RU" dirty="0"/>
          </a:p>
        </p:txBody>
      </p:sp>
      <p:sp>
        <p:nvSpPr>
          <p:cNvPr id="3" name="Subtitle 2">
            <a:extLst>
              <a:ext uri="{FF2B5EF4-FFF2-40B4-BE49-F238E27FC236}">
                <a16:creationId xmlns:a16="http://schemas.microsoft.com/office/drawing/2014/main" id="{7F601DEA-0D10-7D5A-AAAC-74FDA712DA4B}"/>
              </a:ext>
            </a:extLst>
          </p:cNvPr>
          <p:cNvSpPr>
            <a:spLocks noGrp="1"/>
          </p:cNvSpPr>
          <p:nvPr>
            <p:ph type="subTitle" idx="1"/>
          </p:nvPr>
        </p:nvSpPr>
        <p:spPr>
          <a:xfrm>
            <a:off x="1308340" y="4369789"/>
            <a:ext cx="9144000" cy="1655762"/>
          </a:xfrm>
        </p:spPr>
        <p:txBody>
          <a:bodyPr/>
          <a:lstStyle/>
          <a:p>
            <a:r>
              <a:rPr lang="en-GB" dirty="0"/>
              <a:t>Kirill Voronin &lt;</a:t>
            </a:r>
            <a:r>
              <a:rPr lang="en-GB" dirty="0" err="1"/>
              <a:t>imvoroninkir@gmail.com</a:t>
            </a:r>
            <a:r>
              <a:rPr lang="en-GB" dirty="0"/>
              <a:t>&gt;</a:t>
            </a:r>
          </a:p>
        </p:txBody>
      </p:sp>
    </p:spTree>
    <p:extLst>
      <p:ext uri="{BB962C8B-B14F-4D97-AF65-F5344CB8AC3E}">
        <p14:creationId xmlns:p14="http://schemas.microsoft.com/office/powerpoint/2010/main" val="577639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849A5-D8D8-D051-3732-5F3E00B81278}"/>
              </a:ext>
            </a:extLst>
          </p:cNvPr>
          <p:cNvSpPr>
            <a:spLocks noGrp="1"/>
          </p:cNvSpPr>
          <p:nvPr>
            <p:ph type="title"/>
          </p:nvPr>
        </p:nvSpPr>
        <p:spPr/>
        <p:txBody>
          <a:bodyPr/>
          <a:lstStyle/>
          <a:p>
            <a:r>
              <a:rPr lang="ru-RU" dirty="0"/>
              <a:t>План</a:t>
            </a:r>
            <a:endParaRPr lang="en-RU" dirty="0"/>
          </a:p>
        </p:txBody>
      </p:sp>
      <p:sp>
        <p:nvSpPr>
          <p:cNvPr id="3" name="Content Placeholder 2">
            <a:extLst>
              <a:ext uri="{FF2B5EF4-FFF2-40B4-BE49-F238E27FC236}">
                <a16:creationId xmlns:a16="http://schemas.microsoft.com/office/drawing/2014/main" id="{27B7DCFD-51F8-722F-FCB1-1AAB861D4AFE}"/>
              </a:ext>
            </a:extLst>
          </p:cNvPr>
          <p:cNvSpPr>
            <a:spLocks noGrp="1"/>
          </p:cNvSpPr>
          <p:nvPr>
            <p:ph idx="1"/>
          </p:nvPr>
        </p:nvSpPr>
        <p:spPr>
          <a:xfrm>
            <a:off x="838200" y="1446835"/>
            <a:ext cx="10515600" cy="4730128"/>
          </a:xfrm>
        </p:spPr>
        <p:txBody>
          <a:bodyPr>
            <a:normAutofit lnSpcReduction="10000"/>
          </a:bodyPr>
          <a:lstStyle/>
          <a:p>
            <a:r>
              <a:rPr lang="ru-RU" dirty="0">
                <a:cs typeface="Calibri" panose="020F0502020204030204" pitchFamily="34" charset="0"/>
              </a:rPr>
              <a:t>Основные проблемы и </a:t>
            </a:r>
            <a:r>
              <a:rPr lang="en-US" dirty="0">
                <a:cs typeface="Calibri" panose="020F0502020204030204" pitchFamily="34" charset="0"/>
              </a:rPr>
              <a:t>best practices</a:t>
            </a:r>
          </a:p>
          <a:p>
            <a:r>
              <a:rPr lang="ru-RU" dirty="0">
                <a:cs typeface="Calibri" panose="020F0502020204030204" pitchFamily="34" charset="0"/>
              </a:rPr>
              <a:t>Установка пакетов через </a:t>
            </a:r>
            <a:r>
              <a:rPr lang="en-US" dirty="0" err="1">
                <a:ea typeface="Fira Code" pitchFamily="49" charset="0"/>
                <a:cs typeface="Fira Code" pitchFamily="49" charset="0"/>
              </a:rPr>
              <a:t>renv</a:t>
            </a:r>
            <a:endParaRPr lang="ru-RU" dirty="0">
              <a:ea typeface="Fira Code" pitchFamily="49" charset="0"/>
              <a:cs typeface="Fira Code" pitchFamily="49" charset="0"/>
            </a:endParaRPr>
          </a:p>
          <a:p>
            <a:r>
              <a:rPr lang="ru-RU" dirty="0"/>
              <a:t>Проверки (</a:t>
            </a:r>
            <a:r>
              <a:rPr lang="en-US" dirty="0"/>
              <a:t>assert)</a:t>
            </a:r>
            <a:endParaRPr lang="ru-RU" dirty="0"/>
          </a:p>
          <a:p>
            <a:r>
              <a:rPr lang="ru-RU" dirty="0"/>
              <a:t>Контроль версий при помощи </a:t>
            </a:r>
            <a:r>
              <a:rPr lang="en-GB" dirty="0">
                <a:ea typeface="Fira Code" pitchFamily="49" charset="0"/>
                <a:cs typeface="Fira Code" pitchFamily="49" charset="0"/>
              </a:rPr>
              <a:t>Git</a:t>
            </a:r>
            <a:endParaRPr lang="ru-RU" dirty="0">
              <a:ea typeface="Fira Code" pitchFamily="49" charset="0"/>
              <a:cs typeface="Fira Code" pitchFamily="49" charset="0"/>
            </a:endParaRPr>
          </a:p>
          <a:p>
            <a:endParaRPr lang="en-GB" dirty="0">
              <a:latin typeface="Monaco" pitchFamily="2" charset="77"/>
            </a:endParaRPr>
          </a:p>
          <a:p>
            <a:r>
              <a:rPr lang="ru-RU" dirty="0"/>
              <a:t>Создадим проект</a:t>
            </a:r>
            <a:r>
              <a:rPr lang="en-US" dirty="0"/>
              <a:t> </a:t>
            </a:r>
            <a:r>
              <a:rPr lang="ru-RU" dirty="0"/>
              <a:t>используя </a:t>
            </a:r>
            <a:r>
              <a:rPr lang="en-US" dirty="0"/>
              <a:t>Git </a:t>
            </a:r>
            <a:r>
              <a:rPr lang="ru-RU" dirty="0"/>
              <a:t>и </a:t>
            </a:r>
            <a:r>
              <a:rPr lang="en-US" dirty="0" err="1"/>
              <a:t>renv</a:t>
            </a:r>
            <a:endParaRPr lang="en-US" dirty="0"/>
          </a:p>
          <a:p>
            <a:pPr lvl="1"/>
            <a:r>
              <a:rPr lang="ru-RU" dirty="0"/>
              <a:t>Повторяемый </a:t>
            </a:r>
            <a:r>
              <a:rPr lang="en-US" dirty="0" err="1"/>
              <a:t>Rmarkdown</a:t>
            </a:r>
            <a:endParaRPr lang="en-US" dirty="0"/>
          </a:p>
          <a:p>
            <a:pPr lvl="1"/>
            <a:r>
              <a:rPr lang="ru-RU" dirty="0"/>
              <a:t>Топ фильмов </a:t>
            </a:r>
            <a:r>
              <a:rPr lang="en-US" dirty="0"/>
              <a:t>IMDB</a:t>
            </a:r>
            <a:endParaRPr lang="ru-RU" dirty="0"/>
          </a:p>
          <a:p>
            <a:r>
              <a:rPr lang="ru-RU" dirty="0"/>
              <a:t>Запушим на </a:t>
            </a:r>
            <a:r>
              <a:rPr lang="en-GB" dirty="0"/>
              <a:t>GitHub</a:t>
            </a:r>
          </a:p>
          <a:p>
            <a:r>
              <a:rPr lang="ru-RU" dirty="0"/>
              <a:t>Поработаем вместе используя </a:t>
            </a:r>
            <a:r>
              <a:rPr lang="en-US" dirty="0"/>
              <a:t>GitHub </a:t>
            </a:r>
            <a:r>
              <a:rPr lang="en-GB" dirty="0"/>
              <a:t>pull request</a:t>
            </a:r>
            <a:r>
              <a:rPr lang="ru-RU" dirty="0"/>
              <a:t> (</a:t>
            </a:r>
            <a:r>
              <a:rPr lang="en-GB" dirty="0"/>
              <a:t>PR)</a:t>
            </a:r>
          </a:p>
        </p:txBody>
      </p:sp>
    </p:spTree>
    <p:extLst>
      <p:ext uri="{BB962C8B-B14F-4D97-AF65-F5344CB8AC3E}">
        <p14:creationId xmlns:p14="http://schemas.microsoft.com/office/powerpoint/2010/main" val="1573435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A03A2-D222-0865-E2D1-632551943EB7}"/>
              </a:ext>
            </a:extLst>
          </p:cNvPr>
          <p:cNvSpPr>
            <a:spLocks noGrp="1"/>
          </p:cNvSpPr>
          <p:nvPr>
            <p:ph type="title"/>
          </p:nvPr>
        </p:nvSpPr>
        <p:spPr/>
        <p:txBody>
          <a:bodyPr/>
          <a:lstStyle/>
          <a:p>
            <a:r>
              <a:rPr lang="ru-RU" dirty="0"/>
              <a:t>Воспроизводимость</a:t>
            </a:r>
            <a:endParaRPr lang="en-US" dirty="0"/>
          </a:p>
        </p:txBody>
      </p:sp>
      <p:pic>
        <p:nvPicPr>
          <p:cNvPr id="1026" name="Picture 2" descr="Fig. 8">
            <a:extLst>
              <a:ext uri="{FF2B5EF4-FFF2-40B4-BE49-F238E27FC236}">
                <a16:creationId xmlns:a16="http://schemas.microsoft.com/office/drawing/2014/main" id="{2D84AF97-C589-06B0-CFAA-EA336A7DCA0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63786"/>
            <a:ext cx="7261139" cy="40856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2BC9D6B-CFA5-7F07-10B5-F538992E5A6A}"/>
              </a:ext>
            </a:extLst>
          </p:cNvPr>
          <p:cNvSpPr txBox="1"/>
          <p:nvPr/>
        </p:nvSpPr>
        <p:spPr>
          <a:xfrm>
            <a:off x="838200" y="6122485"/>
            <a:ext cx="10863805" cy="646331"/>
          </a:xfrm>
          <a:prstGeom prst="rect">
            <a:avLst/>
          </a:prstGeom>
          <a:noFill/>
        </p:spPr>
        <p:txBody>
          <a:bodyPr wrap="square" rtlCol="0">
            <a:spAutoFit/>
          </a:bodyPr>
          <a:lstStyle/>
          <a:p>
            <a:r>
              <a:rPr lang="en-US" dirty="0">
                <a:hlinkClick r:id="rId3"/>
              </a:rPr>
              <a:t>Trisovic, A., Lau, M.K., Pasquier, T. </a:t>
            </a:r>
            <a:r>
              <a:rPr lang="en-US" i="1" dirty="0">
                <a:hlinkClick r:id="rId3"/>
              </a:rPr>
              <a:t>et al.</a:t>
            </a:r>
            <a:r>
              <a:rPr lang="en-US" dirty="0">
                <a:hlinkClick r:id="rId3"/>
              </a:rPr>
              <a:t> A large-scale study on research code quality and execution. </a:t>
            </a:r>
            <a:r>
              <a:rPr lang="en-US" i="1" dirty="0">
                <a:hlinkClick r:id="rId3"/>
              </a:rPr>
              <a:t>Sci Data</a:t>
            </a:r>
            <a:r>
              <a:rPr lang="en-US" dirty="0">
                <a:hlinkClick r:id="rId3"/>
              </a:rPr>
              <a:t> </a:t>
            </a:r>
            <a:r>
              <a:rPr lang="en-US" b="1" dirty="0">
                <a:hlinkClick r:id="rId3"/>
              </a:rPr>
              <a:t>9</a:t>
            </a:r>
            <a:r>
              <a:rPr lang="en-US" dirty="0">
                <a:hlinkClick r:id="rId3"/>
              </a:rPr>
              <a:t>, 60 (2022). https://</a:t>
            </a:r>
            <a:r>
              <a:rPr lang="en-US" dirty="0" err="1">
                <a:hlinkClick r:id="rId3"/>
              </a:rPr>
              <a:t>doi.org</a:t>
            </a:r>
            <a:r>
              <a:rPr lang="en-US" dirty="0">
                <a:hlinkClick r:id="rId3"/>
              </a:rPr>
              <a:t>/10.1038/s41597-022-01143-6</a:t>
            </a:r>
            <a:endParaRPr lang="en-US" dirty="0"/>
          </a:p>
        </p:txBody>
      </p:sp>
      <p:sp>
        <p:nvSpPr>
          <p:cNvPr id="6" name="TextBox 5">
            <a:extLst>
              <a:ext uri="{FF2B5EF4-FFF2-40B4-BE49-F238E27FC236}">
                <a16:creationId xmlns:a16="http://schemas.microsoft.com/office/drawing/2014/main" id="{AFD41C97-64E2-2E08-27CC-A0D96989C5F1}"/>
              </a:ext>
            </a:extLst>
          </p:cNvPr>
          <p:cNvSpPr txBox="1"/>
          <p:nvPr/>
        </p:nvSpPr>
        <p:spPr>
          <a:xfrm>
            <a:off x="8556539" y="2013760"/>
            <a:ext cx="3417218" cy="954107"/>
          </a:xfrm>
          <a:prstGeom prst="rect">
            <a:avLst/>
          </a:prstGeom>
          <a:noFill/>
        </p:spPr>
        <p:txBody>
          <a:bodyPr wrap="none" rtlCol="0">
            <a:spAutoFit/>
          </a:bodyPr>
          <a:lstStyle/>
          <a:p>
            <a:r>
              <a:rPr lang="ru-RU" sz="2800" dirty="0">
                <a:solidFill>
                  <a:srgbClr val="C00000"/>
                </a:solidFill>
              </a:rPr>
              <a:t>47%</a:t>
            </a:r>
            <a:endParaRPr lang="en-US" sz="2800" dirty="0">
              <a:solidFill>
                <a:srgbClr val="C00000"/>
              </a:solidFill>
            </a:endParaRPr>
          </a:p>
          <a:p>
            <a:r>
              <a:rPr lang="ru-RU" sz="2800" dirty="0">
                <a:solidFill>
                  <a:srgbClr val="C00000"/>
                </a:solidFill>
              </a:rPr>
              <a:t>на самом деле ниже</a:t>
            </a:r>
            <a:endParaRPr lang="en-US" sz="2800" dirty="0">
              <a:solidFill>
                <a:srgbClr val="C00000"/>
              </a:solidFill>
            </a:endParaRPr>
          </a:p>
        </p:txBody>
      </p:sp>
      <p:sp>
        <p:nvSpPr>
          <p:cNvPr id="7" name="TextBox 6">
            <a:extLst>
              <a:ext uri="{FF2B5EF4-FFF2-40B4-BE49-F238E27FC236}">
                <a16:creationId xmlns:a16="http://schemas.microsoft.com/office/drawing/2014/main" id="{02E0AF9F-26E2-73FF-989D-A3B54B71D907}"/>
              </a:ext>
            </a:extLst>
          </p:cNvPr>
          <p:cNvSpPr txBox="1"/>
          <p:nvPr/>
        </p:nvSpPr>
        <p:spPr>
          <a:xfrm>
            <a:off x="838200" y="1644428"/>
            <a:ext cx="2929520" cy="369332"/>
          </a:xfrm>
          <a:prstGeom prst="rect">
            <a:avLst/>
          </a:prstGeom>
          <a:noFill/>
        </p:spPr>
        <p:txBody>
          <a:bodyPr wrap="none" rtlCol="0">
            <a:spAutoFit/>
          </a:bodyPr>
          <a:lstStyle/>
          <a:p>
            <a:r>
              <a:rPr lang="en-US" dirty="0"/>
              <a:t>Harvard Dataverse repository</a:t>
            </a:r>
          </a:p>
        </p:txBody>
      </p:sp>
    </p:spTree>
    <p:extLst>
      <p:ext uri="{BB962C8B-B14F-4D97-AF65-F5344CB8AC3E}">
        <p14:creationId xmlns:p14="http://schemas.microsoft.com/office/powerpoint/2010/main" val="521270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31992-EE14-63AB-348C-832E44C925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876447-92EC-73E2-51F7-D236DE706B4F}"/>
              </a:ext>
            </a:extLst>
          </p:cNvPr>
          <p:cNvSpPr>
            <a:spLocks noGrp="1"/>
          </p:cNvSpPr>
          <p:nvPr>
            <p:ph type="title"/>
          </p:nvPr>
        </p:nvSpPr>
        <p:spPr/>
        <p:txBody>
          <a:bodyPr/>
          <a:lstStyle/>
          <a:p>
            <a:r>
              <a:rPr lang="ru-RU" dirty="0"/>
              <a:t>Относительные пути</a:t>
            </a:r>
            <a:endParaRPr lang="en-US" dirty="0"/>
          </a:p>
        </p:txBody>
      </p:sp>
      <p:sp>
        <p:nvSpPr>
          <p:cNvPr id="3" name="Content Placeholder 2">
            <a:extLst>
              <a:ext uri="{FF2B5EF4-FFF2-40B4-BE49-F238E27FC236}">
                <a16:creationId xmlns:a16="http://schemas.microsoft.com/office/drawing/2014/main" id="{5D85A489-90A3-D022-C9B2-302E97503821}"/>
              </a:ext>
            </a:extLst>
          </p:cNvPr>
          <p:cNvSpPr>
            <a:spLocks noGrp="1"/>
          </p:cNvSpPr>
          <p:nvPr>
            <p:ph idx="1"/>
          </p:nvPr>
        </p:nvSpPr>
        <p:spPr/>
        <p:txBody>
          <a:bodyPr/>
          <a:lstStyle/>
          <a:p>
            <a:pPr marL="0" indent="0">
              <a:buNone/>
            </a:pPr>
            <a:r>
              <a:rPr lang="en-US" sz="2000" dirty="0" err="1">
                <a:solidFill>
                  <a:srgbClr val="C00000"/>
                </a:solidFill>
                <a:latin typeface="Fira Code" pitchFamily="49" charset="0"/>
                <a:ea typeface="Fira Code" pitchFamily="49" charset="0"/>
                <a:cs typeface="Fira Code" pitchFamily="49" charset="0"/>
              </a:rPr>
              <a:t>read.csv</a:t>
            </a:r>
            <a:r>
              <a:rPr lang="en-US" sz="2000" dirty="0">
                <a:solidFill>
                  <a:srgbClr val="C00000"/>
                </a:solidFill>
                <a:latin typeface="Fira Code" pitchFamily="49" charset="0"/>
                <a:ea typeface="Fira Code" pitchFamily="49" charset="0"/>
                <a:cs typeface="Fira Code" pitchFamily="49" charset="0"/>
              </a:rPr>
              <a:t>("C</a:t>
            </a:r>
            <a:r>
              <a:rPr lang="en-US" sz="2000" dirty="0">
                <a:solidFill>
                  <a:srgbClr val="C00000"/>
                </a:solidFill>
                <a:latin typeface="Fira Code" pitchFamily="49" charset="0"/>
                <a:ea typeface="Fira Code" pitchFamily="49" charset="0"/>
                <a:cs typeface="Fira Code" pitchFamily="49" charset="0"/>
                <a:sym typeface="Wingdings" pitchFamily="2" charset="2"/>
              </a:rPr>
              <a:t>:\Users\Nastya\Desktop\my-project\data\</a:t>
            </a:r>
            <a:r>
              <a:rPr lang="en-US" sz="2000" dirty="0" err="1">
                <a:solidFill>
                  <a:srgbClr val="C00000"/>
                </a:solidFill>
                <a:latin typeface="Fira Code" pitchFamily="49" charset="0"/>
                <a:ea typeface="Fira Code" pitchFamily="49" charset="0"/>
                <a:cs typeface="Fira Code" pitchFamily="49" charset="0"/>
                <a:sym typeface="Wingdings" pitchFamily="2" charset="2"/>
              </a:rPr>
              <a:t>patients.csv</a:t>
            </a:r>
            <a:r>
              <a:rPr lang="en-US" sz="2000" dirty="0">
                <a:solidFill>
                  <a:srgbClr val="C00000"/>
                </a:solidFill>
                <a:latin typeface="Fira Code" pitchFamily="49" charset="0"/>
                <a:ea typeface="Fira Code" pitchFamily="49" charset="0"/>
                <a:cs typeface="Fira Code" pitchFamily="49" charset="0"/>
                <a:sym typeface="Wingdings" pitchFamily="2" charset="2"/>
              </a:rPr>
              <a:t>")</a:t>
            </a:r>
          </a:p>
          <a:p>
            <a:pPr marL="0" indent="0">
              <a:buNone/>
            </a:pPr>
            <a:endParaRPr lang="en-US" sz="2000" dirty="0">
              <a:latin typeface="Fira Code" pitchFamily="49" charset="0"/>
              <a:ea typeface="Fira Code" pitchFamily="49" charset="0"/>
              <a:cs typeface="Fira Code" pitchFamily="49" charset="0"/>
              <a:sym typeface="Wingdings" pitchFamily="2" charset="2"/>
            </a:endParaRPr>
          </a:p>
          <a:p>
            <a:pPr marL="0" indent="0">
              <a:buNone/>
            </a:pPr>
            <a:r>
              <a:rPr lang="en-US" sz="2000" dirty="0" err="1">
                <a:solidFill>
                  <a:srgbClr val="C00000"/>
                </a:solidFill>
                <a:latin typeface="Fira Code" pitchFamily="49" charset="0"/>
                <a:ea typeface="Fira Code" pitchFamily="49" charset="0"/>
                <a:cs typeface="Fira Code" pitchFamily="49" charset="0"/>
                <a:sym typeface="Wingdings" pitchFamily="2" charset="2"/>
              </a:rPr>
              <a:t>setwd</a:t>
            </a:r>
            <a:r>
              <a:rPr lang="en-US" sz="2000" dirty="0">
                <a:solidFill>
                  <a:srgbClr val="C00000"/>
                </a:solidFill>
                <a:latin typeface="Fira Code" pitchFamily="49" charset="0"/>
                <a:ea typeface="Fira Code" pitchFamily="49" charset="0"/>
                <a:cs typeface="Fira Code" pitchFamily="49" charset="0"/>
                <a:sym typeface="Wingdings" pitchFamily="2" charset="2"/>
              </a:rPr>
              <a:t>("</a:t>
            </a:r>
            <a:r>
              <a:rPr lang="en-US" sz="2000" dirty="0">
                <a:solidFill>
                  <a:srgbClr val="C00000"/>
                </a:solidFill>
                <a:latin typeface="Fira Code" pitchFamily="49" charset="0"/>
                <a:ea typeface="Fira Code" pitchFamily="49" charset="0"/>
                <a:cs typeface="Fira Code" pitchFamily="49" charset="0"/>
              </a:rPr>
              <a:t>C</a:t>
            </a:r>
            <a:r>
              <a:rPr lang="en-US" sz="2000" dirty="0">
                <a:solidFill>
                  <a:srgbClr val="C00000"/>
                </a:solidFill>
                <a:latin typeface="Fira Code" pitchFamily="49" charset="0"/>
                <a:ea typeface="Fira Code" pitchFamily="49" charset="0"/>
                <a:cs typeface="Fira Code" pitchFamily="49" charset="0"/>
                <a:sym typeface="Wingdings" pitchFamily="2" charset="2"/>
              </a:rPr>
              <a:t>:\Users\Nastya\Desktop\my-project")</a:t>
            </a:r>
          </a:p>
          <a:p>
            <a:pPr marL="0" indent="0">
              <a:buNone/>
            </a:pPr>
            <a:endParaRPr lang="en-US" sz="2000" dirty="0">
              <a:latin typeface="Fira Code" pitchFamily="49" charset="0"/>
              <a:ea typeface="Fira Code" pitchFamily="49" charset="0"/>
              <a:cs typeface="Fira Code" pitchFamily="49" charset="0"/>
              <a:sym typeface="Wingdings" pitchFamily="2" charset="2"/>
            </a:endParaRPr>
          </a:p>
          <a:p>
            <a:pPr marL="0" indent="0">
              <a:buNone/>
            </a:pPr>
            <a:r>
              <a:rPr lang="en-US" sz="2000" dirty="0" err="1">
                <a:solidFill>
                  <a:schemeClr val="accent6"/>
                </a:solidFill>
                <a:latin typeface="Fira Code" pitchFamily="49" charset="0"/>
                <a:ea typeface="Fira Code" pitchFamily="49" charset="0"/>
                <a:cs typeface="Fira Code" pitchFamily="49" charset="0"/>
                <a:sym typeface="Wingdings" pitchFamily="2" charset="2"/>
              </a:rPr>
              <a:t>read.csv</a:t>
            </a:r>
            <a:r>
              <a:rPr lang="en-US" sz="2000" dirty="0">
                <a:solidFill>
                  <a:schemeClr val="accent6"/>
                </a:solidFill>
                <a:latin typeface="Fira Code" pitchFamily="49" charset="0"/>
                <a:ea typeface="Fira Code" pitchFamily="49" charset="0"/>
                <a:cs typeface="Fira Code" pitchFamily="49" charset="0"/>
                <a:sym typeface="Wingdings" pitchFamily="2" charset="2"/>
              </a:rPr>
              <a:t>("data/</a:t>
            </a:r>
            <a:r>
              <a:rPr lang="en-US" sz="2000" dirty="0" err="1">
                <a:solidFill>
                  <a:schemeClr val="accent6"/>
                </a:solidFill>
                <a:latin typeface="Fira Code" pitchFamily="49" charset="0"/>
                <a:ea typeface="Fira Code" pitchFamily="49" charset="0"/>
                <a:cs typeface="Fira Code" pitchFamily="49" charset="0"/>
                <a:sym typeface="Wingdings" pitchFamily="2" charset="2"/>
              </a:rPr>
              <a:t>patients.csv</a:t>
            </a:r>
            <a:r>
              <a:rPr lang="en-US" sz="2000" dirty="0">
                <a:solidFill>
                  <a:schemeClr val="accent6"/>
                </a:solidFill>
                <a:latin typeface="Fira Code" pitchFamily="49" charset="0"/>
                <a:ea typeface="Fira Code" pitchFamily="49" charset="0"/>
                <a:cs typeface="Fira Code" pitchFamily="49" charset="0"/>
                <a:sym typeface="Wingdings" pitchFamily="2" charset="2"/>
              </a:rPr>
              <a:t>")</a:t>
            </a:r>
          </a:p>
          <a:p>
            <a:pPr marL="0" indent="0">
              <a:buNone/>
            </a:pPr>
            <a:endParaRPr lang="en-US" dirty="0"/>
          </a:p>
        </p:txBody>
      </p:sp>
    </p:spTree>
    <p:extLst>
      <p:ext uri="{BB962C8B-B14F-4D97-AF65-F5344CB8AC3E}">
        <p14:creationId xmlns:p14="http://schemas.microsoft.com/office/powerpoint/2010/main" val="237902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56B4A-D8AE-279D-545A-65BCB4C18EC4}"/>
              </a:ext>
            </a:extLst>
          </p:cNvPr>
          <p:cNvSpPr>
            <a:spLocks noGrp="1"/>
          </p:cNvSpPr>
          <p:nvPr>
            <p:ph type="title"/>
          </p:nvPr>
        </p:nvSpPr>
        <p:spPr/>
        <p:txBody>
          <a:bodyPr/>
          <a:lstStyle/>
          <a:p>
            <a:r>
              <a:rPr lang="ru-RU" dirty="0"/>
              <a:t>Проекты в </a:t>
            </a:r>
            <a:r>
              <a:rPr lang="en-US" dirty="0"/>
              <a:t>RStudio</a:t>
            </a:r>
          </a:p>
        </p:txBody>
      </p:sp>
      <p:pic>
        <p:nvPicPr>
          <p:cNvPr id="8" name="Content Placeholder 7">
            <a:extLst>
              <a:ext uri="{FF2B5EF4-FFF2-40B4-BE49-F238E27FC236}">
                <a16:creationId xmlns:a16="http://schemas.microsoft.com/office/drawing/2014/main" id="{F7918D6F-B6EB-5E57-8FB7-D2FC713FAB18}"/>
              </a:ext>
            </a:extLst>
          </p:cNvPr>
          <p:cNvPicPr>
            <a:picLocks noGrp="1" noChangeAspect="1"/>
          </p:cNvPicPr>
          <p:nvPr>
            <p:ph idx="1"/>
          </p:nvPr>
        </p:nvPicPr>
        <p:blipFill>
          <a:blip r:embed="rId2"/>
          <a:stretch>
            <a:fillRect/>
          </a:stretch>
        </p:blipFill>
        <p:spPr>
          <a:xfrm>
            <a:off x="838200" y="1690688"/>
            <a:ext cx="9374497" cy="4351338"/>
          </a:xfrm>
          <a:prstGeom prst="rect">
            <a:avLst/>
          </a:prstGeom>
        </p:spPr>
      </p:pic>
      <p:cxnSp>
        <p:nvCxnSpPr>
          <p:cNvPr id="10" name="Straight Connector 9">
            <a:extLst>
              <a:ext uri="{FF2B5EF4-FFF2-40B4-BE49-F238E27FC236}">
                <a16:creationId xmlns:a16="http://schemas.microsoft.com/office/drawing/2014/main" id="{B7B037C2-C12A-8238-1C13-672199231CA7}"/>
              </a:ext>
            </a:extLst>
          </p:cNvPr>
          <p:cNvCxnSpPr>
            <a:cxnSpLocks/>
          </p:cNvCxnSpPr>
          <p:nvPr/>
        </p:nvCxnSpPr>
        <p:spPr>
          <a:xfrm>
            <a:off x="2089882" y="2624392"/>
            <a:ext cx="1016000" cy="0"/>
          </a:xfrm>
          <a:prstGeom prst="line">
            <a:avLst/>
          </a:prstGeom>
          <a:ln w="38100">
            <a:solidFill>
              <a:srgbClr val="C0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1998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6F95F-4BCF-2199-0AD8-F8FEDCF6D9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54FBD-1153-8FAF-A454-A92900A76DA9}"/>
              </a:ext>
            </a:extLst>
          </p:cNvPr>
          <p:cNvSpPr>
            <a:spLocks noGrp="1"/>
          </p:cNvSpPr>
          <p:nvPr>
            <p:ph type="title"/>
          </p:nvPr>
        </p:nvSpPr>
        <p:spPr/>
        <p:txBody>
          <a:bodyPr/>
          <a:lstStyle/>
          <a:p>
            <a:r>
              <a:rPr lang="ru-RU" dirty="0"/>
              <a:t>Воспроизводимость</a:t>
            </a:r>
            <a:endParaRPr lang="en-US" dirty="0"/>
          </a:p>
        </p:txBody>
      </p:sp>
      <p:pic>
        <p:nvPicPr>
          <p:cNvPr id="1026" name="Picture 2" descr="Fig. 8">
            <a:extLst>
              <a:ext uri="{FF2B5EF4-FFF2-40B4-BE49-F238E27FC236}">
                <a16:creationId xmlns:a16="http://schemas.microsoft.com/office/drawing/2014/main" id="{988FD132-DAA6-296B-41B2-A78D9FC910E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63786"/>
            <a:ext cx="7261139" cy="40856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ACD935A-C92B-1E92-5F95-3BB9625850E3}"/>
              </a:ext>
            </a:extLst>
          </p:cNvPr>
          <p:cNvSpPr txBox="1"/>
          <p:nvPr/>
        </p:nvSpPr>
        <p:spPr>
          <a:xfrm>
            <a:off x="838200" y="6122485"/>
            <a:ext cx="10863805" cy="646331"/>
          </a:xfrm>
          <a:prstGeom prst="rect">
            <a:avLst/>
          </a:prstGeom>
          <a:noFill/>
        </p:spPr>
        <p:txBody>
          <a:bodyPr wrap="square" rtlCol="0">
            <a:spAutoFit/>
          </a:bodyPr>
          <a:lstStyle/>
          <a:p>
            <a:r>
              <a:rPr lang="en-US" dirty="0">
                <a:hlinkClick r:id="rId3"/>
              </a:rPr>
              <a:t>Trisovic, A., Lau, M.K., Pasquier, T. </a:t>
            </a:r>
            <a:r>
              <a:rPr lang="en-US" i="1" dirty="0">
                <a:hlinkClick r:id="rId3"/>
              </a:rPr>
              <a:t>et al.</a:t>
            </a:r>
            <a:r>
              <a:rPr lang="en-US" dirty="0">
                <a:hlinkClick r:id="rId3"/>
              </a:rPr>
              <a:t> A large-scale study on research code quality and execution. </a:t>
            </a:r>
            <a:r>
              <a:rPr lang="en-US" i="1" dirty="0">
                <a:hlinkClick r:id="rId3"/>
              </a:rPr>
              <a:t>Sci Data</a:t>
            </a:r>
            <a:r>
              <a:rPr lang="en-US" dirty="0">
                <a:hlinkClick r:id="rId3"/>
              </a:rPr>
              <a:t> </a:t>
            </a:r>
            <a:r>
              <a:rPr lang="en-US" b="1" dirty="0">
                <a:hlinkClick r:id="rId3"/>
              </a:rPr>
              <a:t>9</a:t>
            </a:r>
            <a:r>
              <a:rPr lang="en-US" dirty="0">
                <a:hlinkClick r:id="rId3"/>
              </a:rPr>
              <a:t>, 60 (2022). https://</a:t>
            </a:r>
            <a:r>
              <a:rPr lang="en-US" dirty="0" err="1">
                <a:hlinkClick r:id="rId3"/>
              </a:rPr>
              <a:t>doi.org</a:t>
            </a:r>
            <a:r>
              <a:rPr lang="en-US" dirty="0">
                <a:hlinkClick r:id="rId3"/>
              </a:rPr>
              <a:t>/10.1038/s41597-022-01143-6</a:t>
            </a:r>
            <a:endParaRPr lang="en-US" dirty="0"/>
          </a:p>
        </p:txBody>
      </p:sp>
      <p:sp>
        <p:nvSpPr>
          <p:cNvPr id="6" name="TextBox 5">
            <a:extLst>
              <a:ext uri="{FF2B5EF4-FFF2-40B4-BE49-F238E27FC236}">
                <a16:creationId xmlns:a16="http://schemas.microsoft.com/office/drawing/2014/main" id="{40B035EF-0224-4BA1-C117-AF9B441A37FF}"/>
              </a:ext>
            </a:extLst>
          </p:cNvPr>
          <p:cNvSpPr txBox="1"/>
          <p:nvPr/>
        </p:nvSpPr>
        <p:spPr>
          <a:xfrm>
            <a:off x="8556539" y="2013760"/>
            <a:ext cx="3417218" cy="954107"/>
          </a:xfrm>
          <a:prstGeom prst="rect">
            <a:avLst/>
          </a:prstGeom>
          <a:noFill/>
        </p:spPr>
        <p:txBody>
          <a:bodyPr wrap="none" rtlCol="0">
            <a:spAutoFit/>
          </a:bodyPr>
          <a:lstStyle/>
          <a:p>
            <a:r>
              <a:rPr lang="ru-RU" sz="2800" dirty="0">
                <a:solidFill>
                  <a:srgbClr val="C00000"/>
                </a:solidFill>
              </a:rPr>
              <a:t>47%</a:t>
            </a:r>
            <a:endParaRPr lang="en-US" sz="2800" dirty="0">
              <a:solidFill>
                <a:srgbClr val="C00000"/>
              </a:solidFill>
            </a:endParaRPr>
          </a:p>
          <a:p>
            <a:r>
              <a:rPr lang="ru-RU" sz="2800" dirty="0">
                <a:solidFill>
                  <a:srgbClr val="C00000"/>
                </a:solidFill>
              </a:rPr>
              <a:t>на самом деле ниже</a:t>
            </a:r>
            <a:endParaRPr lang="en-US" sz="2800" dirty="0">
              <a:solidFill>
                <a:srgbClr val="C00000"/>
              </a:solidFill>
            </a:endParaRPr>
          </a:p>
        </p:txBody>
      </p:sp>
      <p:sp>
        <p:nvSpPr>
          <p:cNvPr id="7" name="TextBox 6">
            <a:extLst>
              <a:ext uri="{FF2B5EF4-FFF2-40B4-BE49-F238E27FC236}">
                <a16:creationId xmlns:a16="http://schemas.microsoft.com/office/drawing/2014/main" id="{04D7E2C9-9988-730B-50AA-AE46C54A13EC}"/>
              </a:ext>
            </a:extLst>
          </p:cNvPr>
          <p:cNvSpPr txBox="1"/>
          <p:nvPr/>
        </p:nvSpPr>
        <p:spPr>
          <a:xfrm>
            <a:off x="838200" y="1644428"/>
            <a:ext cx="2929520" cy="369332"/>
          </a:xfrm>
          <a:prstGeom prst="rect">
            <a:avLst/>
          </a:prstGeom>
          <a:noFill/>
        </p:spPr>
        <p:txBody>
          <a:bodyPr wrap="none" rtlCol="0">
            <a:spAutoFit/>
          </a:bodyPr>
          <a:lstStyle/>
          <a:p>
            <a:r>
              <a:rPr lang="en-US" dirty="0"/>
              <a:t>Harvard Dataverse repository</a:t>
            </a:r>
          </a:p>
        </p:txBody>
      </p:sp>
    </p:spTree>
    <p:extLst>
      <p:ext uri="{BB962C8B-B14F-4D97-AF65-F5344CB8AC3E}">
        <p14:creationId xmlns:p14="http://schemas.microsoft.com/office/powerpoint/2010/main" val="1072110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77E67-D959-64EA-6A79-5EF0D5E595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162256-2D03-6B08-4B54-9D636FEA130F}"/>
              </a:ext>
            </a:extLst>
          </p:cNvPr>
          <p:cNvSpPr>
            <a:spLocks noGrp="1"/>
          </p:cNvSpPr>
          <p:nvPr>
            <p:ph type="title"/>
          </p:nvPr>
        </p:nvSpPr>
        <p:spPr/>
        <p:txBody>
          <a:bodyPr/>
          <a:lstStyle/>
          <a:p>
            <a:r>
              <a:rPr lang="ru-RU" dirty="0"/>
              <a:t>Перезапускайте сессию</a:t>
            </a:r>
            <a:endParaRPr lang="en-RU" dirty="0"/>
          </a:p>
        </p:txBody>
      </p:sp>
      <p:pic>
        <p:nvPicPr>
          <p:cNvPr id="10" name="Picture 9">
            <a:extLst>
              <a:ext uri="{FF2B5EF4-FFF2-40B4-BE49-F238E27FC236}">
                <a16:creationId xmlns:a16="http://schemas.microsoft.com/office/drawing/2014/main" id="{5DE49FED-5660-6141-D4D2-89055A298DA5}"/>
              </a:ext>
            </a:extLst>
          </p:cNvPr>
          <p:cNvPicPr>
            <a:picLocks noChangeAspect="1"/>
          </p:cNvPicPr>
          <p:nvPr/>
        </p:nvPicPr>
        <p:blipFill>
          <a:blip r:embed="rId2"/>
          <a:stretch>
            <a:fillRect/>
          </a:stretch>
        </p:blipFill>
        <p:spPr>
          <a:xfrm>
            <a:off x="838200" y="1690688"/>
            <a:ext cx="5981739" cy="2972687"/>
          </a:xfrm>
          <a:prstGeom prst="rect">
            <a:avLst/>
          </a:prstGeom>
        </p:spPr>
      </p:pic>
      <p:cxnSp>
        <p:nvCxnSpPr>
          <p:cNvPr id="11" name="Straight Connector 10">
            <a:extLst>
              <a:ext uri="{FF2B5EF4-FFF2-40B4-BE49-F238E27FC236}">
                <a16:creationId xmlns:a16="http://schemas.microsoft.com/office/drawing/2014/main" id="{B3050AED-CD69-2CF1-B295-E68FFEEA4160}"/>
              </a:ext>
            </a:extLst>
          </p:cNvPr>
          <p:cNvCxnSpPr>
            <a:cxnSpLocks/>
          </p:cNvCxnSpPr>
          <p:nvPr/>
        </p:nvCxnSpPr>
        <p:spPr>
          <a:xfrm>
            <a:off x="4127027" y="3122103"/>
            <a:ext cx="1016000" cy="0"/>
          </a:xfrm>
          <a:prstGeom prst="line">
            <a:avLst/>
          </a:prstGeom>
          <a:ln w="38100">
            <a:solidFill>
              <a:srgbClr val="C0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571076B-32BE-1528-C57C-9F9658F75219}"/>
              </a:ext>
            </a:extLst>
          </p:cNvPr>
          <p:cNvSpPr txBox="1"/>
          <p:nvPr/>
        </p:nvSpPr>
        <p:spPr>
          <a:xfrm>
            <a:off x="838200" y="5116920"/>
            <a:ext cx="7888698" cy="369332"/>
          </a:xfrm>
          <a:prstGeom prst="rect">
            <a:avLst/>
          </a:prstGeom>
          <a:noFill/>
        </p:spPr>
        <p:txBody>
          <a:bodyPr wrap="none" rtlCol="0">
            <a:spAutoFit/>
          </a:bodyPr>
          <a:lstStyle/>
          <a:p>
            <a:r>
              <a:rPr lang="en-US" dirty="0">
                <a:solidFill>
                  <a:srgbClr val="C00000"/>
                </a:solidFill>
                <a:latin typeface="Fira Code" pitchFamily="49" charset="0"/>
                <a:ea typeface="Fira Code" pitchFamily="49" charset="0"/>
                <a:cs typeface="Fira Code" pitchFamily="49" charset="0"/>
              </a:rPr>
              <a:t>rm(list = ls()) #</a:t>
            </a:r>
            <a:r>
              <a:rPr lang="ru-RU" dirty="0">
                <a:solidFill>
                  <a:srgbClr val="C00000"/>
                </a:solidFill>
                <a:latin typeface="Fira Code" pitchFamily="49" charset="0"/>
                <a:ea typeface="Fira Code" pitchFamily="49" charset="0"/>
                <a:cs typeface="Fira Code" pitchFamily="49" charset="0"/>
              </a:rPr>
              <a:t> Недостаточно удалить все переменные</a:t>
            </a:r>
          </a:p>
        </p:txBody>
      </p:sp>
    </p:spTree>
    <p:extLst>
      <p:ext uri="{BB962C8B-B14F-4D97-AF65-F5344CB8AC3E}">
        <p14:creationId xmlns:p14="http://schemas.microsoft.com/office/powerpoint/2010/main" val="940237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4BC80-23B1-FDAA-F44D-828449BF6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0696C-5DB2-E486-0BEB-43B33FDED484}"/>
              </a:ext>
            </a:extLst>
          </p:cNvPr>
          <p:cNvSpPr>
            <a:spLocks noGrp="1"/>
          </p:cNvSpPr>
          <p:nvPr>
            <p:ph type="title"/>
          </p:nvPr>
        </p:nvSpPr>
        <p:spPr/>
        <p:txBody>
          <a:bodyPr/>
          <a:lstStyle/>
          <a:p>
            <a:r>
              <a:rPr lang="ru-RU" dirty="0"/>
              <a:t>Перезапускайте сессию</a:t>
            </a:r>
            <a:endParaRPr lang="en-RU" dirty="0"/>
          </a:p>
        </p:txBody>
      </p:sp>
      <p:pic>
        <p:nvPicPr>
          <p:cNvPr id="10" name="Picture 9">
            <a:extLst>
              <a:ext uri="{FF2B5EF4-FFF2-40B4-BE49-F238E27FC236}">
                <a16:creationId xmlns:a16="http://schemas.microsoft.com/office/drawing/2014/main" id="{3250F013-2335-4FC4-47B6-74C88C2F4E6E}"/>
              </a:ext>
            </a:extLst>
          </p:cNvPr>
          <p:cNvPicPr>
            <a:picLocks noChangeAspect="1"/>
          </p:cNvPicPr>
          <p:nvPr/>
        </p:nvPicPr>
        <p:blipFill>
          <a:blip r:embed="rId2"/>
          <a:stretch>
            <a:fillRect/>
          </a:stretch>
        </p:blipFill>
        <p:spPr>
          <a:xfrm>
            <a:off x="838200" y="1690688"/>
            <a:ext cx="5981739" cy="2972687"/>
          </a:xfrm>
          <a:prstGeom prst="rect">
            <a:avLst/>
          </a:prstGeom>
        </p:spPr>
      </p:pic>
      <p:cxnSp>
        <p:nvCxnSpPr>
          <p:cNvPr id="11" name="Straight Connector 10">
            <a:extLst>
              <a:ext uri="{FF2B5EF4-FFF2-40B4-BE49-F238E27FC236}">
                <a16:creationId xmlns:a16="http://schemas.microsoft.com/office/drawing/2014/main" id="{AAA647D7-6527-156E-5228-8E78C31D4F66}"/>
              </a:ext>
            </a:extLst>
          </p:cNvPr>
          <p:cNvCxnSpPr>
            <a:cxnSpLocks/>
          </p:cNvCxnSpPr>
          <p:nvPr/>
        </p:nvCxnSpPr>
        <p:spPr>
          <a:xfrm>
            <a:off x="4127027" y="3122103"/>
            <a:ext cx="1016000" cy="0"/>
          </a:xfrm>
          <a:prstGeom prst="line">
            <a:avLst/>
          </a:prstGeom>
          <a:ln w="38100">
            <a:solidFill>
              <a:srgbClr val="C0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CE51A109-5E73-1E38-254D-0CCC4D8F74DC}"/>
              </a:ext>
            </a:extLst>
          </p:cNvPr>
          <p:cNvSpPr txBox="1"/>
          <p:nvPr/>
        </p:nvSpPr>
        <p:spPr>
          <a:xfrm>
            <a:off x="838200" y="5116920"/>
            <a:ext cx="7888698" cy="369332"/>
          </a:xfrm>
          <a:prstGeom prst="rect">
            <a:avLst/>
          </a:prstGeom>
          <a:noFill/>
        </p:spPr>
        <p:txBody>
          <a:bodyPr wrap="none" rtlCol="0">
            <a:spAutoFit/>
          </a:bodyPr>
          <a:lstStyle/>
          <a:p>
            <a:r>
              <a:rPr lang="en-US" dirty="0">
                <a:solidFill>
                  <a:srgbClr val="C00000"/>
                </a:solidFill>
                <a:latin typeface="Fira Code" pitchFamily="49" charset="0"/>
                <a:ea typeface="Fira Code" pitchFamily="49" charset="0"/>
                <a:cs typeface="Fira Code" pitchFamily="49" charset="0"/>
              </a:rPr>
              <a:t>rm(list = ls()) #</a:t>
            </a:r>
            <a:r>
              <a:rPr lang="ru-RU" dirty="0">
                <a:solidFill>
                  <a:srgbClr val="C00000"/>
                </a:solidFill>
                <a:latin typeface="Fira Code" pitchFamily="49" charset="0"/>
                <a:ea typeface="Fira Code" pitchFamily="49" charset="0"/>
                <a:cs typeface="Fira Code" pitchFamily="49" charset="0"/>
              </a:rPr>
              <a:t> Недостаточно удалить все переменные</a:t>
            </a:r>
          </a:p>
        </p:txBody>
      </p:sp>
      <p:pic>
        <p:nvPicPr>
          <p:cNvPr id="3" name="Picture 2">
            <a:extLst>
              <a:ext uri="{FF2B5EF4-FFF2-40B4-BE49-F238E27FC236}">
                <a16:creationId xmlns:a16="http://schemas.microsoft.com/office/drawing/2014/main" id="{C5725575-C44B-50F9-E415-B6412D17AB64}"/>
              </a:ext>
            </a:extLst>
          </p:cNvPr>
          <p:cNvPicPr>
            <a:picLocks noChangeAspect="1"/>
          </p:cNvPicPr>
          <p:nvPr/>
        </p:nvPicPr>
        <p:blipFill>
          <a:blip r:embed="rId3"/>
          <a:stretch>
            <a:fillRect/>
          </a:stretch>
        </p:blipFill>
        <p:spPr>
          <a:xfrm>
            <a:off x="5605381" y="4302028"/>
            <a:ext cx="3636067" cy="2368447"/>
          </a:xfrm>
          <a:prstGeom prst="rect">
            <a:avLst/>
          </a:prstGeom>
        </p:spPr>
      </p:pic>
    </p:spTree>
    <p:extLst>
      <p:ext uri="{BB962C8B-B14F-4D97-AF65-F5344CB8AC3E}">
        <p14:creationId xmlns:p14="http://schemas.microsoft.com/office/powerpoint/2010/main" val="197677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161934A-020E-8880-8E1B-543CBB19DF63}"/>
              </a:ext>
            </a:extLst>
          </p:cNvPr>
          <p:cNvPicPr>
            <a:picLocks noChangeAspect="1"/>
          </p:cNvPicPr>
          <p:nvPr/>
        </p:nvPicPr>
        <p:blipFill>
          <a:blip r:embed="rId2"/>
          <a:stretch>
            <a:fillRect/>
          </a:stretch>
        </p:blipFill>
        <p:spPr>
          <a:xfrm>
            <a:off x="838200" y="1563203"/>
            <a:ext cx="7615177" cy="5147295"/>
          </a:xfrm>
          <a:prstGeom prst="rect">
            <a:avLst/>
          </a:prstGeom>
          <a:ln w="12700">
            <a:noFill/>
          </a:ln>
          <a:effectLst>
            <a:glow rad="317500">
              <a:schemeClr val="bg1">
                <a:lumMod val="50000"/>
                <a:alpha val="3000"/>
              </a:schemeClr>
            </a:glow>
          </a:effectLst>
        </p:spPr>
      </p:pic>
      <p:sp>
        <p:nvSpPr>
          <p:cNvPr id="2" name="Title 1">
            <a:extLst>
              <a:ext uri="{FF2B5EF4-FFF2-40B4-BE49-F238E27FC236}">
                <a16:creationId xmlns:a16="http://schemas.microsoft.com/office/drawing/2014/main" id="{43A44C49-633B-97F5-FA86-1574120E7924}"/>
              </a:ext>
            </a:extLst>
          </p:cNvPr>
          <p:cNvSpPr>
            <a:spLocks noGrp="1"/>
          </p:cNvSpPr>
          <p:nvPr>
            <p:ph type="title"/>
          </p:nvPr>
        </p:nvSpPr>
        <p:spPr/>
        <p:txBody>
          <a:bodyPr/>
          <a:lstStyle/>
          <a:p>
            <a:r>
              <a:rPr lang="ru-RU" dirty="0"/>
              <a:t>Чистая сессия</a:t>
            </a:r>
            <a:endParaRPr lang="en-RU" dirty="0"/>
          </a:p>
        </p:txBody>
      </p:sp>
      <p:pic>
        <p:nvPicPr>
          <p:cNvPr id="4" name="Content Placeholder 3">
            <a:extLst>
              <a:ext uri="{FF2B5EF4-FFF2-40B4-BE49-F238E27FC236}">
                <a16:creationId xmlns:a16="http://schemas.microsoft.com/office/drawing/2014/main" id="{050AA071-541B-6857-0DFC-A451018E1163}"/>
              </a:ext>
            </a:extLst>
          </p:cNvPr>
          <p:cNvPicPr>
            <a:picLocks noGrp="1" noChangeAspect="1"/>
          </p:cNvPicPr>
          <p:nvPr>
            <p:ph idx="1"/>
          </p:nvPr>
        </p:nvPicPr>
        <p:blipFill>
          <a:blip r:embed="rId3"/>
          <a:srcRect l="743" t="967" r="1453" b="583"/>
          <a:stretch/>
        </p:blipFill>
        <p:spPr>
          <a:xfrm>
            <a:off x="1186089" y="2209032"/>
            <a:ext cx="4121274" cy="4283843"/>
          </a:xfrm>
          <a:prstGeom prst="rect">
            <a:avLst/>
          </a:prstGeom>
          <a:ln w="3175">
            <a:solidFill>
              <a:schemeClr val="bg1">
                <a:lumMod val="50000"/>
              </a:schemeClr>
            </a:solidFill>
          </a:ln>
        </p:spPr>
      </p:pic>
      <p:sp>
        <p:nvSpPr>
          <p:cNvPr id="3" name="Rectangle 2">
            <a:extLst>
              <a:ext uri="{FF2B5EF4-FFF2-40B4-BE49-F238E27FC236}">
                <a16:creationId xmlns:a16="http://schemas.microsoft.com/office/drawing/2014/main" id="{ADA15FF4-9DEC-7708-3F6C-F72ACFB48D89}"/>
              </a:ext>
            </a:extLst>
          </p:cNvPr>
          <p:cNvSpPr/>
          <p:nvPr/>
        </p:nvSpPr>
        <p:spPr>
          <a:xfrm>
            <a:off x="2207535" y="3550443"/>
            <a:ext cx="2027582" cy="586408"/>
          </a:xfrm>
          <a:prstGeom prst="rect">
            <a:avLst/>
          </a:prstGeom>
          <a:noFill/>
          <a:ln w="3810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C678EDDD-8C2A-8473-CD4E-DEC6145E254F}"/>
              </a:ext>
            </a:extLst>
          </p:cNvPr>
          <p:cNvSpPr txBox="1"/>
          <p:nvPr/>
        </p:nvSpPr>
        <p:spPr>
          <a:xfrm>
            <a:off x="8818745" y="2289526"/>
            <a:ext cx="3280642" cy="1938992"/>
          </a:xfrm>
          <a:prstGeom prst="rect">
            <a:avLst/>
          </a:prstGeom>
          <a:noFill/>
        </p:spPr>
        <p:txBody>
          <a:bodyPr wrap="none" rtlCol="0">
            <a:spAutoFit/>
          </a:bodyPr>
          <a:lstStyle/>
          <a:p>
            <a:r>
              <a:rPr lang="ru-RU" sz="2400" dirty="0">
                <a:solidFill>
                  <a:srgbClr val="C00000"/>
                </a:solidFill>
              </a:rPr>
              <a:t>В директории проекта</a:t>
            </a:r>
          </a:p>
          <a:p>
            <a:r>
              <a:rPr lang="ru-RU" sz="2400" dirty="0">
                <a:solidFill>
                  <a:srgbClr val="C00000"/>
                </a:solidFill>
              </a:rPr>
              <a:t>не должно быть файла</a:t>
            </a:r>
          </a:p>
          <a:p>
            <a:endParaRPr lang="ru-RU" sz="2400" dirty="0">
              <a:solidFill>
                <a:srgbClr val="C00000"/>
              </a:solidFill>
            </a:endParaRPr>
          </a:p>
          <a:p>
            <a:pPr algn="ctr"/>
            <a:r>
              <a:rPr lang="en-US" sz="2400" dirty="0">
                <a:solidFill>
                  <a:srgbClr val="C00000"/>
                </a:solidFill>
                <a:latin typeface="Monaco" pitchFamily="2" charset="77"/>
              </a:rPr>
              <a:t>.</a:t>
            </a:r>
            <a:r>
              <a:rPr lang="en-US" sz="2400" dirty="0" err="1">
                <a:solidFill>
                  <a:srgbClr val="C00000"/>
                </a:solidFill>
                <a:latin typeface="Monaco" pitchFamily="2" charset="77"/>
              </a:rPr>
              <a:t>RData</a:t>
            </a:r>
            <a:endParaRPr lang="en-US" sz="2400" dirty="0">
              <a:solidFill>
                <a:srgbClr val="C00000"/>
              </a:solidFill>
              <a:latin typeface="Monaco" pitchFamily="2" charset="77"/>
            </a:endParaRPr>
          </a:p>
          <a:p>
            <a:pPr algn="ctr"/>
            <a:r>
              <a:rPr lang="en-US" sz="2400" dirty="0">
                <a:solidFill>
                  <a:srgbClr val="C00000"/>
                </a:solidFill>
              </a:rPr>
              <a:t>(</a:t>
            </a:r>
            <a:r>
              <a:rPr lang="ru-RU" sz="2400" dirty="0">
                <a:solidFill>
                  <a:srgbClr val="C00000"/>
                </a:solidFill>
              </a:rPr>
              <a:t>файл с состоянием)</a:t>
            </a:r>
            <a:endParaRPr lang="en-US" sz="2400" dirty="0">
              <a:solidFill>
                <a:srgbClr val="C00000"/>
              </a:solidFill>
            </a:endParaRPr>
          </a:p>
        </p:txBody>
      </p:sp>
      <p:cxnSp>
        <p:nvCxnSpPr>
          <p:cNvPr id="19" name="Straight Connector 18">
            <a:extLst>
              <a:ext uri="{FF2B5EF4-FFF2-40B4-BE49-F238E27FC236}">
                <a16:creationId xmlns:a16="http://schemas.microsoft.com/office/drawing/2014/main" id="{74FFCA4E-7BE4-7798-FBE7-DE8F8D88B40D}"/>
              </a:ext>
            </a:extLst>
          </p:cNvPr>
          <p:cNvCxnSpPr>
            <a:cxnSpLocks/>
          </p:cNvCxnSpPr>
          <p:nvPr/>
        </p:nvCxnSpPr>
        <p:spPr>
          <a:xfrm>
            <a:off x="6096000" y="4962478"/>
            <a:ext cx="1016000" cy="0"/>
          </a:xfrm>
          <a:prstGeom prst="line">
            <a:avLst/>
          </a:prstGeom>
          <a:ln w="38100">
            <a:solidFill>
              <a:srgbClr val="C0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3814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63027-6834-0AE7-99B5-BE9EF5104CE1}"/>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443737A-36AE-2CF8-3C3B-3AB3DD98532E}"/>
              </a:ext>
            </a:extLst>
          </p:cNvPr>
          <p:cNvSpPr>
            <a:spLocks noGrp="1"/>
          </p:cNvSpPr>
          <p:nvPr>
            <p:ph idx="1"/>
          </p:nvPr>
        </p:nvSpPr>
        <p:spPr/>
        <p:txBody>
          <a:bodyPr>
            <a:normAutofit/>
          </a:bodyPr>
          <a:lstStyle/>
          <a:p>
            <a:pPr marL="0" indent="0">
              <a:buNone/>
            </a:pPr>
            <a:r>
              <a:rPr lang="en-US" sz="2000" dirty="0">
                <a:solidFill>
                  <a:srgbClr val="C00000"/>
                </a:solidFill>
                <a:latin typeface="Fira Code" pitchFamily="49" charset="0"/>
                <a:ea typeface="Fira Code" pitchFamily="49" charset="0"/>
                <a:cs typeface="Fira Code" pitchFamily="49" charset="0"/>
              </a:rPr>
              <a:t>save(fit, file = "complex-</a:t>
            </a:r>
            <a:r>
              <a:rPr lang="en-US" sz="2000" dirty="0" err="1">
                <a:solidFill>
                  <a:srgbClr val="C00000"/>
                </a:solidFill>
                <a:latin typeface="Fira Code" pitchFamily="49" charset="0"/>
                <a:ea typeface="Fira Code" pitchFamily="49" charset="0"/>
                <a:cs typeface="Fira Code" pitchFamily="49" charset="0"/>
              </a:rPr>
              <a:t>fit.RData</a:t>
            </a:r>
            <a:r>
              <a:rPr lang="en-US" sz="2000" dirty="0">
                <a:solidFill>
                  <a:srgbClr val="C00000"/>
                </a:solidFill>
                <a:latin typeface="Fira Code" pitchFamily="49" charset="0"/>
                <a:ea typeface="Fira Code" pitchFamily="49" charset="0"/>
                <a:cs typeface="Fira Code" pitchFamily="49" charset="0"/>
              </a:rPr>
              <a:t>")</a:t>
            </a:r>
          </a:p>
          <a:p>
            <a:pPr marL="0" indent="0">
              <a:buNone/>
            </a:pPr>
            <a:r>
              <a:rPr lang="en-US" sz="2000" dirty="0">
                <a:solidFill>
                  <a:srgbClr val="C00000"/>
                </a:solidFill>
                <a:latin typeface="Fira Code" pitchFamily="49" charset="0"/>
                <a:ea typeface="Fira Code" pitchFamily="49" charset="0"/>
                <a:cs typeface="Fira Code" pitchFamily="49" charset="0"/>
              </a:rPr>
              <a:t>load("complex-</a:t>
            </a:r>
            <a:r>
              <a:rPr lang="en-US" sz="2000" dirty="0" err="1">
                <a:solidFill>
                  <a:srgbClr val="C00000"/>
                </a:solidFill>
                <a:latin typeface="Fira Code" pitchFamily="49" charset="0"/>
                <a:ea typeface="Fira Code" pitchFamily="49" charset="0"/>
                <a:cs typeface="Fira Code" pitchFamily="49" charset="0"/>
              </a:rPr>
              <a:t>fit.Rdata</a:t>
            </a:r>
            <a:r>
              <a:rPr lang="en-US" sz="2000" dirty="0">
                <a:solidFill>
                  <a:srgbClr val="C00000"/>
                </a:solidFill>
                <a:latin typeface="Fira Code" pitchFamily="49" charset="0"/>
                <a:ea typeface="Fira Code" pitchFamily="49" charset="0"/>
                <a:cs typeface="Fira Code" pitchFamily="49" charset="0"/>
              </a:rPr>
              <a:t>")</a:t>
            </a:r>
          </a:p>
          <a:p>
            <a:pPr marL="0" indent="0">
              <a:buNone/>
            </a:pPr>
            <a:endParaRPr lang="en-US" sz="2000" dirty="0">
              <a:latin typeface="Fira Code" pitchFamily="49" charset="0"/>
              <a:ea typeface="Fira Code" pitchFamily="49" charset="0"/>
              <a:cs typeface="Fira Code" pitchFamily="49" charset="0"/>
            </a:endParaRPr>
          </a:p>
          <a:p>
            <a:pPr marL="0" indent="0">
              <a:buNone/>
            </a:pPr>
            <a:r>
              <a:rPr lang="en-US" sz="2000" dirty="0" err="1">
                <a:solidFill>
                  <a:schemeClr val="accent3"/>
                </a:solidFill>
                <a:latin typeface="Fira Code" pitchFamily="49" charset="0"/>
                <a:ea typeface="Fira Code" pitchFamily="49" charset="0"/>
                <a:cs typeface="Fira Code" pitchFamily="49" charset="0"/>
              </a:rPr>
              <a:t>saveRDS</a:t>
            </a:r>
            <a:r>
              <a:rPr lang="en-US" sz="2000" dirty="0">
                <a:solidFill>
                  <a:schemeClr val="accent3"/>
                </a:solidFill>
                <a:latin typeface="Fira Code" pitchFamily="49" charset="0"/>
                <a:ea typeface="Fira Code" pitchFamily="49" charset="0"/>
                <a:cs typeface="Fira Code" pitchFamily="49" charset="0"/>
              </a:rPr>
              <a:t>(fit, "complex-</a:t>
            </a:r>
            <a:r>
              <a:rPr lang="en-US" sz="2000" dirty="0" err="1">
                <a:solidFill>
                  <a:schemeClr val="accent3"/>
                </a:solidFill>
                <a:latin typeface="Fira Code" pitchFamily="49" charset="0"/>
                <a:ea typeface="Fira Code" pitchFamily="49" charset="0"/>
                <a:cs typeface="Fira Code" pitchFamily="49" charset="0"/>
              </a:rPr>
              <a:t>fit.rds</a:t>
            </a:r>
            <a:r>
              <a:rPr lang="en-US" sz="2000" dirty="0">
                <a:solidFill>
                  <a:schemeClr val="accent3"/>
                </a:solidFill>
                <a:latin typeface="Fira Code" pitchFamily="49" charset="0"/>
                <a:ea typeface="Fira Code" pitchFamily="49" charset="0"/>
                <a:cs typeface="Fira Code" pitchFamily="49" charset="0"/>
              </a:rPr>
              <a:t>")		# </a:t>
            </a:r>
            <a:r>
              <a:rPr lang="ru-RU" sz="2000" dirty="0">
                <a:solidFill>
                  <a:schemeClr val="accent3"/>
                </a:solidFill>
                <a:latin typeface="Fira Code" pitchFamily="49" charset="0"/>
                <a:ea typeface="Fira Code" pitchFamily="49" charset="0"/>
                <a:cs typeface="Fira Code" pitchFamily="49" charset="0"/>
              </a:rPr>
              <a:t>один объект за раз</a:t>
            </a:r>
            <a:endParaRPr lang="en-US" sz="2000" dirty="0">
              <a:solidFill>
                <a:schemeClr val="accent3"/>
              </a:solidFill>
              <a:latin typeface="Fira Code" pitchFamily="49" charset="0"/>
              <a:ea typeface="Fira Code" pitchFamily="49" charset="0"/>
              <a:cs typeface="Fira Code" pitchFamily="49" charset="0"/>
            </a:endParaRPr>
          </a:p>
          <a:p>
            <a:pPr marL="0" indent="0">
              <a:buNone/>
            </a:pPr>
            <a:r>
              <a:rPr lang="en-US" sz="2000" dirty="0">
                <a:solidFill>
                  <a:schemeClr val="accent3"/>
                </a:solidFill>
                <a:latin typeface="Fira Code" pitchFamily="49" charset="0"/>
                <a:ea typeface="Fira Code" pitchFamily="49" charset="0"/>
                <a:cs typeface="Fira Code" pitchFamily="49" charset="0"/>
              </a:rPr>
              <a:t>fit &lt;- </a:t>
            </a:r>
            <a:r>
              <a:rPr lang="en-US" sz="2000" dirty="0" err="1">
                <a:solidFill>
                  <a:schemeClr val="accent3"/>
                </a:solidFill>
                <a:latin typeface="Fira Code" pitchFamily="49" charset="0"/>
                <a:ea typeface="Fira Code" pitchFamily="49" charset="0"/>
                <a:cs typeface="Fira Code" pitchFamily="49" charset="0"/>
              </a:rPr>
              <a:t>readRDS</a:t>
            </a:r>
            <a:r>
              <a:rPr lang="en-US" sz="2000" dirty="0">
                <a:solidFill>
                  <a:schemeClr val="accent3"/>
                </a:solidFill>
                <a:latin typeface="Fira Code" pitchFamily="49" charset="0"/>
                <a:ea typeface="Fira Code" pitchFamily="49" charset="0"/>
                <a:cs typeface="Fira Code" pitchFamily="49" charset="0"/>
              </a:rPr>
              <a:t>("complex-</a:t>
            </a:r>
            <a:r>
              <a:rPr lang="en-US" sz="2000" dirty="0" err="1">
                <a:solidFill>
                  <a:schemeClr val="accent3"/>
                </a:solidFill>
                <a:latin typeface="Fira Code" pitchFamily="49" charset="0"/>
                <a:ea typeface="Fira Code" pitchFamily="49" charset="0"/>
                <a:cs typeface="Fira Code" pitchFamily="49" charset="0"/>
              </a:rPr>
              <a:t>fit.rds</a:t>
            </a:r>
            <a:r>
              <a:rPr lang="en-US" sz="2000" dirty="0">
                <a:solidFill>
                  <a:schemeClr val="accent3"/>
                </a:solidFill>
                <a:latin typeface="Fira Code" pitchFamily="49" charset="0"/>
                <a:ea typeface="Fira Code" pitchFamily="49" charset="0"/>
                <a:cs typeface="Fira Code" pitchFamily="49" charset="0"/>
              </a:rPr>
              <a:t>")		# </a:t>
            </a:r>
            <a:r>
              <a:rPr lang="ru-RU" sz="2000" dirty="0">
                <a:solidFill>
                  <a:schemeClr val="accent3"/>
                </a:solidFill>
                <a:latin typeface="Fira Code" pitchFamily="49" charset="0"/>
                <a:ea typeface="Fira Code" pitchFamily="49" charset="0"/>
                <a:cs typeface="Fira Code" pitchFamily="49" charset="0"/>
              </a:rPr>
              <a:t>просто вернет значение</a:t>
            </a:r>
            <a:endParaRPr lang="en-US" sz="2000" dirty="0">
              <a:solidFill>
                <a:schemeClr val="accent3"/>
              </a:solidFill>
              <a:latin typeface="Fira Code" pitchFamily="49" charset="0"/>
              <a:ea typeface="Fira Code" pitchFamily="49" charset="0"/>
              <a:cs typeface="Fira Code" pitchFamily="49" charset="0"/>
            </a:endParaRPr>
          </a:p>
          <a:p>
            <a:pPr marL="0" indent="0">
              <a:buNone/>
            </a:pPr>
            <a:endParaRPr lang="en-US" sz="2000" dirty="0">
              <a:latin typeface="Fira Code" pitchFamily="49" charset="0"/>
              <a:ea typeface="Fira Code" pitchFamily="49" charset="0"/>
              <a:cs typeface="Fira Code" pitchFamily="49" charset="0"/>
            </a:endParaRPr>
          </a:p>
          <a:p>
            <a:pPr marL="0" indent="0">
              <a:buNone/>
            </a:pPr>
            <a:r>
              <a:rPr lang="en-US" sz="2000" dirty="0" err="1">
                <a:solidFill>
                  <a:schemeClr val="accent3"/>
                </a:solidFill>
                <a:latin typeface="Fira Code" pitchFamily="49" charset="0"/>
                <a:ea typeface="Fira Code" pitchFamily="49" charset="0"/>
                <a:cs typeface="Fira Code" pitchFamily="49" charset="0"/>
              </a:rPr>
              <a:t>write_rds</a:t>
            </a:r>
            <a:r>
              <a:rPr lang="en-US" sz="2000" dirty="0">
                <a:solidFill>
                  <a:schemeClr val="accent3"/>
                </a:solidFill>
                <a:latin typeface="Fira Code" pitchFamily="49" charset="0"/>
                <a:ea typeface="Fira Code" pitchFamily="49" charset="0"/>
                <a:cs typeface="Fira Code" pitchFamily="49" charset="0"/>
              </a:rPr>
              <a:t>(fit, "complex-</a:t>
            </a:r>
            <a:r>
              <a:rPr lang="en-US" sz="2000" dirty="0" err="1">
                <a:solidFill>
                  <a:schemeClr val="accent3"/>
                </a:solidFill>
                <a:latin typeface="Fira Code" pitchFamily="49" charset="0"/>
                <a:ea typeface="Fira Code" pitchFamily="49" charset="0"/>
                <a:cs typeface="Fira Code" pitchFamily="49" charset="0"/>
              </a:rPr>
              <a:t>fit.rds</a:t>
            </a:r>
            <a:r>
              <a:rPr lang="en-US" sz="2000" dirty="0">
                <a:solidFill>
                  <a:schemeClr val="accent3"/>
                </a:solidFill>
                <a:latin typeface="Fira Code" pitchFamily="49" charset="0"/>
                <a:ea typeface="Fira Code" pitchFamily="49" charset="0"/>
                <a:cs typeface="Fira Code" pitchFamily="49" charset="0"/>
              </a:rPr>
              <a:t>")		# </a:t>
            </a:r>
            <a:r>
              <a:rPr lang="ru-RU" sz="2000" dirty="0">
                <a:solidFill>
                  <a:schemeClr val="accent3"/>
                </a:solidFill>
                <a:latin typeface="Fira Code" pitchFamily="49" charset="0"/>
                <a:ea typeface="Fira Code" pitchFamily="49" charset="0"/>
                <a:cs typeface="Fira Code" pitchFamily="49" charset="0"/>
              </a:rPr>
              <a:t>то же самое</a:t>
            </a:r>
            <a:r>
              <a:rPr lang="en-US" sz="2000" dirty="0">
                <a:solidFill>
                  <a:schemeClr val="accent3"/>
                </a:solidFill>
                <a:latin typeface="Fira Code" pitchFamily="49" charset="0"/>
                <a:ea typeface="Fira Code" pitchFamily="49" charset="0"/>
                <a:cs typeface="Fira Code" pitchFamily="49" charset="0"/>
              </a:rPr>
              <a:t> </a:t>
            </a:r>
            <a:r>
              <a:rPr lang="ru-RU" sz="2000" dirty="0">
                <a:solidFill>
                  <a:schemeClr val="accent3"/>
                </a:solidFill>
                <a:latin typeface="Fira Code" pitchFamily="49" charset="0"/>
                <a:ea typeface="Fira Code" pitchFamily="49" charset="0"/>
                <a:cs typeface="Fira Code" pitchFamily="49" charset="0"/>
              </a:rPr>
              <a:t>↑</a:t>
            </a:r>
            <a:endParaRPr lang="en-US" sz="2000" dirty="0">
              <a:solidFill>
                <a:schemeClr val="accent3"/>
              </a:solidFill>
              <a:latin typeface="Fira Code" pitchFamily="49" charset="0"/>
              <a:ea typeface="Fira Code" pitchFamily="49" charset="0"/>
              <a:cs typeface="Fira Code" pitchFamily="49" charset="0"/>
            </a:endParaRPr>
          </a:p>
          <a:p>
            <a:pPr marL="0" indent="0">
              <a:buNone/>
            </a:pPr>
            <a:r>
              <a:rPr lang="en-US" sz="2000" dirty="0">
                <a:solidFill>
                  <a:schemeClr val="accent3"/>
                </a:solidFill>
                <a:latin typeface="Fira Code" pitchFamily="49" charset="0"/>
                <a:ea typeface="Fira Code" pitchFamily="49" charset="0"/>
                <a:cs typeface="Fira Code" pitchFamily="49" charset="0"/>
              </a:rPr>
              <a:t>fit &lt;- </a:t>
            </a:r>
            <a:r>
              <a:rPr lang="en-US" sz="2000" dirty="0" err="1">
                <a:solidFill>
                  <a:schemeClr val="accent3"/>
                </a:solidFill>
                <a:latin typeface="Fira Code" pitchFamily="49" charset="0"/>
                <a:ea typeface="Fira Code" pitchFamily="49" charset="0"/>
                <a:cs typeface="Fira Code" pitchFamily="49" charset="0"/>
              </a:rPr>
              <a:t>read_rds</a:t>
            </a:r>
            <a:r>
              <a:rPr lang="en-US" sz="2000" dirty="0">
                <a:solidFill>
                  <a:schemeClr val="accent3"/>
                </a:solidFill>
                <a:latin typeface="Fira Code" pitchFamily="49" charset="0"/>
                <a:ea typeface="Fira Code" pitchFamily="49" charset="0"/>
                <a:cs typeface="Fira Code" pitchFamily="49" charset="0"/>
              </a:rPr>
              <a:t>("complex-</a:t>
            </a:r>
            <a:r>
              <a:rPr lang="en-US" sz="2000" dirty="0" err="1">
                <a:solidFill>
                  <a:schemeClr val="accent3"/>
                </a:solidFill>
                <a:latin typeface="Fira Code" pitchFamily="49" charset="0"/>
                <a:ea typeface="Fira Code" pitchFamily="49" charset="0"/>
                <a:cs typeface="Fira Code" pitchFamily="49" charset="0"/>
              </a:rPr>
              <a:t>fit.rds</a:t>
            </a:r>
            <a:r>
              <a:rPr lang="en-US" sz="2000" dirty="0">
                <a:solidFill>
                  <a:schemeClr val="accent3"/>
                </a:solidFill>
                <a:latin typeface="Fira Code" pitchFamily="49" charset="0"/>
                <a:ea typeface="Fira Code" pitchFamily="49" charset="0"/>
                <a:cs typeface="Fira Code" pitchFamily="49" charset="0"/>
              </a:rPr>
              <a:t>")</a:t>
            </a:r>
          </a:p>
        </p:txBody>
      </p:sp>
      <p:sp>
        <p:nvSpPr>
          <p:cNvPr id="2" name="Title 1">
            <a:extLst>
              <a:ext uri="{FF2B5EF4-FFF2-40B4-BE49-F238E27FC236}">
                <a16:creationId xmlns:a16="http://schemas.microsoft.com/office/drawing/2014/main" id="{94538F0C-B09E-545F-68CD-DB4D6E5E7DFF}"/>
              </a:ext>
            </a:extLst>
          </p:cNvPr>
          <p:cNvSpPr>
            <a:spLocks noGrp="1"/>
          </p:cNvSpPr>
          <p:nvPr>
            <p:ph type="title"/>
          </p:nvPr>
        </p:nvSpPr>
        <p:spPr/>
        <p:txBody>
          <a:bodyPr/>
          <a:lstStyle/>
          <a:p>
            <a:r>
              <a:rPr lang="ru-RU" dirty="0"/>
              <a:t>Сохранение объектов</a:t>
            </a:r>
            <a:endParaRPr lang="en-RU" dirty="0"/>
          </a:p>
        </p:txBody>
      </p:sp>
    </p:spTree>
    <p:extLst>
      <p:ext uri="{BB962C8B-B14F-4D97-AF65-F5344CB8AC3E}">
        <p14:creationId xmlns:p14="http://schemas.microsoft.com/office/powerpoint/2010/main" val="973075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C9678-79D9-7220-0DC1-3C033907C2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8CBEF-7CD7-7F74-82CD-1ADA0DF74491}"/>
              </a:ext>
            </a:extLst>
          </p:cNvPr>
          <p:cNvSpPr>
            <a:spLocks noGrp="1"/>
          </p:cNvSpPr>
          <p:nvPr>
            <p:ph type="title"/>
          </p:nvPr>
        </p:nvSpPr>
        <p:spPr/>
        <p:txBody>
          <a:bodyPr/>
          <a:lstStyle/>
          <a:p>
            <a:r>
              <a:rPr lang="ru-RU" dirty="0"/>
              <a:t>Воспроизводимость</a:t>
            </a:r>
            <a:endParaRPr lang="en-US" dirty="0"/>
          </a:p>
        </p:txBody>
      </p:sp>
      <p:pic>
        <p:nvPicPr>
          <p:cNvPr id="1026" name="Picture 2" descr="Fig. 8">
            <a:extLst>
              <a:ext uri="{FF2B5EF4-FFF2-40B4-BE49-F238E27FC236}">
                <a16:creationId xmlns:a16="http://schemas.microsoft.com/office/drawing/2014/main" id="{3D1C90F2-25BF-69DF-DBAE-795FF22284F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63786"/>
            <a:ext cx="7261139" cy="40856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7133324-6B4E-98A4-71D6-3D1A03C59971}"/>
              </a:ext>
            </a:extLst>
          </p:cNvPr>
          <p:cNvSpPr txBox="1"/>
          <p:nvPr/>
        </p:nvSpPr>
        <p:spPr>
          <a:xfrm>
            <a:off x="838200" y="6122485"/>
            <a:ext cx="10863805" cy="646331"/>
          </a:xfrm>
          <a:prstGeom prst="rect">
            <a:avLst/>
          </a:prstGeom>
          <a:noFill/>
        </p:spPr>
        <p:txBody>
          <a:bodyPr wrap="square" rtlCol="0">
            <a:spAutoFit/>
          </a:bodyPr>
          <a:lstStyle/>
          <a:p>
            <a:r>
              <a:rPr lang="en-US" dirty="0">
                <a:hlinkClick r:id="rId3"/>
              </a:rPr>
              <a:t>Trisovic, A., Lau, M.K., Pasquier, T. </a:t>
            </a:r>
            <a:r>
              <a:rPr lang="en-US" i="1" dirty="0">
                <a:hlinkClick r:id="rId3"/>
              </a:rPr>
              <a:t>et al.</a:t>
            </a:r>
            <a:r>
              <a:rPr lang="en-US" dirty="0">
                <a:hlinkClick r:id="rId3"/>
              </a:rPr>
              <a:t> A large-scale study on research code quality and execution. </a:t>
            </a:r>
            <a:r>
              <a:rPr lang="en-US" i="1" dirty="0">
                <a:hlinkClick r:id="rId3"/>
              </a:rPr>
              <a:t>Sci Data</a:t>
            </a:r>
            <a:r>
              <a:rPr lang="en-US" dirty="0">
                <a:hlinkClick r:id="rId3"/>
              </a:rPr>
              <a:t> </a:t>
            </a:r>
            <a:r>
              <a:rPr lang="en-US" b="1" dirty="0">
                <a:hlinkClick r:id="rId3"/>
              </a:rPr>
              <a:t>9</a:t>
            </a:r>
            <a:r>
              <a:rPr lang="en-US" dirty="0">
                <a:hlinkClick r:id="rId3"/>
              </a:rPr>
              <a:t>, 60 (2022). https://</a:t>
            </a:r>
            <a:r>
              <a:rPr lang="en-US" dirty="0" err="1">
                <a:hlinkClick r:id="rId3"/>
              </a:rPr>
              <a:t>doi.org</a:t>
            </a:r>
            <a:r>
              <a:rPr lang="en-US" dirty="0">
                <a:hlinkClick r:id="rId3"/>
              </a:rPr>
              <a:t>/10.1038/s41597-022-01143-6</a:t>
            </a:r>
            <a:endParaRPr lang="en-US" dirty="0"/>
          </a:p>
        </p:txBody>
      </p:sp>
      <p:sp>
        <p:nvSpPr>
          <p:cNvPr id="6" name="TextBox 5">
            <a:extLst>
              <a:ext uri="{FF2B5EF4-FFF2-40B4-BE49-F238E27FC236}">
                <a16:creationId xmlns:a16="http://schemas.microsoft.com/office/drawing/2014/main" id="{26B1DBC8-DD2D-8D78-85E6-11482F7370E8}"/>
              </a:ext>
            </a:extLst>
          </p:cNvPr>
          <p:cNvSpPr txBox="1"/>
          <p:nvPr/>
        </p:nvSpPr>
        <p:spPr>
          <a:xfrm>
            <a:off x="8556539" y="2013760"/>
            <a:ext cx="3417218" cy="954107"/>
          </a:xfrm>
          <a:prstGeom prst="rect">
            <a:avLst/>
          </a:prstGeom>
          <a:noFill/>
        </p:spPr>
        <p:txBody>
          <a:bodyPr wrap="none" rtlCol="0">
            <a:spAutoFit/>
          </a:bodyPr>
          <a:lstStyle/>
          <a:p>
            <a:r>
              <a:rPr lang="ru-RU" sz="2800" dirty="0">
                <a:solidFill>
                  <a:srgbClr val="C00000"/>
                </a:solidFill>
              </a:rPr>
              <a:t>47%</a:t>
            </a:r>
            <a:endParaRPr lang="en-US" sz="2800" dirty="0">
              <a:solidFill>
                <a:srgbClr val="C00000"/>
              </a:solidFill>
            </a:endParaRPr>
          </a:p>
          <a:p>
            <a:r>
              <a:rPr lang="ru-RU" sz="2800" dirty="0">
                <a:solidFill>
                  <a:srgbClr val="C00000"/>
                </a:solidFill>
              </a:rPr>
              <a:t>на самом деле ниже</a:t>
            </a:r>
            <a:endParaRPr lang="en-US" sz="2800" dirty="0">
              <a:solidFill>
                <a:srgbClr val="C00000"/>
              </a:solidFill>
            </a:endParaRPr>
          </a:p>
        </p:txBody>
      </p:sp>
      <p:sp>
        <p:nvSpPr>
          <p:cNvPr id="7" name="TextBox 6">
            <a:extLst>
              <a:ext uri="{FF2B5EF4-FFF2-40B4-BE49-F238E27FC236}">
                <a16:creationId xmlns:a16="http://schemas.microsoft.com/office/drawing/2014/main" id="{41F46044-D5E5-9CE1-D8D9-AE73A6C42F19}"/>
              </a:ext>
            </a:extLst>
          </p:cNvPr>
          <p:cNvSpPr txBox="1"/>
          <p:nvPr/>
        </p:nvSpPr>
        <p:spPr>
          <a:xfrm>
            <a:off x="838200" y="1644428"/>
            <a:ext cx="2929520" cy="369332"/>
          </a:xfrm>
          <a:prstGeom prst="rect">
            <a:avLst/>
          </a:prstGeom>
          <a:noFill/>
        </p:spPr>
        <p:txBody>
          <a:bodyPr wrap="none" rtlCol="0">
            <a:spAutoFit/>
          </a:bodyPr>
          <a:lstStyle/>
          <a:p>
            <a:r>
              <a:rPr lang="en-US" dirty="0"/>
              <a:t>Harvard Dataverse repository</a:t>
            </a:r>
          </a:p>
        </p:txBody>
      </p:sp>
    </p:spTree>
    <p:extLst>
      <p:ext uri="{BB962C8B-B14F-4D97-AF65-F5344CB8AC3E}">
        <p14:creationId xmlns:p14="http://schemas.microsoft.com/office/powerpoint/2010/main" val="1555989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4D10D71-1551-DC45-6A15-5A019DCB12AA}"/>
              </a:ext>
            </a:extLst>
          </p:cNvPr>
          <p:cNvSpPr>
            <a:spLocks noGrp="1"/>
          </p:cNvSpPr>
          <p:nvPr>
            <p:ph type="title"/>
          </p:nvPr>
        </p:nvSpPr>
        <p:spPr>
          <a:xfrm>
            <a:off x="838200" y="365125"/>
            <a:ext cx="10515600" cy="1325563"/>
          </a:xfrm>
        </p:spPr>
        <p:txBody>
          <a:bodyPr/>
          <a:lstStyle/>
          <a:p>
            <a:r>
              <a:rPr lang="en-US" dirty="0" err="1"/>
              <a:t>install.packages</a:t>
            </a:r>
            <a:endParaRPr lang="en-RU" dirty="0"/>
          </a:p>
        </p:txBody>
      </p:sp>
      <p:pic>
        <p:nvPicPr>
          <p:cNvPr id="5" name="Picture 4">
            <a:extLst>
              <a:ext uri="{FF2B5EF4-FFF2-40B4-BE49-F238E27FC236}">
                <a16:creationId xmlns:a16="http://schemas.microsoft.com/office/drawing/2014/main" id="{E3462962-8AE6-A7FB-FC4E-FCC943271A87}"/>
              </a:ext>
            </a:extLst>
          </p:cNvPr>
          <p:cNvPicPr>
            <a:picLocks noChangeAspect="1"/>
          </p:cNvPicPr>
          <p:nvPr/>
        </p:nvPicPr>
        <p:blipFill>
          <a:blip r:embed="rId2"/>
          <a:stretch>
            <a:fillRect/>
          </a:stretch>
        </p:blipFill>
        <p:spPr>
          <a:xfrm>
            <a:off x="838200" y="1582499"/>
            <a:ext cx="7772400" cy="1335392"/>
          </a:xfrm>
          <a:prstGeom prst="rect">
            <a:avLst/>
          </a:prstGeom>
        </p:spPr>
      </p:pic>
    </p:spTree>
    <p:extLst>
      <p:ext uri="{BB962C8B-B14F-4D97-AF65-F5344CB8AC3E}">
        <p14:creationId xmlns:p14="http://schemas.microsoft.com/office/powerpoint/2010/main" val="1332619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8C35-5E87-2D0A-BA9C-1A1B76A06FDA}"/>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80AFF0EC-211C-3B82-93A5-D268CA47A6E0}"/>
              </a:ext>
            </a:extLst>
          </p:cNvPr>
          <p:cNvSpPr>
            <a:spLocks noGrp="1"/>
          </p:cNvSpPr>
          <p:nvPr>
            <p:ph type="title"/>
          </p:nvPr>
        </p:nvSpPr>
        <p:spPr>
          <a:xfrm>
            <a:off x="838200" y="365125"/>
            <a:ext cx="10515600" cy="1325563"/>
          </a:xfrm>
        </p:spPr>
        <p:txBody>
          <a:bodyPr/>
          <a:lstStyle/>
          <a:p>
            <a:r>
              <a:rPr lang="en-US" dirty="0" err="1"/>
              <a:t>install.packages</a:t>
            </a:r>
            <a:endParaRPr lang="en-RU" dirty="0"/>
          </a:p>
        </p:txBody>
      </p:sp>
      <p:pic>
        <p:nvPicPr>
          <p:cNvPr id="5" name="Picture 4">
            <a:extLst>
              <a:ext uri="{FF2B5EF4-FFF2-40B4-BE49-F238E27FC236}">
                <a16:creationId xmlns:a16="http://schemas.microsoft.com/office/drawing/2014/main" id="{C278343D-2597-18B5-B52F-00A1CD73548D}"/>
              </a:ext>
            </a:extLst>
          </p:cNvPr>
          <p:cNvPicPr>
            <a:picLocks noChangeAspect="1"/>
          </p:cNvPicPr>
          <p:nvPr/>
        </p:nvPicPr>
        <p:blipFill>
          <a:blip r:embed="rId2"/>
          <a:stretch>
            <a:fillRect/>
          </a:stretch>
        </p:blipFill>
        <p:spPr>
          <a:xfrm>
            <a:off x="838200" y="1582499"/>
            <a:ext cx="7772400" cy="1335392"/>
          </a:xfrm>
          <a:prstGeom prst="rect">
            <a:avLst/>
          </a:prstGeom>
        </p:spPr>
      </p:pic>
      <p:sp>
        <p:nvSpPr>
          <p:cNvPr id="3" name="TextBox 2">
            <a:extLst>
              <a:ext uri="{FF2B5EF4-FFF2-40B4-BE49-F238E27FC236}">
                <a16:creationId xmlns:a16="http://schemas.microsoft.com/office/drawing/2014/main" id="{96FFF7CF-7C7B-A7DA-10B1-A68A57E144A8}"/>
              </a:ext>
            </a:extLst>
          </p:cNvPr>
          <p:cNvSpPr txBox="1"/>
          <p:nvPr/>
        </p:nvSpPr>
        <p:spPr>
          <a:xfrm>
            <a:off x="838200" y="3429000"/>
            <a:ext cx="1316386" cy="769441"/>
          </a:xfrm>
          <a:prstGeom prst="rect">
            <a:avLst/>
          </a:prstGeom>
          <a:noFill/>
        </p:spPr>
        <p:txBody>
          <a:bodyPr wrap="none" rtlCol="0">
            <a:spAutoFit/>
          </a:bodyPr>
          <a:lstStyle/>
          <a:p>
            <a:r>
              <a:rPr lang="en-US" sz="4400" dirty="0">
                <a:latin typeface="+mj-lt"/>
              </a:rPr>
              <a:t>2.1.5</a:t>
            </a:r>
            <a:endParaRPr lang="en-RU" sz="4400" dirty="0">
              <a:latin typeface="+mj-lt"/>
            </a:endParaRPr>
          </a:p>
        </p:txBody>
      </p:sp>
    </p:spTree>
    <p:extLst>
      <p:ext uri="{BB962C8B-B14F-4D97-AF65-F5344CB8AC3E}">
        <p14:creationId xmlns:p14="http://schemas.microsoft.com/office/powerpoint/2010/main" val="4023984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C49D-95BB-8127-B8CE-5D59E7C9F05B}"/>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F6779B2B-9B1A-5437-27E6-CBC02A71F820}"/>
              </a:ext>
            </a:extLst>
          </p:cNvPr>
          <p:cNvSpPr>
            <a:spLocks noGrp="1"/>
          </p:cNvSpPr>
          <p:nvPr>
            <p:ph type="title"/>
          </p:nvPr>
        </p:nvSpPr>
        <p:spPr>
          <a:xfrm>
            <a:off x="838200" y="365125"/>
            <a:ext cx="10515600" cy="1325563"/>
          </a:xfrm>
        </p:spPr>
        <p:txBody>
          <a:bodyPr/>
          <a:lstStyle/>
          <a:p>
            <a:r>
              <a:rPr lang="en-US" dirty="0" err="1"/>
              <a:t>install.packages</a:t>
            </a:r>
            <a:endParaRPr lang="en-RU" dirty="0"/>
          </a:p>
        </p:txBody>
      </p:sp>
      <p:pic>
        <p:nvPicPr>
          <p:cNvPr id="5" name="Picture 4">
            <a:extLst>
              <a:ext uri="{FF2B5EF4-FFF2-40B4-BE49-F238E27FC236}">
                <a16:creationId xmlns:a16="http://schemas.microsoft.com/office/drawing/2014/main" id="{888002D4-234F-76AB-20BF-D65C449A7160}"/>
              </a:ext>
            </a:extLst>
          </p:cNvPr>
          <p:cNvPicPr>
            <a:picLocks noChangeAspect="1"/>
          </p:cNvPicPr>
          <p:nvPr/>
        </p:nvPicPr>
        <p:blipFill>
          <a:blip r:embed="rId3"/>
          <a:stretch>
            <a:fillRect/>
          </a:stretch>
        </p:blipFill>
        <p:spPr>
          <a:xfrm>
            <a:off x="838200" y="1582499"/>
            <a:ext cx="7772400" cy="1335392"/>
          </a:xfrm>
          <a:prstGeom prst="rect">
            <a:avLst/>
          </a:prstGeom>
        </p:spPr>
      </p:pic>
      <p:sp>
        <p:nvSpPr>
          <p:cNvPr id="2" name="TextBox 1">
            <a:extLst>
              <a:ext uri="{FF2B5EF4-FFF2-40B4-BE49-F238E27FC236}">
                <a16:creationId xmlns:a16="http://schemas.microsoft.com/office/drawing/2014/main" id="{79051975-2233-F387-25D7-B821CD9F9A0C}"/>
              </a:ext>
            </a:extLst>
          </p:cNvPr>
          <p:cNvSpPr txBox="1"/>
          <p:nvPr/>
        </p:nvSpPr>
        <p:spPr>
          <a:xfrm>
            <a:off x="838200" y="3429000"/>
            <a:ext cx="3235181" cy="769441"/>
          </a:xfrm>
          <a:prstGeom prst="rect">
            <a:avLst/>
          </a:prstGeom>
          <a:noFill/>
        </p:spPr>
        <p:txBody>
          <a:bodyPr wrap="none" rtlCol="0">
            <a:spAutoFit/>
          </a:bodyPr>
          <a:lstStyle/>
          <a:p>
            <a:r>
              <a:rPr lang="en-US" sz="4400" dirty="0">
                <a:latin typeface="+mj-lt"/>
              </a:rPr>
              <a:t>2.1.5 </a:t>
            </a:r>
            <a:r>
              <a:rPr lang="en-RU" sz="4400" dirty="0">
                <a:latin typeface="+mj-lt"/>
              </a:rPr>
              <a:t>→ 3.0.4</a:t>
            </a:r>
          </a:p>
        </p:txBody>
      </p:sp>
    </p:spTree>
    <p:extLst>
      <p:ext uri="{BB962C8B-B14F-4D97-AF65-F5344CB8AC3E}">
        <p14:creationId xmlns:p14="http://schemas.microsoft.com/office/powerpoint/2010/main" val="1861072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F4CE1-5312-AA0C-EBEE-462320B6170F}"/>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35343979-AA8F-75A3-3B65-E72490BE858C}"/>
              </a:ext>
            </a:extLst>
          </p:cNvPr>
          <p:cNvPicPr>
            <a:picLocks noChangeAspect="1"/>
          </p:cNvPicPr>
          <p:nvPr/>
        </p:nvPicPr>
        <p:blipFill>
          <a:blip r:embed="rId2"/>
          <a:srcRect t="10471"/>
          <a:stretch/>
        </p:blipFill>
        <p:spPr>
          <a:xfrm>
            <a:off x="838200" y="1432193"/>
            <a:ext cx="7173846" cy="5246132"/>
          </a:xfrm>
          <a:prstGeom prst="rect">
            <a:avLst/>
          </a:prstGeom>
        </p:spPr>
      </p:pic>
      <p:sp>
        <p:nvSpPr>
          <p:cNvPr id="2" name="Title 1">
            <a:extLst>
              <a:ext uri="{FF2B5EF4-FFF2-40B4-BE49-F238E27FC236}">
                <a16:creationId xmlns:a16="http://schemas.microsoft.com/office/drawing/2014/main" id="{422C3527-E78C-A488-F701-0DD85855B679}"/>
              </a:ext>
            </a:extLst>
          </p:cNvPr>
          <p:cNvSpPr>
            <a:spLocks noGrp="1"/>
          </p:cNvSpPr>
          <p:nvPr>
            <p:ph type="title"/>
          </p:nvPr>
        </p:nvSpPr>
        <p:spPr>
          <a:xfrm>
            <a:off x="838200" y="365125"/>
            <a:ext cx="10515600" cy="1325563"/>
          </a:xfrm>
        </p:spPr>
        <p:txBody>
          <a:bodyPr/>
          <a:lstStyle/>
          <a:p>
            <a:r>
              <a:rPr lang="en-US" dirty="0" err="1"/>
              <a:t>sessionInfo</a:t>
            </a:r>
            <a:endParaRPr lang="en-RU" dirty="0"/>
          </a:p>
        </p:txBody>
      </p:sp>
    </p:spTree>
    <p:extLst>
      <p:ext uri="{BB962C8B-B14F-4D97-AF65-F5344CB8AC3E}">
        <p14:creationId xmlns:p14="http://schemas.microsoft.com/office/powerpoint/2010/main" val="2310225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B5FFD7-7727-2D4C-458F-8EA048F141A7}"/>
              </a:ext>
            </a:extLst>
          </p:cNvPr>
          <p:cNvPicPr>
            <a:picLocks noChangeAspect="1"/>
          </p:cNvPicPr>
          <p:nvPr/>
        </p:nvPicPr>
        <p:blipFill>
          <a:blip r:embed="rId2"/>
          <a:stretch>
            <a:fillRect/>
          </a:stretch>
        </p:blipFill>
        <p:spPr>
          <a:xfrm>
            <a:off x="838200" y="1586656"/>
            <a:ext cx="5074446" cy="3684688"/>
          </a:xfrm>
          <a:prstGeom prst="rect">
            <a:avLst/>
          </a:prstGeom>
        </p:spPr>
      </p:pic>
      <p:sp>
        <p:nvSpPr>
          <p:cNvPr id="2" name="Title 1">
            <a:extLst>
              <a:ext uri="{FF2B5EF4-FFF2-40B4-BE49-F238E27FC236}">
                <a16:creationId xmlns:a16="http://schemas.microsoft.com/office/drawing/2014/main" id="{C11943CB-A92A-0A67-A662-6073CFE7B0E5}"/>
              </a:ext>
            </a:extLst>
          </p:cNvPr>
          <p:cNvSpPr>
            <a:spLocks noGrp="1"/>
          </p:cNvSpPr>
          <p:nvPr>
            <p:ph type="title"/>
          </p:nvPr>
        </p:nvSpPr>
        <p:spPr/>
        <p:txBody>
          <a:bodyPr/>
          <a:lstStyle/>
          <a:p>
            <a:r>
              <a:rPr lang="en-RU" dirty="0"/>
              <a:t>renv</a:t>
            </a:r>
          </a:p>
        </p:txBody>
      </p:sp>
      <p:sp>
        <p:nvSpPr>
          <p:cNvPr id="5" name="Rectangle 4">
            <a:extLst>
              <a:ext uri="{FF2B5EF4-FFF2-40B4-BE49-F238E27FC236}">
                <a16:creationId xmlns:a16="http://schemas.microsoft.com/office/drawing/2014/main" id="{D534B950-BB2D-AE9C-1D20-AE3A1337A593}"/>
              </a:ext>
            </a:extLst>
          </p:cNvPr>
          <p:cNvSpPr/>
          <p:nvPr/>
        </p:nvSpPr>
        <p:spPr>
          <a:xfrm>
            <a:off x="2149661" y="3387807"/>
            <a:ext cx="2027582" cy="586408"/>
          </a:xfrm>
          <a:prstGeom prst="rect">
            <a:avLst/>
          </a:prstGeom>
          <a:noFill/>
          <a:ln w="3810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pic>
        <p:nvPicPr>
          <p:cNvPr id="6" name="Picture 2" descr="A diagram showing the most important verbs and nouns of renv. Projects start with init(), which creates a project library using packages from the system library. snapshot() updates the lockfile using the packages installed in the project library, where restore() installs packages into the project library using the metadata from the lockfile, and status() compares the lockfile to the project library. You install and update packages from CRAN and GitHub using install() and update(), but because you'll need to do this for multiple projects, renv uses cache to make this fast.&#10;">
            <a:extLst>
              <a:ext uri="{FF2B5EF4-FFF2-40B4-BE49-F238E27FC236}">
                <a16:creationId xmlns:a16="http://schemas.microsoft.com/office/drawing/2014/main" id="{CC6DB2A1-C7F3-8D2A-795E-A803E6B33F93}"/>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3709" r="48593"/>
          <a:stretch/>
        </p:blipFill>
        <p:spPr bwMode="auto">
          <a:xfrm>
            <a:off x="6575925" y="1473067"/>
            <a:ext cx="3234414" cy="4276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4166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5B97E-FCC3-76E3-9F2A-4E32A04CE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A34D5C-259F-B7B5-2F80-6966D78F0F4B}"/>
              </a:ext>
            </a:extLst>
          </p:cNvPr>
          <p:cNvSpPr>
            <a:spLocks noGrp="1"/>
          </p:cNvSpPr>
          <p:nvPr>
            <p:ph type="title"/>
          </p:nvPr>
        </p:nvSpPr>
        <p:spPr>
          <a:xfrm>
            <a:off x="838200" y="365125"/>
            <a:ext cx="10515600" cy="1325563"/>
          </a:xfrm>
        </p:spPr>
        <p:txBody>
          <a:bodyPr/>
          <a:lstStyle/>
          <a:p>
            <a:r>
              <a:rPr lang="en-US" dirty="0" err="1"/>
              <a:t>renv</a:t>
            </a:r>
            <a:endParaRPr lang="en-RU" dirty="0"/>
          </a:p>
        </p:txBody>
      </p:sp>
      <p:pic>
        <p:nvPicPr>
          <p:cNvPr id="7" name="Picture 6">
            <a:extLst>
              <a:ext uri="{FF2B5EF4-FFF2-40B4-BE49-F238E27FC236}">
                <a16:creationId xmlns:a16="http://schemas.microsoft.com/office/drawing/2014/main" id="{97732C3E-490A-DBDD-2F32-1116DC1197BA}"/>
              </a:ext>
            </a:extLst>
          </p:cNvPr>
          <p:cNvPicPr>
            <a:picLocks noChangeAspect="1"/>
          </p:cNvPicPr>
          <p:nvPr/>
        </p:nvPicPr>
        <p:blipFill>
          <a:blip r:embed="rId2"/>
          <a:stretch>
            <a:fillRect/>
          </a:stretch>
        </p:blipFill>
        <p:spPr>
          <a:xfrm>
            <a:off x="926814" y="1504429"/>
            <a:ext cx="7234513" cy="5245022"/>
          </a:xfrm>
          <a:prstGeom prst="rect">
            <a:avLst/>
          </a:prstGeom>
        </p:spPr>
      </p:pic>
    </p:spTree>
    <p:extLst>
      <p:ext uri="{BB962C8B-B14F-4D97-AF65-F5344CB8AC3E}">
        <p14:creationId xmlns:p14="http://schemas.microsoft.com/office/powerpoint/2010/main" val="864275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D51CC-3680-785F-75E9-E5299E4C5D7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CB0B89B-03F9-2AED-5A33-AB28E8B98A1A}"/>
              </a:ext>
            </a:extLst>
          </p:cNvPr>
          <p:cNvPicPr>
            <a:picLocks noChangeAspect="1"/>
          </p:cNvPicPr>
          <p:nvPr/>
        </p:nvPicPr>
        <p:blipFill>
          <a:blip r:embed="rId2"/>
          <a:stretch>
            <a:fillRect/>
          </a:stretch>
        </p:blipFill>
        <p:spPr>
          <a:xfrm>
            <a:off x="926814" y="1504429"/>
            <a:ext cx="7234513" cy="5245022"/>
          </a:xfrm>
          <a:prstGeom prst="rect">
            <a:avLst/>
          </a:prstGeom>
        </p:spPr>
      </p:pic>
      <p:sp>
        <p:nvSpPr>
          <p:cNvPr id="2" name="Title 1">
            <a:extLst>
              <a:ext uri="{FF2B5EF4-FFF2-40B4-BE49-F238E27FC236}">
                <a16:creationId xmlns:a16="http://schemas.microsoft.com/office/drawing/2014/main" id="{BBC0D5C0-E35B-1A79-4A89-21F61F488FBF}"/>
              </a:ext>
            </a:extLst>
          </p:cNvPr>
          <p:cNvSpPr>
            <a:spLocks noGrp="1"/>
          </p:cNvSpPr>
          <p:nvPr>
            <p:ph type="title"/>
          </p:nvPr>
        </p:nvSpPr>
        <p:spPr>
          <a:xfrm>
            <a:off x="838200" y="365125"/>
            <a:ext cx="10515600" cy="1325563"/>
          </a:xfrm>
        </p:spPr>
        <p:txBody>
          <a:bodyPr/>
          <a:lstStyle/>
          <a:p>
            <a:r>
              <a:rPr lang="en-US" dirty="0" err="1"/>
              <a:t>renv.lock</a:t>
            </a:r>
            <a:endParaRPr lang="en-RU" dirty="0"/>
          </a:p>
        </p:txBody>
      </p:sp>
      <p:pic>
        <p:nvPicPr>
          <p:cNvPr id="3" name="Picture 2">
            <a:extLst>
              <a:ext uri="{FF2B5EF4-FFF2-40B4-BE49-F238E27FC236}">
                <a16:creationId xmlns:a16="http://schemas.microsoft.com/office/drawing/2014/main" id="{87006B3F-3AE2-7D67-4088-D503A70048FD}"/>
              </a:ext>
            </a:extLst>
          </p:cNvPr>
          <p:cNvPicPr>
            <a:picLocks noChangeAspect="1"/>
          </p:cNvPicPr>
          <p:nvPr/>
        </p:nvPicPr>
        <p:blipFill>
          <a:blip r:embed="rId3"/>
          <a:stretch>
            <a:fillRect/>
          </a:stretch>
        </p:blipFill>
        <p:spPr>
          <a:xfrm>
            <a:off x="8539290" y="1504429"/>
            <a:ext cx="3371740" cy="5025801"/>
          </a:xfrm>
          <a:prstGeom prst="rect">
            <a:avLst/>
          </a:prstGeom>
        </p:spPr>
      </p:pic>
      <p:sp>
        <p:nvSpPr>
          <p:cNvPr id="6" name="Right Arrow 5">
            <a:extLst>
              <a:ext uri="{FF2B5EF4-FFF2-40B4-BE49-F238E27FC236}">
                <a16:creationId xmlns:a16="http://schemas.microsoft.com/office/drawing/2014/main" id="{EBF3A666-7921-AA79-A309-E5C5A45DC866}"/>
              </a:ext>
            </a:extLst>
          </p:cNvPr>
          <p:cNvSpPr/>
          <p:nvPr/>
        </p:nvSpPr>
        <p:spPr>
          <a:xfrm>
            <a:off x="5139673" y="1804730"/>
            <a:ext cx="2800801" cy="553598"/>
          </a:xfrm>
          <a:prstGeom prst="rightArrow">
            <a:avLst/>
          </a:prstGeom>
          <a:solidFill>
            <a:srgbClr val="0070C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10" name="TextBox 9">
            <a:extLst>
              <a:ext uri="{FF2B5EF4-FFF2-40B4-BE49-F238E27FC236}">
                <a16:creationId xmlns:a16="http://schemas.microsoft.com/office/drawing/2014/main" id="{890FC53C-19BE-A501-F938-AD30F9AF0FCC}"/>
              </a:ext>
            </a:extLst>
          </p:cNvPr>
          <p:cNvSpPr txBox="1"/>
          <p:nvPr/>
        </p:nvSpPr>
        <p:spPr>
          <a:xfrm>
            <a:off x="5139673" y="1362100"/>
            <a:ext cx="2467342" cy="369332"/>
          </a:xfrm>
          <a:prstGeom prst="rect">
            <a:avLst/>
          </a:prstGeom>
          <a:noFill/>
        </p:spPr>
        <p:txBody>
          <a:bodyPr wrap="none" rtlCol="0">
            <a:spAutoFit/>
          </a:bodyPr>
          <a:lstStyle/>
          <a:p>
            <a:r>
              <a:rPr lang="en-GB" dirty="0">
                <a:solidFill>
                  <a:srgbClr val="0070C0"/>
                </a:solidFill>
                <a:latin typeface="Fira Code" pitchFamily="49" charset="0"/>
                <a:ea typeface="Fira Code" pitchFamily="49" charset="0"/>
                <a:cs typeface="Fira Code" pitchFamily="49" charset="0"/>
              </a:rPr>
              <a:t>r</a:t>
            </a:r>
            <a:r>
              <a:rPr lang="en-RU" dirty="0">
                <a:solidFill>
                  <a:srgbClr val="0070C0"/>
                </a:solidFill>
                <a:latin typeface="Fira Code" pitchFamily="49" charset="0"/>
                <a:ea typeface="Fira Code" pitchFamily="49" charset="0"/>
                <a:cs typeface="Fira Code" pitchFamily="49" charset="0"/>
              </a:rPr>
              <a:t>env::snapshot()</a:t>
            </a:r>
          </a:p>
        </p:txBody>
      </p:sp>
    </p:spTree>
    <p:extLst>
      <p:ext uri="{BB962C8B-B14F-4D97-AF65-F5344CB8AC3E}">
        <p14:creationId xmlns:p14="http://schemas.microsoft.com/office/powerpoint/2010/main" val="3541586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E7513-6CD9-BC63-B2F9-FB9B9CC0CE0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C4139D2-508D-49B7-4682-B3603C19C67B}"/>
              </a:ext>
            </a:extLst>
          </p:cNvPr>
          <p:cNvPicPr>
            <a:picLocks noChangeAspect="1"/>
          </p:cNvPicPr>
          <p:nvPr/>
        </p:nvPicPr>
        <p:blipFill>
          <a:blip r:embed="rId2"/>
          <a:stretch>
            <a:fillRect/>
          </a:stretch>
        </p:blipFill>
        <p:spPr>
          <a:xfrm>
            <a:off x="926814" y="1504429"/>
            <a:ext cx="7234513" cy="5245022"/>
          </a:xfrm>
          <a:prstGeom prst="rect">
            <a:avLst/>
          </a:prstGeom>
        </p:spPr>
      </p:pic>
      <p:sp>
        <p:nvSpPr>
          <p:cNvPr id="2" name="Title 1">
            <a:extLst>
              <a:ext uri="{FF2B5EF4-FFF2-40B4-BE49-F238E27FC236}">
                <a16:creationId xmlns:a16="http://schemas.microsoft.com/office/drawing/2014/main" id="{4D73D04F-0FB9-90DE-9F40-5ABB1A166042}"/>
              </a:ext>
            </a:extLst>
          </p:cNvPr>
          <p:cNvSpPr>
            <a:spLocks noGrp="1"/>
          </p:cNvSpPr>
          <p:nvPr>
            <p:ph type="title"/>
          </p:nvPr>
        </p:nvSpPr>
        <p:spPr>
          <a:xfrm>
            <a:off x="838200" y="365125"/>
            <a:ext cx="10515600" cy="1325563"/>
          </a:xfrm>
        </p:spPr>
        <p:txBody>
          <a:bodyPr/>
          <a:lstStyle/>
          <a:p>
            <a:r>
              <a:rPr lang="en-US" dirty="0" err="1"/>
              <a:t>renv.lock</a:t>
            </a:r>
            <a:endParaRPr lang="en-RU" dirty="0"/>
          </a:p>
        </p:txBody>
      </p:sp>
      <p:pic>
        <p:nvPicPr>
          <p:cNvPr id="3" name="Picture 2">
            <a:extLst>
              <a:ext uri="{FF2B5EF4-FFF2-40B4-BE49-F238E27FC236}">
                <a16:creationId xmlns:a16="http://schemas.microsoft.com/office/drawing/2014/main" id="{73A523E6-0190-3832-01F7-B0C176A4D2B1}"/>
              </a:ext>
            </a:extLst>
          </p:cNvPr>
          <p:cNvPicPr>
            <a:picLocks noChangeAspect="1"/>
          </p:cNvPicPr>
          <p:nvPr/>
        </p:nvPicPr>
        <p:blipFill>
          <a:blip r:embed="rId3"/>
          <a:stretch>
            <a:fillRect/>
          </a:stretch>
        </p:blipFill>
        <p:spPr>
          <a:xfrm>
            <a:off x="8539290" y="1504429"/>
            <a:ext cx="3371740" cy="5025801"/>
          </a:xfrm>
          <a:prstGeom prst="rect">
            <a:avLst/>
          </a:prstGeom>
        </p:spPr>
      </p:pic>
      <p:sp>
        <p:nvSpPr>
          <p:cNvPr id="5" name="TextBox 4">
            <a:extLst>
              <a:ext uri="{FF2B5EF4-FFF2-40B4-BE49-F238E27FC236}">
                <a16:creationId xmlns:a16="http://schemas.microsoft.com/office/drawing/2014/main" id="{15FFBB95-9D8D-936C-F3BB-132F692F8778}"/>
              </a:ext>
            </a:extLst>
          </p:cNvPr>
          <p:cNvSpPr txBox="1"/>
          <p:nvPr/>
        </p:nvSpPr>
        <p:spPr>
          <a:xfrm>
            <a:off x="4930610" y="1357190"/>
            <a:ext cx="3608680" cy="1754326"/>
          </a:xfrm>
          <a:prstGeom prst="rect">
            <a:avLst/>
          </a:prstGeom>
          <a:noFill/>
        </p:spPr>
        <p:txBody>
          <a:bodyPr wrap="none" rtlCol="0">
            <a:spAutoFit/>
          </a:bodyPr>
          <a:lstStyle/>
          <a:p>
            <a:r>
              <a:rPr lang="en-US" dirty="0">
                <a:solidFill>
                  <a:srgbClr val="0070C0"/>
                </a:solidFill>
                <a:latin typeface="Fira Code" pitchFamily="49" charset="0"/>
                <a:ea typeface="Fira Code" pitchFamily="49" charset="0"/>
                <a:cs typeface="Fira Code" pitchFamily="49" charset="0"/>
              </a:rPr>
              <a:t># </a:t>
            </a:r>
            <a:r>
              <a:rPr lang="ru-RU" dirty="0">
                <a:solidFill>
                  <a:srgbClr val="0070C0"/>
                </a:solidFill>
                <a:latin typeface="Fira Code" pitchFamily="49" charset="0"/>
                <a:ea typeface="Fira Code" pitchFamily="49" charset="0"/>
                <a:cs typeface="Fira Code" pitchFamily="49" charset="0"/>
              </a:rPr>
              <a:t>или </a:t>
            </a:r>
            <a:r>
              <a:rPr lang="en-US" dirty="0">
                <a:solidFill>
                  <a:srgbClr val="0070C0"/>
                </a:solidFill>
                <a:latin typeface="Fira Code" pitchFamily="49" charset="0"/>
                <a:ea typeface="Fira Code" pitchFamily="49" charset="0"/>
                <a:cs typeface="Fira Code" pitchFamily="49" charset="0"/>
              </a:rPr>
              <a:t>lock = TRUE</a:t>
            </a:r>
          </a:p>
          <a:p>
            <a:endParaRPr lang="ru-RU" dirty="0">
              <a:solidFill>
                <a:srgbClr val="0070C0"/>
              </a:solidFill>
              <a:latin typeface="Fira Code" pitchFamily="49" charset="0"/>
              <a:ea typeface="Fira Code" pitchFamily="49" charset="0"/>
              <a:cs typeface="Fira Code" pitchFamily="49" charset="0"/>
            </a:endParaRPr>
          </a:p>
          <a:p>
            <a:r>
              <a:rPr lang="en-US" dirty="0" err="1">
                <a:solidFill>
                  <a:srgbClr val="0070C0"/>
                </a:solidFill>
                <a:latin typeface="Fira Code" pitchFamily="49" charset="0"/>
                <a:ea typeface="Fira Code" pitchFamily="49" charset="0"/>
                <a:cs typeface="Fira Code" pitchFamily="49" charset="0"/>
              </a:rPr>
              <a:t>renv</a:t>
            </a:r>
            <a:r>
              <a:rPr lang="en-US" dirty="0">
                <a:solidFill>
                  <a:srgbClr val="0070C0"/>
                </a:solidFill>
                <a:latin typeface="Fira Code" pitchFamily="49" charset="0"/>
                <a:ea typeface="Fira Code" pitchFamily="49" charset="0"/>
                <a:cs typeface="Fira Code" pitchFamily="49" charset="0"/>
              </a:rPr>
              <a:t>::install(</a:t>
            </a:r>
          </a:p>
          <a:p>
            <a:r>
              <a:rPr lang="en-US" dirty="0">
                <a:solidFill>
                  <a:srgbClr val="0070C0"/>
                </a:solidFill>
                <a:latin typeface="Fira Code" pitchFamily="49" charset="0"/>
                <a:ea typeface="Fira Code" pitchFamily="49" charset="0"/>
                <a:cs typeface="Fira Code" pitchFamily="49" charset="0"/>
              </a:rPr>
              <a:t>    c("</a:t>
            </a:r>
            <a:r>
              <a:rPr lang="en-US" dirty="0" err="1">
                <a:solidFill>
                  <a:srgbClr val="0070C0"/>
                </a:solidFill>
                <a:latin typeface="Fira Code" pitchFamily="49" charset="0"/>
                <a:ea typeface="Fira Code" pitchFamily="49" charset="0"/>
                <a:cs typeface="Fira Code" pitchFamily="49" charset="0"/>
              </a:rPr>
              <a:t>readr</a:t>
            </a:r>
            <a:r>
              <a:rPr lang="en-US" dirty="0">
                <a:solidFill>
                  <a:srgbClr val="0070C0"/>
                </a:solidFill>
                <a:latin typeface="Fira Code" pitchFamily="49" charset="0"/>
                <a:ea typeface="Fira Code" pitchFamily="49" charset="0"/>
                <a:cs typeface="Fira Code" pitchFamily="49" charset="0"/>
              </a:rPr>
              <a:t>", "</a:t>
            </a:r>
            <a:r>
              <a:rPr lang="en-US" dirty="0" err="1">
                <a:solidFill>
                  <a:srgbClr val="0070C0"/>
                </a:solidFill>
                <a:latin typeface="Fira Code" pitchFamily="49" charset="0"/>
                <a:ea typeface="Fira Code" pitchFamily="49" charset="0"/>
                <a:cs typeface="Fira Code" pitchFamily="49" charset="0"/>
              </a:rPr>
              <a:t>dplyr</a:t>
            </a:r>
            <a:r>
              <a:rPr lang="en-US" dirty="0">
                <a:solidFill>
                  <a:srgbClr val="0070C0"/>
                </a:solidFill>
                <a:latin typeface="Fira Code" pitchFamily="49" charset="0"/>
                <a:ea typeface="Fira Code" pitchFamily="49" charset="0"/>
                <a:cs typeface="Fira Code" pitchFamily="49" charset="0"/>
              </a:rPr>
              <a:t>"),</a:t>
            </a:r>
          </a:p>
          <a:p>
            <a:r>
              <a:rPr lang="en-US" dirty="0">
                <a:solidFill>
                  <a:srgbClr val="0070C0"/>
                </a:solidFill>
                <a:latin typeface="Fira Code" pitchFamily="49" charset="0"/>
                <a:ea typeface="Fira Code" pitchFamily="49" charset="0"/>
                <a:cs typeface="Fira Code" pitchFamily="49" charset="0"/>
              </a:rPr>
              <a:t>    lock = TRUE</a:t>
            </a:r>
          </a:p>
          <a:p>
            <a:r>
              <a:rPr lang="en-US" dirty="0">
                <a:solidFill>
                  <a:srgbClr val="0070C0"/>
                </a:solidFill>
                <a:latin typeface="Fira Code" pitchFamily="49" charset="0"/>
                <a:ea typeface="Fira Code" pitchFamily="49" charset="0"/>
                <a:cs typeface="Fira Code" pitchFamily="49" charset="0"/>
              </a:rPr>
              <a:t>)</a:t>
            </a:r>
            <a:endParaRPr lang="en-RU" dirty="0">
              <a:solidFill>
                <a:srgbClr val="0070C0"/>
              </a:solidFill>
              <a:latin typeface="Fira Code" pitchFamily="49" charset="0"/>
              <a:ea typeface="Fira Code" pitchFamily="49" charset="0"/>
              <a:cs typeface="Fira Code" pitchFamily="49" charset="0"/>
            </a:endParaRPr>
          </a:p>
        </p:txBody>
      </p:sp>
    </p:spTree>
    <p:extLst>
      <p:ext uri="{BB962C8B-B14F-4D97-AF65-F5344CB8AC3E}">
        <p14:creationId xmlns:p14="http://schemas.microsoft.com/office/powerpoint/2010/main" val="1047834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C7EF5-B3D6-D7DA-60D5-7383898F1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074E6-69C9-C83F-AEDA-D5D87BBB1501}"/>
              </a:ext>
            </a:extLst>
          </p:cNvPr>
          <p:cNvSpPr>
            <a:spLocks noGrp="1"/>
          </p:cNvSpPr>
          <p:nvPr>
            <p:ph type="title"/>
          </p:nvPr>
        </p:nvSpPr>
        <p:spPr/>
        <p:txBody>
          <a:bodyPr/>
          <a:lstStyle/>
          <a:p>
            <a:r>
              <a:rPr lang="en-RU" dirty="0"/>
              <a:t>renv</a:t>
            </a:r>
          </a:p>
        </p:txBody>
      </p:sp>
      <p:pic>
        <p:nvPicPr>
          <p:cNvPr id="3074" name="Picture 2" descr="A diagram showing the most important verbs and nouns of renv. Projects start with init(), which creates a project library using packages from the system library. snapshot() updates the lockfile using the packages installed in the project library, where restore() installs packages into the project library using the metadata from the lockfile, and status() compares the lockfile to the project library. You install and update packages from CRAN and GitHub using install() and update(), but because you'll need to do this for multiple projects, renv uses cache to make this fast.&#10;">
            <a:extLst>
              <a:ext uri="{FF2B5EF4-FFF2-40B4-BE49-F238E27FC236}">
                <a16:creationId xmlns:a16="http://schemas.microsoft.com/office/drawing/2014/main" id="{BF886D8F-BD91-E18C-01D7-D95CE620B5D8}"/>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709"/>
          <a:stretch/>
        </p:blipFill>
        <p:spPr bwMode="auto">
          <a:xfrm>
            <a:off x="838200" y="1690688"/>
            <a:ext cx="6529592" cy="4276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1438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3CEF4-1F13-02E3-8F49-DF2BD5C603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892179-BDC7-3E58-CB25-8115B6C83276}"/>
              </a:ext>
            </a:extLst>
          </p:cNvPr>
          <p:cNvSpPr>
            <a:spLocks noGrp="1"/>
          </p:cNvSpPr>
          <p:nvPr>
            <p:ph type="title"/>
          </p:nvPr>
        </p:nvSpPr>
        <p:spPr/>
        <p:txBody>
          <a:bodyPr/>
          <a:lstStyle/>
          <a:p>
            <a:r>
              <a:rPr lang="en-RU" dirty="0"/>
              <a:t>renv</a:t>
            </a:r>
          </a:p>
        </p:txBody>
      </p:sp>
      <p:pic>
        <p:nvPicPr>
          <p:cNvPr id="3074" name="Picture 2" descr="A diagram showing the most important verbs and nouns of renv. Projects start with init(), which creates a project library using packages from the system library. snapshot() updates the lockfile using the packages installed in the project library, where restore() installs packages into the project library using the metadata from the lockfile, and status() compares the lockfile to the project library. You install and update packages from CRAN and GitHub using install() and update(), but because you'll need to do this for multiple projects, renv uses cache to make this fast.&#10;">
            <a:extLst>
              <a:ext uri="{FF2B5EF4-FFF2-40B4-BE49-F238E27FC236}">
                <a16:creationId xmlns:a16="http://schemas.microsoft.com/office/drawing/2014/main" id="{B1E16A4F-EE98-FAB1-D55D-FEA7064757FF}"/>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709"/>
          <a:stretch/>
        </p:blipFill>
        <p:spPr bwMode="auto">
          <a:xfrm>
            <a:off x="838200" y="1690688"/>
            <a:ext cx="6529592" cy="427698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263B1FE9-E706-DAE1-2F77-8C1BCADA3A7A}"/>
              </a:ext>
            </a:extLst>
          </p:cNvPr>
          <p:cNvSpPr txBox="1">
            <a:spLocks/>
          </p:cNvSpPr>
          <p:nvPr/>
        </p:nvSpPr>
        <p:spPr>
          <a:xfrm>
            <a:off x="838200" y="5967677"/>
            <a:ext cx="10515600" cy="8903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rig –</a:t>
            </a:r>
            <a:r>
              <a:rPr lang="ru-RU" dirty="0"/>
              <a:t> несколько версий </a:t>
            </a:r>
            <a:r>
              <a:rPr lang="en-US" dirty="0"/>
              <a:t>R</a:t>
            </a:r>
            <a:endParaRPr lang="en-RU" dirty="0"/>
          </a:p>
        </p:txBody>
      </p:sp>
    </p:spTree>
    <p:extLst>
      <p:ext uri="{BB962C8B-B14F-4D97-AF65-F5344CB8AC3E}">
        <p14:creationId xmlns:p14="http://schemas.microsoft.com/office/powerpoint/2010/main" val="4310707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BABF1-A707-1500-EF2F-ACE5EABBE902}"/>
              </a:ext>
            </a:extLst>
          </p:cNvPr>
          <p:cNvSpPr>
            <a:spLocks noGrp="1"/>
          </p:cNvSpPr>
          <p:nvPr>
            <p:ph type="title"/>
          </p:nvPr>
        </p:nvSpPr>
        <p:spPr/>
        <p:txBody>
          <a:bodyPr/>
          <a:lstStyle/>
          <a:p>
            <a:r>
              <a:rPr lang="en-US" dirty="0"/>
              <a:t>stop</a:t>
            </a:r>
          </a:p>
        </p:txBody>
      </p:sp>
      <p:sp>
        <p:nvSpPr>
          <p:cNvPr id="3" name="Content Placeholder 2">
            <a:extLst>
              <a:ext uri="{FF2B5EF4-FFF2-40B4-BE49-F238E27FC236}">
                <a16:creationId xmlns:a16="http://schemas.microsoft.com/office/drawing/2014/main" id="{432D0DB8-0ACE-0F11-3D15-7DE1F34A90A6}"/>
              </a:ext>
            </a:extLst>
          </p:cNvPr>
          <p:cNvSpPr>
            <a:spLocks noGrp="1"/>
          </p:cNvSpPr>
          <p:nvPr>
            <p:ph idx="1"/>
          </p:nvPr>
        </p:nvSpPr>
        <p:spPr/>
        <p:txBody>
          <a:bodyPr>
            <a:normAutofit/>
          </a:bodyPr>
          <a:lstStyle/>
          <a:p>
            <a:pPr marL="0" indent="0">
              <a:buNone/>
            </a:pPr>
            <a:r>
              <a:rPr lang="en-US" sz="2000" dirty="0" err="1">
                <a:latin typeface="Fira Code" pitchFamily="49" charset="0"/>
                <a:ea typeface="Fira Code" pitchFamily="49" charset="0"/>
                <a:cs typeface="Fira Code" pitchFamily="49" charset="0"/>
              </a:rPr>
              <a:t>set.seed</a:t>
            </a:r>
            <a:r>
              <a:rPr lang="en-US" sz="2000" dirty="0">
                <a:latin typeface="Fira Code" pitchFamily="49" charset="0"/>
                <a:ea typeface="Fira Code" pitchFamily="49" charset="0"/>
                <a:cs typeface="Fira Code" pitchFamily="49" charset="0"/>
              </a:rPr>
              <a:t>(</a:t>
            </a:r>
            <a:r>
              <a:rPr lang="en-US" sz="2000" dirty="0">
                <a:solidFill>
                  <a:srgbClr val="0070C0"/>
                </a:solidFill>
                <a:latin typeface="Fira Code" pitchFamily="49" charset="0"/>
                <a:ea typeface="Fira Code" pitchFamily="49" charset="0"/>
                <a:cs typeface="Fira Code" pitchFamily="49" charset="0"/>
              </a:rPr>
              <a:t>42</a:t>
            </a:r>
            <a:r>
              <a:rPr lang="en-US" sz="2000" dirty="0">
                <a:latin typeface="Fira Code" pitchFamily="49" charset="0"/>
                <a:ea typeface="Fira Code" pitchFamily="49" charset="0"/>
                <a:cs typeface="Fira Code" pitchFamily="49" charset="0"/>
              </a:rPr>
              <a:t>)</a:t>
            </a:r>
          </a:p>
          <a:p>
            <a:pPr marL="0" indent="0">
              <a:buNone/>
            </a:pPr>
            <a:r>
              <a:rPr lang="en-US" sz="2000" dirty="0" err="1">
                <a:latin typeface="Fira Code" pitchFamily="49" charset="0"/>
                <a:ea typeface="Fira Code" pitchFamily="49" charset="0"/>
                <a:cs typeface="Fira Code" pitchFamily="49" charset="0"/>
              </a:rPr>
              <a:t>df</a:t>
            </a:r>
            <a:r>
              <a:rPr lang="en-US" sz="2000" dirty="0">
                <a:latin typeface="Fira Code" pitchFamily="49" charset="0"/>
                <a:ea typeface="Fira Code" pitchFamily="49" charset="0"/>
                <a:cs typeface="Fira Code" pitchFamily="49" charset="0"/>
              </a:rPr>
              <a:t> &lt;- </a:t>
            </a:r>
            <a:r>
              <a:rPr lang="en-US" sz="2000" dirty="0" err="1">
                <a:latin typeface="Fira Code" pitchFamily="49" charset="0"/>
                <a:ea typeface="Fira Code" pitchFamily="49" charset="0"/>
                <a:cs typeface="Fira Code" pitchFamily="49" charset="0"/>
              </a:rPr>
              <a:t>data.frame</a:t>
            </a:r>
            <a:r>
              <a:rPr lang="en-US" sz="2000" dirty="0">
                <a:latin typeface="Fira Code" pitchFamily="49" charset="0"/>
                <a:ea typeface="Fira Code" pitchFamily="49" charset="0"/>
                <a:cs typeface="Fira Code" pitchFamily="49" charset="0"/>
              </a:rPr>
              <a:t>(x = sample(c(</a:t>
            </a:r>
            <a:r>
              <a:rPr lang="en-US" sz="2000" dirty="0">
                <a:solidFill>
                  <a:schemeClr val="accent3"/>
                </a:solidFill>
                <a:latin typeface="Fira Code" pitchFamily="49" charset="0"/>
                <a:ea typeface="Fira Code" pitchFamily="49" charset="0"/>
                <a:cs typeface="Fira Code" pitchFamily="49" charset="0"/>
              </a:rPr>
              <a:t>"Lo"</a:t>
            </a:r>
            <a:r>
              <a:rPr lang="en-US" sz="2000" dirty="0">
                <a:latin typeface="Fira Code" pitchFamily="49" charset="0"/>
                <a:ea typeface="Fira Code" pitchFamily="49" charset="0"/>
                <a:cs typeface="Fira Code" pitchFamily="49" charset="0"/>
              </a:rPr>
              <a:t>, </a:t>
            </a:r>
            <a:r>
              <a:rPr lang="en-US" sz="2000" dirty="0">
                <a:solidFill>
                  <a:schemeClr val="accent3"/>
                </a:solidFill>
                <a:latin typeface="Fira Code" pitchFamily="49" charset="0"/>
                <a:ea typeface="Fira Code" pitchFamily="49" charset="0"/>
                <a:cs typeface="Fira Code" pitchFamily="49" charset="0"/>
              </a:rPr>
              <a:t>"Hi"</a:t>
            </a:r>
            <a:r>
              <a:rPr lang="en-US" sz="2000" dirty="0">
                <a:latin typeface="Fira Code" pitchFamily="49" charset="0"/>
                <a:ea typeface="Fira Code" pitchFamily="49" charset="0"/>
                <a:cs typeface="Fira Code" pitchFamily="49" charset="0"/>
              </a:rPr>
              <a:t>, </a:t>
            </a:r>
            <a:r>
              <a:rPr lang="en-US" sz="2000" dirty="0">
                <a:solidFill>
                  <a:srgbClr val="0070C0"/>
                </a:solidFill>
                <a:latin typeface="Fira Code" pitchFamily="49" charset="0"/>
                <a:ea typeface="Fira Code" pitchFamily="49" charset="0"/>
                <a:cs typeface="Fira Code" pitchFamily="49" charset="0"/>
              </a:rPr>
              <a:t>NA</a:t>
            </a:r>
            <a:r>
              <a:rPr lang="en-US" sz="2000" dirty="0">
                <a:latin typeface="Fira Code" pitchFamily="49" charset="0"/>
                <a:ea typeface="Fira Code" pitchFamily="49" charset="0"/>
                <a:cs typeface="Fira Code" pitchFamily="49" charset="0"/>
              </a:rPr>
              <a:t>), </a:t>
            </a:r>
            <a:r>
              <a:rPr lang="en-US" sz="2000" dirty="0">
                <a:solidFill>
                  <a:srgbClr val="0070C0"/>
                </a:solidFill>
                <a:latin typeface="Fira Code" pitchFamily="49" charset="0"/>
                <a:ea typeface="Fira Code" pitchFamily="49" charset="0"/>
                <a:cs typeface="Fira Code" pitchFamily="49" charset="0"/>
              </a:rPr>
              <a:t>10</a:t>
            </a:r>
            <a:r>
              <a:rPr lang="en-US" sz="2000" dirty="0">
                <a:latin typeface="Fira Code" pitchFamily="49" charset="0"/>
                <a:ea typeface="Fira Code" pitchFamily="49" charset="0"/>
                <a:cs typeface="Fira Code" pitchFamily="49" charset="0"/>
              </a:rPr>
              <a:t>, replace = </a:t>
            </a:r>
            <a:r>
              <a:rPr lang="en-US" sz="2000" dirty="0">
                <a:solidFill>
                  <a:srgbClr val="0070C0"/>
                </a:solidFill>
                <a:latin typeface="Fira Code" pitchFamily="49" charset="0"/>
                <a:ea typeface="Fira Code" pitchFamily="49" charset="0"/>
                <a:cs typeface="Fira Code" pitchFamily="49" charset="0"/>
              </a:rPr>
              <a:t>T</a:t>
            </a:r>
            <a:r>
              <a:rPr lang="en-US" sz="2000" dirty="0">
                <a:latin typeface="Fira Code" pitchFamily="49" charset="0"/>
                <a:ea typeface="Fira Code" pitchFamily="49" charset="0"/>
                <a:cs typeface="Fira Code" pitchFamily="49" charset="0"/>
              </a:rPr>
              <a:t>))</a:t>
            </a:r>
          </a:p>
          <a:p>
            <a:pPr marL="0" indent="0">
              <a:buNone/>
            </a:pPr>
            <a:endParaRPr lang="en-US" sz="2000" dirty="0">
              <a:latin typeface="Fira Code" pitchFamily="49" charset="0"/>
              <a:ea typeface="Fira Code" pitchFamily="49" charset="0"/>
              <a:cs typeface="Fira Code" pitchFamily="49" charset="0"/>
            </a:endParaRPr>
          </a:p>
          <a:p>
            <a:pPr marL="0" indent="0">
              <a:buNone/>
            </a:pPr>
            <a:r>
              <a:rPr lang="en-US" sz="2000" dirty="0">
                <a:latin typeface="Fira Code" pitchFamily="49" charset="0"/>
                <a:ea typeface="Fira Code" pitchFamily="49" charset="0"/>
                <a:cs typeface="Fira Code" pitchFamily="49" charset="0"/>
              </a:rPr>
              <a:t>if (any(</a:t>
            </a:r>
            <a:r>
              <a:rPr lang="en-US" sz="2000" dirty="0" err="1">
                <a:latin typeface="Fira Code" pitchFamily="49" charset="0"/>
                <a:ea typeface="Fira Code" pitchFamily="49" charset="0"/>
                <a:cs typeface="Fira Code" pitchFamily="49" charset="0"/>
              </a:rPr>
              <a:t>is.na</a:t>
            </a:r>
            <a:r>
              <a:rPr lang="en-US" sz="2000" dirty="0">
                <a:latin typeface="Fira Code" pitchFamily="49" charset="0"/>
                <a:ea typeface="Fira Code" pitchFamily="49" charset="0"/>
                <a:cs typeface="Fira Code" pitchFamily="49" charset="0"/>
              </a:rPr>
              <a:t>(</a:t>
            </a:r>
            <a:r>
              <a:rPr lang="en-US" sz="2000" dirty="0" err="1">
                <a:latin typeface="Fira Code" pitchFamily="49" charset="0"/>
                <a:ea typeface="Fira Code" pitchFamily="49" charset="0"/>
                <a:cs typeface="Fira Code" pitchFamily="49" charset="0"/>
              </a:rPr>
              <a:t>df$x</a:t>
            </a:r>
            <a:r>
              <a:rPr lang="en-US" sz="2000" dirty="0">
                <a:latin typeface="Fira Code" pitchFamily="49" charset="0"/>
                <a:ea typeface="Fira Code" pitchFamily="49" charset="0"/>
                <a:cs typeface="Fira Code" pitchFamily="49" charset="0"/>
              </a:rPr>
              <a:t>))) {</a:t>
            </a:r>
          </a:p>
          <a:p>
            <a:pPr marL="0" indent="0">
              <a:buNone/>
            </a:pPr>
            <a:r>
              <a:rPr lang="en-US" sz="2000" dirty="0">
                <a:latin typeface="Fira Code" pitchFamily="49" charset="0"/>
                <a:ea typeface="Fira Code" pitchFamily="49" charset="0"/>
                <a:cs typeface="Fira Code" pitchFamily="49" charset="0"/>
              </a:rPr>
              <a:t>  stop(</a:t>
            </a:r>
            <a:r>
              <a:rPr lang="en-US" sz="2000" dirty="0">
                <a:solidFill>
                  <a:schemeClr val="accent3"/>
                </a:solidFill>
                <a:latin typeface="Fira Code" pitchFamily="49" charset="0"/>
                <a:ea typeface="Fira Code" pitchFamily="49" charset="0"/>
                <a:cs typeface="Fira Code" pitchFamily="49" charset="0"/>
              </a:rPr>
              <a:t>"Risk group missing"</a:t>
            </a:r>
            <a:r>
              <a:rPr lang="en-US" sz="2000" dirty="0">
                <a:latin typeface="Fira Code" pitchFamily="49" charset="0"/>
                <a:ea typeface="Fira Code" pitchFamily="49" charset="0"/>
                <a:cs typeface="Fira Code" pitchFamily="49" charset="0"/>
              </a:rPr>
              <a:t>)</a:t>
            </a:r>
          </a:p>
          <a:p>
            <a:pPr marL="0" indent="0">
              <a:buNone/>
            </a:pPr>
            <a:r>
              <a:rPr lang="en-US" sz="2000" dirty="0">
                <a:latin typeface="Fira Code" pitchFamily="49" charset="0"/>
                <a:ea typeface="Fira Code" pitchFamily="49" charset="0"/>
                <a:cs typeface="Fira Code" pitchFamily="49" charset="0"/>
              </a:rPr>
              <a:t>}</a:t>
            </a:r>
          </a:p>
          <a:p>
            <a:pPr marL="0" indent="0">
              <a:buNone/>
            </a:pPr>
            <a:r>
              <a:rPr lang="en-US" sz="2000" dirty="0">
                <a:solidFill>
                  <a:srgbClr val="C00000"/>
                </a:solidFill>
                <a:latin typeface="Fira Code" pitchFamily="49" charset="0"/>
                <a:ea typeface="Fira Code" pitchFamily="49" charset="0"/>
                <a:cs typeface="Fira Code" pitchFamily="49" charset="0"/>
              </a:rPr>
              <a:t>#&gt; Error: Risk group missing</a:t>
            </a:r>
          </a:p>
        </p:txBody>
      </p:sp>
    </p:spTree>
    <p:extLst>
      <p:ext uri="{BB962C8B-B14F-4D97-AF65-F5344CB8AC3E}">
        <p14:creationId xmlns:p14="http://schemas.microsoft.com/office/powerpoint/2010/main" val="5404970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517E8-9879-2482-5FDC-670D11C4A3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89104-D5B0-EBD2-6BED-085FED4A6BD3}"/>
              </a:ext>
            </a:extLst>
          </p:cNvPr>
          <p:cNvSpPr>
            <a:spLocks noGrp="1"/>
          </p:cNvSpPr>
          <p:nvPr>
            <p:ph type="title"/>
          </p:nvPr>
        </p:nvSpPr>
        <p:spPr/>
        <p:txBody>
          <a:bodyPr/>
          <a:lstStyle/>
          <a:p>
            <a:r>
              <a:rPr lang="en-US" dirty="0" err="1"/>
              <a:t>stopifnot</a:t>
            </a:r>
            <a:endParaRPr lang="en-US" dirty="0"/>
          </a:p>
        </p:txBody>
      </p:sp>
      <p:sp>
        <p:nvSpPr>
          <p:cNvPr id="3" name="Content Placeholder 2">
            <a:extLst>
              <a:ext uri="{FF2B5EF4-FFF2-40B4-BE49-F238E27FC236}">
                <a16:creationId xmlns:a16="http://schemas.microsoft.com/office/drawing/2014/main" id="{52A10156-0AD0-268D-2B76-EC6E0B202087}"/>
              </a:ext>
            </a:extLst>
          </p:cNvPr>
          <p:cNvSpPr>
            <a:spLocks noGrp="1"/>
          </p:cNvSpPr>
          <p:nvPr>
            <p:ph idx="1"/>
          </p:nvPr>
        </p:nvSpPr>
        <p:spPr/>
        <p:txBody>
          <a:bodyPr>
            <a:normAutofit/>
          </a:bodyPr>
          <a:lstStyle/>
          <a:p>
            <a:pPr marL="0" indent="0">
              <a:buNone/>
            </a:pPr>
            <a:r>
              <a:rPr lang="en-US" sz="2000" dirty="0" err="1">
                <a:latin typeface="Fira Code" pitchFamily="49" charset="0"/>
                <a:ea typeface="Fira Code" pitchFamily="49" charset="0"/>
                <a:cs typeface="Fira Code" pitchFamily="49" charset="0"/>
              </a:rPr>
              <a:t>set.seed</a:t>
            </a:r>
            <a:r>
              <a:rPr lang="en-US" sz="2000" dirty="0">
                <a:latin typeface="Fira Code" pitchFamily="49" charset="0"/>
                <a:ea typeface="Fira Code" pitchFamily="49" charset="0"/>
                <a:cs typeface="Fira Code" pitchFamily="49" charset="0"/>
              </a:rPr>
              <a:t>(</a:t>
            </a:r>
            <a:r>
              <a:rPr lang="en-US" sz="2000" dirty="0">
                <a:solidFill>
                  <a:srgbClr val="0070C0"/>
                </a:solidFill>
                <a:latin typeface="Fira Code" pitchFamily="49" charset="0"/>
                <a:ea typeface="Fira Code" pitchFamily="49" charset="0"/>
                <a:cs typeface="Fira Code" pitchFamily="49" charset="0"/>
              </a:rPr>
              <a:t>42</a:t>
            </a:r>
            <a:r>
              <a:rPr lang="en-US" sz="2000" dirty="0">
                <a:latin typeface="Fira Code" pitchFamily="49" charset="0"/>
                <a:ea typeface="Fira Code" pitchFamily="49" charset="0"/>
                <a:cs typeface="Fira Code" pitchFamily="49" charset="0"/>
              </a:rPr>
              <a:t>)</a:t>
            </a:r>
          </a:p>
          <a:p>
            <a:pPr marL="0" indent="0">
              <a:buNone/>
            </a:pPr>
            <a:r>
              <a:rPr lang="en-US" sz="2000" dirty="0" err="1">
                <a:latin typeface="Fira Code" pitchFamily="49" charset="0"/>
                <a:ea typeface="Fira Code" pitchFamily="49" charset="0"/>
                <a:cs typeface="Fira Code" pitchFamily="49" charset="0"/>
              </a:rPr>
              <a:t>df</a:t>
            </a:r>
            <a:r>
              <a:rPr lang="en-US" sz="2000" dirty="0">
                <a:latin typeface="Fira Code" pitchFamily="49" charset="0"/>
                <a:ea typeface="Fira Code" pitchFamily="49" charset="0"/>
                <a:cs typeface="Fira Code" pitchFamily="49" charset="0"/>
              </a:rPr>
              <a:t> &lt;- </a:t>
            </a:r>
            <a:r>
              <a:rPr lang="en-US" sz="2000" dirty="0" err="1">
                <a:latin typeface="Fira Code" pitchFamily="49" charset="0"/>
                <a:ea typeface="Fira Code" pitchFamily="49" charset="0"/>
                <a:cs typeface="Fira Code" pitchFamily="49" charset="0"/>
              </a:rPr>
              <a:t>data.frame</a:t>
            </a:r>
            <a:r>
              <a:rPr lang="en-US" sz="2000" dirty="0">
                <a:latin typeface="Fira Code" pitchFamily="49" charset="0"/>
                <a:ea typeface="Fira Code" pitchFamily="49" charset="0"/>
                <a:cs typeface="Fira Code" pitchFamily="49" charset="0"/>
              </a:rPr>
              <a:t>(x = sample(c(</a:t>
            </a:r>
            <a:r>
              <a:rPr lang="en-US" sz="2000" dirty="0">
                <a:solidFill>
                  <a:schemeClr val="accent3"/>
                </a:solidFill>
                <a:latin typeface="Fira Code" pitchFamily="49" charset="0"/>
                <a:ea typeface="Fira Code" pitchFamily="49" charset="0"/>
                <a:cs typeface="Fira Code" pitchFamily="49" charset="0"/>
              </a:rPr>
              <a:t>"Lo"</a:t>
            </a:r>
            <a:r>
              <a:rPr lang="en-US" sz="2000" dirty="0">
                <a:latin typeface="Fira Code" pitchFamily="49" charset="0"/>
                <a:ea typeface="Fira Code" pitchFamily="49" charset="0"/>
                <a:cs typeface="Fira Code" pitchFamily="49" charset="0"/>
              </a:rPr>
              <a:t>, </a:t>
            </a:r>
            <a:r>
              <a:rPr lang="en-US" sz="2000" dirty="0">
                <a:solidFill>
                  <a:schemeClr val="accent3"/>
                </a:solidFill>
                <a:latin typeface="Fira Code" pitchFamily="49" charset="0"/>
                <a:ea typeface="Fira Code" pitchFamily="49" charset="0"/>
                <a:cs typeface="Fira Code" pitchFamily="49" charset="0"/>
              </a:rPr>
              <a:t>"Hi"</a:t>
            </a:r>
            <a:r>
              <a:rPr lang="en-US" sz="2000" dirty="0">
                <a:latin typeface="Fira Code" pitchFamily="49" charset="0"/>
                <a:ea typeface="Fira Code" pitchFamily="49" charset="0"/>
                <a:cs typeface="Fira Code" pitchFamily="49" charset="0"/>
              </a:rPr>
              <a:t>, </a:t>
            </a:r>
            <a:r>
              <a:rPr lang="en-US" sz="2000" dirty="0">
                <a:solidFill>
                  <a:srgbClr val="0070C0"/>
                </a:solidFill>
                <a:latin typeface="Fira Code" pitchFamily="49" charset="0"/>
                <a:ea typeface="Fira Code" pitchFamily="49" charset="0"/>
                <a:cs typeface="Fira Code" pitchFamily="49" charset="0"/>
              </a:rPr>
              <a:t>NA</a:t>
            </a:r>
            <a:r>
              <a:rPr lang="en-US" sz="2000" dirty="0">
                <a:latin typeface="Fira Code" pitchFamily="49" charset="0"/>
                <a:ea typeface="Fira Code" pitchFamily="49" charset="0"/>
                <a:cs typeface="Fira Code" pitchFamily="49" charset="0"/>
              </a:rPr>
              <a:t>), </a:t>
            </a:r>
            <a:r>
              <a:rPr lang="en-US" sz="2000" dirty="0">
                <a:solidFill>
                  <a:srgbClr val="0070C0"/>
                </a:solidFill>
                <a:latin typeface="Fira Code" pitchFamily="49" charset="0"/>
                <a:ea typeface="Fira Code" pitchFamily="49" charset="0"/>
                <a:cs typeface="Fira Code" pitchFamily="49" charset="0"/>
              </a:rPr>
              <a:t>10</a:t>
            </a:r>
            <a:r>
              <a:rPr lang="en-US" sz="2000" dirty="0">
                <a:latin typeface="Fira Code" pitchFamily="49" charset="0"/>
                <a:ea typeface="Fira Code" pitchFamily="49" charset="0"/>
                <a:cs typeface="Fira Code" pitchFamily="49" charset="0"/>
              </a:rPr>
              <a:t>, replace = </a:t>
            </a:r>
            <a:r>
              <a:rPr lang="en-US" sz="2000" dirty="0">
                <a:solidFill>
                  <a:srgbClr val="0070C0"/>
                </a:solidFill>
                <a:latin typeface="Fira Code" pitchFamily="49" charset="0"/>
                <a:ea typeface="Fira Code" pitchFamily="49" charset="0"/>
                <a:cs typeface="Fira Code" pitchFamily="49" charset="0"/>
              </a:rPr>
              <a:t>T</a:t>
            </a:r>
            <a:r>
              <a:rPr lang="en-US" sz="2000" dirty="0">
                <a:latin typeface="Fira Code" pitchFamily="49" charset="0"/>
                <a:ea typeface="Fira Code" pitchFamily="49" charset="0"/>
                <a:cs typeface="Fira Code" pitchFamily="49" charset="0"/>
              </a:rPr>
              <a:t>))</a:t>
            </a:r>
          </a:p>
          <a:p>
            <a:pPr marL="0" indent="0">
              <a:buNone/>
            </a:pPr>
            <a:endParaRPr lang="en-US" sz="2000" dirty="0">
              <a:latin typeface="Fira Code" pitchFamily="49" charset="0"/>
              <a:ea typeface="Fira Code" pitchFamily="49" charset="0"/>
              <a:cs typeface="Fira Code" pitchFamily="49" charset="0"/>
            </a:endParaRPr>
          </a:p>
          <a:p>
            <a:pPr marL="0" indent="0">
              <a:buNone/>
            </a:pPr>
            <a:r>
              <a:rPr lang="en-US" sz="2000" dirty="0" err="1">
                <a:latin typeface="Fira Code" pitchFamily="49" charset="0"/>
                <a:ea typeface="Fira Code" pitchFamily="49" charset="0"/>
                <a:cs typeface="Fira Code" pitchFamily="49" charset="0"/>
              </a:rPr>
              <a:t>stopifnot</a:t>
            </a:r>
            <a:r>
              <a:rPr lang="en-US" sz="2000" dirty="0">
                <a:latin typeface="Fira Code" pitchFamily="49" charset="0"/>
                <a:ea typeface="Fira Code" pitchFamily="49" charset="0"/>
                <a:cs typeface="Fira Code" pitchFamily="49" charset="0"/>
              </a:rPr>
              <a:t>(</a:t>
            </a:r>
            <a:r>
              <a:rPr lang="en-US" sz="2000" dirty="0" err="1">
                <a:latin typeface="Fira Code" pitchFamily="49" charset="0"/>
                <a:ea typeface="Fira Code" pitchFamily="49" charset="0"/>
                <a:cs typeface="Fira Code" pitchFamily="49" charset="0"/>
              </a:rPr>
              <a:t>is.na</a:t>
            </a:r>
            <a:r>
              <a:rPr lang="en-US" sz="2000" dirty="0">
                <a:latin typeface="Fira Code" pitchFamily="49" charset="0"/>
                <a:ea typeface="Fira Code" pitchFamily="49" charset="0"/>
                <a:cs typeface="Fira Code" pitchFamily="49" charset="0"/>
              </a:rPr>
              <a:t>(</a:t>
            </a:r>
            <a:r>
              <a:rPr lang="en-US" sz="2000" dirty="0" err="1">
                <a:latin typeface="Fira Code" pitchFamily="49" charset="0"/>
                <a:ea typeface="Fira Code" pitchFamily="49" charset="0"/>
                <a:cs typeface="Fira Code" pitchFamily="49" charset="0"/>
              </a:rPr>
              <a:t>df$x</a:t>
            </a:r>
            <a:r>
              <a:rPr lang="en-US" sz="2000" dirty="0">
                <a:latin typeface="Fira Code" pitchFamily="49" charset="0"/>
                <a:ea typeface="Fira Code" pitchFamily="49" charset="0"/>
                <a:cs typeface="Fira Code" pitchFamily="49" charset="0"/>
              </a:rPr>
              <a:t>))</a:t>
            </a:r>
          </a:p>
          <a:p>
            <a:pPr marL="0" indent="0">
              <a:buNone/>
            </a:pPr>
            <a:r>
              <a:rPr lang="en-US" sz="2000" dirty="0">
                <a:solidFill>
                  <a:srgbClr val="C00000"/>
                </a:solidFill>
                <a:latin typeface="Fira Code" pitchFamily="49" charset="0"/>
                <a:ea typeface="Fira Code" pitchFamily="49" charset="0"/>
                <a:cs typeface="Fira Code" pitchFamily="49" charset="0"/>
              </a:rPr>
              <a:t>#&gt; Error: </a:t>
            </a:r>
            <a:r>
              <a:rPr lang="en-US" sz="2000" dirty="0" err="1">
                <a:solidFill>
                  <a:srgbClr val="C00000"/>
                </a:solidFill>
                <a:latin typeface="Fira Code" pitchFamily="49" charset="0"/>
                <a:ea typeface="Fira Code" pitchFamily="49" charset="0"/>
                <a:cs typeface="Fira Code" pitchFamily="49" charset="0"/>
              </a:rPr>
              <a:t>is.na</a:t>
            </a:r>
            <a:r>
              <a:rPr lang="en-US" sz="2000" dirty="0">
                <a:solidFill>
                  <a:srgbClr val="C00000"/>
                </a:solidFill>
                <a:latin typeface="Fira Code" pitchFamily="49" charset="0"/>
                <a:ea typeface="Fira Code" pitchFamily="49" charset="0"/>
                <a:cs typeface="Fira Code" pitchFamily="49" charset="0"/>
              </a:rPr>
              <a:t>(</a:t>
            </a:r>
            <a:r>
              <a:rPr lang="en-US" sz="2000" dirty="0" err="1">
                <a:solidFill>
                  <a:srgbClr val="C00000"/>
                </a:solidFill>
                <a:latin typeface="Fira Code" pitchFamily="49" charset="0"/>
                <a:ea typeface="Fira Code" pitchFamily="49" charset="0"/>
                <a:cs typeface="Fira Code" pitchFamily="49" charset="0"/>
              </a:rPr>
              <a:t>df$x</a:t>
            </a:r>
            <a:r>
              <a:rPr lang="en-US" sz="2000" dirty="0">
                <a:solidFill>
                  <a:srgbClr val="C00000"/>
                </a:solidFill>
                <a:latin typeface="Fira Code" pitchFamily="49" charset="0"/>
                <a:ea typeface="Fira Code" pitchFamily="49" charset="0"/>
                <a:cs typeface="Fira Code" pitchFamily="49" charset="0"/>
              </a:rPr>
              <a:t>) are not all TRUE</a:t>
            </a:r>
          </a:p>
          <a:p>
            <a:pPr marL="0" indent="0">
              <a:buNone/>
            </a:pPr>
            <a:endParaRPr lang="en-US" sz="2000" dirty="0">
              <a:latin typeface="Fira Code" pitchFamily="49" charset="0"/>
              <a:ea typeface="Fira Code" pitchFamily="49" charset="0"/>
              <a:cs typeface="Fira Code" pitchFamily="49" charset="0"/>
            </a:endParaRPr>
          </a:p>
          <a:p>
            <a:pPr marL="0" indent="0">
              <a:buNone/>
            </a:pPr>
            <a:r>
              <a:rPr lang="en-US" sz="2000" dirty="0" err="1">
                <a:latin typeface="Fira Code" pitchFamily="49" charset="0"/>
                <a:ea typeface="Fira Code" pitchFamily="49" charset="0"/>
                <a:cs typeface="Fira Code" pitchFamily="49" charset="0"/>
              </a:rPr>
              <a:t>stopifnot</a:t>
            </a:r>
            <a:r>
              <a:rPr lang="en-US" sz="2000" dirty="0">
                <a:latin typeface="Fira Code" pitchFamily="49" charset="0"/>
                <a:ea typeface="Fira Code" pitchFamily="49" charset="0"/>
                <a:cs typeface="Fira Code" pitchFamily="49" charset="0"/>
              </a:rPr>
              <a:t>(</a:t>
            </a:r>
            <a:r>
              <a:rPr lang="en-US" sz="2000" dirty="0">
                <a:solidFill>
                  <a:schemeClr val="accent3"/>
                </a:solidFill>
                <a:latin typeface="Fira Code" pitchFamily="49" charset="0"/>
                <a:ea typeface="Fira Code" pitchFamily="49" charset="0"/>
                <a:cs typeface="Fira Code" pitchFamily="49" charset="0"/>
              </a:rPr>
              <a:t>"Risk group missing"</a:t>
            </a:r>
            <a:r>
              <a:rPr lang="en-US" sz="2000" dirty="0">
                <a:latin typeface="Fira Code" pitchFamily="49" charset="0"/>
                <a:ea typeface="Fira Code" pitchFamily="49" charset="0"/>
                <a:cs typeface="Fira Code" pitchFamily="49" charset="0"/>
              </a:rPr>
              <a:t> = </a:t>
            </a:r>
            <a:r>
              <a:rPr lang="en-US" sz="2000" dirty="0" err="1">
                <a:latin typeface="Fira Code" pitchFamily="49" charset="0"/>
                <a:ea typeface="Fira Code" pitchFamily="49" charset="0"/>
                <a:cs typeface="Fira Code" pitchFamily="49" charset="0"/>
              </a:rPr>
              <a:t>is.na</a:t>
            </a:r>
            <a:r>
              <a:rPr lang="en-US" sz="2000" dirty="0">
                <a:latin typeface="Fira Code" pitchFamily="49" charset="0"/>
                <a:ea typeface="Fira Code" pitchFamily="49" charset="0"/>
                <a:cs typeface="Fira Code" pitchFamily="49" charset="0"/>
              </a:rPr>
              <a:t>(</a:t>
            </a:r>
            <a:r>
              <a:rPr lang="en-US" sz="2000" dirty="0" err="1">
                <a:latin typeface="Fira Code" pitchFamily="49" charset="0"/>
                <a:ea typeface="Fira Code" pitchFamily="49" charset="0"/>
                <a:cs typeface="Fira Code" pitchFamily="49" charset="0"/>
              </a:rPr>
              <a:t>df$x</a:t>
            </a:r>
            <a:r>
              <a:rPr lang="en-US" sz="2000" dirty="0">
                <a:latin typeface="Fira Code" pitchFamily="49" charset="0"/>
                <a:ea typeface="Fira Code" pitchFamily="49" charset="0"/>
                <a:cs typeface="Fira Code" pitchFamily="49" charset="0"/>
              </a:rPr>
              <a:t>))</a:t>
            </a:r>
          </a:p>
          <a:p>
            <a:pPr marL="0" indent="0">
              <a:buNone/>
            </a:pPr>
            <a:r>
              <a:rPr lang="en-US" sz="2000" dirty="0">
                <a:solidFill>
                  <a:srgbClr val="C00000"/>
                </a:solidFill>
                <a:latin typeface="Fira Code" pitchFamily="49" charset="0"/>
                <a:ea typeface="Fira Code" pitchFamily="49" charset="0"/>
                <a:cs typeface="Fira Code" pitchFamily="49" charset="0"/>
              </a:rPr>
              <a:t>#&gt; Error: Risk group missing</a:t>
            </a:r>
          </a:p>
        </p:txBody>
      </p:sp>
    </p:spTree>
    <p:extLst>
      <p:ext uri="{BB962C8B-B14F-4D97-AF65-F5344CB8AC3E}">
        <p14:creationId xmlns:p14="http://schemas.microsoft.com/office/powerpoint/2010/main" val="12095518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6F9B2-F504-ED1B-17EB-003050F880B8}"/>
              </a:ext>
            </a:extLst>
          </p:cNvPr>
          <p:cNvSpPr>
            <a:spLocks noGrp="1"/>
          </p:cNvSpPr>
          <p:nvPr>
            <p:ph type="title"/>
          </p:nvPr>
        </p:nvSpPr>
        <p:spPr/>
        <p:txBody>
          <a:bodyPr/>
          <a:lstStyle/>
          <a:p>
            <a:r>
              <a:rPr lang="en-US" dirty="0" err="1"/>
              <a:t>assertr</a:t>
            </a:r>
            <a:endParaRPr lang="en-US" dirty="0"/>
          </a:p>
        </p:txBody>
      </p:sp>
      <p:sp>
        <p:nvSpPr>
          <p:cNvPr id="3" name="Content Placeholder 2">
            <a:extLst>
              <a:ext uri="{FF2B5EF4-FFF2-40B4-BE49-F238E27FC236}">
                <a16:creationId xmlns:a16="http://schemas.microsoft.com/office/drawing/2014/main" id="{40F390B9-4438-625A-2B52-206FA3C5E54A}"/>
              </a:ext>
            </a:extLst>
          </p:cNvPr>
          <p:cNvSpPr>
            <a:spLocks noGrp="1"/>
          </p:cNvSpPr>
          <p:nvPr>
            <p:ph idx="1"/>
          </p:nvPr>
        </p:nvSpPr>
        <p:spPr>
          <a:xfrm>
            <a:off x="838200" y="1493918"/>
            <a:ext cx="10898529" cy="5184673"/>
          </a:xfrm>
        </p:spPr>
        <p:txBody>
          <a:bodyPr>
            <a:noAutofit/>
          </a:bodyPr>
          <a:lstStyle/>
          <a:p>
            <a:pPr marL="0" indent="0">
              <a:buNone/>
            </a:pPr>
            <a:r>
              <a:rPr lang="en-US" sz="1600" dirty="0">
                <a:solidFill>
                  <a:srgbClr val="0070C0"/>
                </a:solidFill>
                <a:latin typeface="Fira Code" pitchFamily="49" charset="0"/>
                <a:ea typeface="Fira Code" pitchFamily="49" charset="0"/>
                <a:cs typeface="Fira Code" pitchFamily="49" charset="0"/>
              </a:rPr>
              <a:t>library</a:t>
            </a:r>
            <a:r>
              <a:rPr lang="en-US" sz="1600" dirty="0">
                <a:latin typeface="Fira Code" pitchFamily="49" charset="0"/>
                <a:ea typeface="Fira Code" pitchFamily="49" charset="0"/>
                <a:cs typeface="Fira Code" pitchFamily="49" charset="0"/>
              </a:rPr>
              <a:t>(</a:t>
            </a:r>
            <a:r>
              <a:rPr lang="en-US" sz="1600" dirty="0" err="1">
                <a:latin typeface="Fira Code" pitchFamily="49" charset="0"/>
                <a:ea typeface="Fira Code" pitchFamily="49" charset="0"/>
                <a:cs typeface="Fira Code" pitchFamily="49" charset="0"/>
              </a:rPr>
              <a:t>assertr</a:t>
            </a:r>
            <a:r>
              <a:rPr lang="en-US" sz="1600" dirty="0">
                <a:latin typeface="Fira Code" pitchFamily="49" charset="0"/>
                <a:ea typeface="Fira Code" pitchFamily="49" charset="0"/>
                <a:cs typeface="Fira Code" pitchFamily="49" charset="0"/>
              </a:rPr>
              <a:t>)</a:t>
            </a:r>
          </a:p>
          <a:p>
            <a:pPr marL="0" indent="0">
              <a:buNone/>
            </a:pPr>
            <a:r>
              <a:rPr lang="en-US" sz="1600" dirty="0">
                <a:solidFill>
                  <a:srgbClr val="0070C0"/>
                </a:solidFill>
                <a:latin typeface="Fira Code" pitchFamily="49" charset="0"/>
                <a:ea typeface="Fira Code" pitchFamily="49" charset="0"/>
                <a:cs typeface="Fira Code" pitchFamily="49" charset="0"/>
              </a:rPr>
              <a:t>library</a:t>
            </a:r>
            <a:r>
              <a:rPr lang="en-US" sz="1600" dirty="0">
                <a:latin typeface="Fira Code" pitchFamily="49" charset="0"/>
                <a:ea typeface="Fira Code" pitchFamily="49" charset="0"/>
                <a:cs typeface="Fira Code" pitchFamily="49" charset="0"/>
              </a:rPr>
              <a:t>(</a:t>
            </a:r>
            <a:r>
              <a:rPr lang="en-US" sz="1600" dirty="0" err="1">
                <a:latin typeface="Fira Code" pitchFamily="49" charset="0"/>
                <a:ea typeface="Fira Code" pitchFamily="49" charset="0"/>
                <a:cs typeface="Fira Code" pitchFamily="49" charset="0"/>
              </a:rPr>
              <a:t>dplyr</a:t>
            </a:r>
            <a:r>
              <a:rPr lang="en-US" sz="1600" dirty="0">
                <a:latin typeface="Fira Code" pitchFamily="49" charset="0"/>
                <a:ea typeface="Fira Code" pitchFamily="49" charset="0"/>
                <a:cs typeface="Fira Code" pitchFamily="49" charset="0"/>
              </a:rPr>
              <a:t>)</a:t>
            </a:r>
          </a:p>
          <a:p>
            <a:pPr marL="0" indent="0">
              <a:buNone/>
            </a:pPr>
            <a:endParaRPr lang="en-US" sz="1600" dirty="0">
              <a:latin typeface="Fira Code" pitchFamily="49" charset="0"/>
              <a:ea typeface="Fira Code" pitchFamily="49" charset="0"/>
              <a:cs typeface="Fira Code" pitchFamily="49" charset="0"/>
            </a:endParaRPr>
          </a:p>
          <a:p>
            <a:pPr marL="0" indent="0">
              <a:buNone/>
            </a:pPr>
            <a:r>
              <a:rPr lang="en-US" sz="1600" dirty="0" err="1">
                <a:latin typeface="Fira Code" pitchFamily="49" charset="0"/>
                <a:ea typeface="Fira Code" pitchFamily="49" charset="0"/>
                <a:cs typeface="Fira Code" pitchFamily="49" charset="0"/>
              </a:rPr>
              <a:t>set.seed</a:t>
            </a:r>
            <a:r>
              <a:rPr lang="en-US" sz="1600" dirty="0">
                <a:latin typeface="Fira Code" pitchFamily="49" charset="0"/>
                <a:ea typeface="Fira Code" pitchFamily="49" charset="0"/>
                <a:cs typeface="Fira Code" pitchFamily="49" charset="0"/>
              </a:rPr>
              <a:t>(</a:t>
            </a:r>
            <a:r>
              <a:rPr lang="en-US" sz="1600" dirty="0">
                <a:solidFill>
                  <a:srgbClr val="0070C0"/>
                </a:solidFill>
                <a:latin typeface="Fira Code" pitchFamily="49" charset="0"/>
                <a:ea typeface="Fira Code" pitchFamily="49" charset="0"/>
                <a:cs typeface="Fira Code" pitchFamily="49" charset="0"/>
              </a:rPr>
              <a:t>42</a:t>
            </a:r>
            <a:r>
              <a:rPr lang="en-US" sz="1600" dirty="0">
                <a:latin typeface="Fira Code" pitchFamily="49" charset="0"/>
                <a:ea typeface="Fira Code" pitchFamily="49" charset="0"/>
                <a:cs typeface="Fira Code" pitchFamily="49" charset="0"/>
              </a:rPr>
              <a:t>)</a:t>
            </a:r>
          </a:p>
          <a:p>
            <a:pPr marL="0" indent="0">
              <a:buNone/>
            </a:pPr>
            <a:r>
              <a:rPr lang="en-US" sz="1600" dirty="0" err="1">
                <a:latin typeface="Fira Code" pitchFamily="49" charset="0"/>
                <a:ea typeface="Fira Code" pitchFamily="49" charset="0"/>
                <a:cs typeface="Fira Code" pitchFamily="49" charset="0"/>
              </a:rPr>
              <a:t>df</a:t>
            </a:r>
            <a:r>
              <a:rPr lang="en-US" sz="1600" dirty="0">
                <a:latin typeface="Fira Code" pitchFamily="49" charset="0"/>
                <a:ea typeface="Fira Code" pitchFamily="49" charset="0"/>
                <a:cs typeface="Fira Code" pitchFamily="49" charset="0"/>
              </a:rPr>
              <a:t> &lt;- </a:t>
            </a:r>
            <a:r>
              <a:rPr lang="en-US" sz="1600" dirty="0" err="1">
                <a:latin typeface="Fira Code" pitchFamily="49" charset="0"/>
                <a:ea typeface="Fira Code" pitchFamily="49" charset="0"/>
                <a:cs typeface="Fira Code" pitchFamily="49" charset="0"/>
              </a:rPr>
              <a:t>data.frame</a:t>
            </a:r>
            <a:r>
              <a:rPr lang="en-US" sz="1600" dirty="0">
                <a:latin typeface="Fira Code" pitchFamily="49" charset="0"/>
                <a:ea typeface="Fira Code" pitchFamily="49" charset="0"/>
                <a:cs typeface="Fira Code" pitchFamily="49" charset="0"/>
              </a:rPr>
              <a:t>(x = sample(c(</a:t>
            </a:r>
            <a:r>
              <a:rPr lang="en-US" sz="1600" dirty="0">
                <a:solidFill>
                  <a:schemeClr val="accent3"/>
                </a:solidFill>
                <a:latin typeface="Fira Code" pitchFamily="49" charset="0"/>
                <a:ea typeface="Fira Code" pitchFamily="49" charset="0"/>
                <a:cs typeface="Fira Code" pitchFamily="49" charset="0"/>
              </a:rPr>
              <a:t>"Lo"</a:t>
            </a:r>
            <a:r>
              <a:rPr lang="en-US" sz="1600" dirty="0">
                <a:latin typeface="Fira Code" pitchFamily="49" charset="0"/>
                <a:ea typeface="Fira Code" pitchFamily="49" charset="0"/>
                <a:cs typeface="Fira Code" pitchFamily="49" charset="0"/>
              </a:rPr>
              <a:t>, </a:t>
            </a:r>
            <a:r>
              <a:rPr lang="en-US" sz="1600" dirty="0">
                <a:solidFill>
                  <a:schemeClr val="accent3"/>
                </a:solidFill>
                <a:latin typeface="Fira Code" pitchFamily="49" charset="0"/>
                <a:ea typeface="Fira Code" pitchFamily="49" charset="0"/>
                <a:cs typeface="Fira Code" pitchFamily="49" charset="0"/>
              </a:rPr>
              <a:t>"Hi"</a:t>
            </a:r>
            <a:r>
              <a:rPr lang="en-US" sz="1600" dirty="0">
                <a:latin typeface="Fira Code" pitchFamily="49" charset="0"/>
                <a:ea typeface="Fira Code" pitchFamily="49" charset="0"/>
                <a:cs typeface="Fira Code" pitchFamily="49" charset="0"/>
              </a:rPr>
              <a:t>, </a:t>
            </a:r>
            <a:r>
              <a:rPr lang="en-US" sz="1600" dirty="0">
                <a:solidFill>
                  <a:srgbClr val="0070C0"/>
                </a:solidFill>
                <a:latin typeface="Fira Code" pitchFamily="49" charset="0"/>
                <a:ea typeface="Fira Code" pitchFamily="49" charset="0"/>
                <a:cs typeface="Fira Code" pitchFamily="49" charset="0"/>
              </a:rPr>
              <a:t>NA</a:t>
            </a:r>
            <a:r>
              <a:rPr lang="en-US" sz="1600" dirty="0">
                <a:latin typeface="Fira Code" pitchFamily="49" charset="0"/>
                <a:ea typeface="Fira Code" pitchFamily="49" charset="0"/>
                <a:cs typeface="Fira Code" pitchFamily="49" charset="0"/>
              </a:rPr>
              <a:t>), </a:t>
            </a:r>
            <a:r>
              <a:rPr lang="en-US" sz="1600" dirty="0">
                <a:solidFill>
                  <a:srgbClr val="0070C0"/>
                </a:solidFill>
                <a:latin typeface="Fira Code" pitchFamily="49" charset="0"/>
                <a:ea typeface="Fira Code" pitchFamily="49" charset="0"/>
                <a:cs typeface="Fira Code" pitchFamily="49" charset="0"/>
              </a:rPr>
              <a:t>10</a:t>
            </a:r>
            <a:r>
              <a:rPr lang="en-US" sz="1600" dirty="0">
                <a:latin typeface="Fira Code" pitchFamily="49" charset="0"/>
                <a:ea typeface="Fira Code" pitchFamily="49" charset="0"/>
                <a:cs typeface="Fira Code" pitchFamily="49" charset="0"/>
              </a:rPr>
              <a:t>, replace = </a:t>
            </a:r>
            <a:r>
              <a:rPr lang="en-US" sz="1600" dirty="0">
                <a:solidFill>
                  <a:srgbClr val="0070C0"/>
                </a:solidFill>
                <a:latin typeface="Fira Code" pitchFamily="49" charset="0"/>
                <a:ea typeface="Fira Code" pitchFamily="49" charset="0"/>
                <a:cs typeface="Fira Code" pitchFamily="49" charset="0"/>
              </a:rPr>
              <a:t>T</a:t>
            </a:r>
            <a:r>
              <a:rPr lang="en-US" sz="1600" dirty="0">
                <a:latin typeface="Fira Code" pitchFamily="49" charset="0"/>
                <a:ea typeface="Fira Code" pitchFamily="49" charset="0"/>
                <a:cs typeface="Fira Code" pitchFamily="49" charset="0"/>
              </a:rPr>
              <a:t>),</a:t>
            </a:r>
          </a:p>
          <a:p>
            <a:pPr marL="0" indent="0">
              <a:buNone/>
            </a:pPr>
            <a:r>
              <a:rPr lang="en-US" sz="1600" dirty="0">
                <a:latin typeface="Fira Code" pitchFamily="49" charset="0"/>
                <a:ea typeface="Fira Code" pitchFamily="49" charset="0"/>
                <a:cs typeface="Fira Code" pitchFamily="49" charset="0"/>
              </a:rPr>
              <a:t>                 y = </a:t>
            </a:r>
            <a:r>
              <a:rPr lang="en-US" sz="1600" dirty="0" err="1">
                <a:latin typeface="Fira Code" pitchFamily="49" charset="0"/>
                <a:ea typeface="Fira Code" pitchFamily="49" charset="0"/>
                <a:cs typeface="Fira Code" pitchFamily="49" charset="0"/>
              </a:rPr>
              <a:t>rnorm</a:t>
            </a:r>
            <a:r>
              <a:rPr lang="en-US" sz="1600" dirty="0">
                <a:latin typeface="Fira Code" pitchFamily="49" charset="0"/>
                <a:ea typeface="Fira Code" pitchFamily="49" charset="0"/>
                <a:cs typeface="Fira Code" pitchFamily="49" charset="0"/>
              </a:rPr>
              <a:t>(</a:t>
            </a:r>
            <a:r>
              <a:rPr lang="en-US" sz="1600" dirty="0">
                <a:solidFill>
                  <a:srgbClr val="0070C0"/>
                </a:solidFill>
                <a:latin typeface="Fira Code" pitchFamily="49" charset="0"/>
                <a:ea typeface="Fira Code" pitchFamily="49" charset="0"/>
                <a:cs typeface="Fira Code" pitchFamily="49" charset="0"/>
              </a:rPr>
              <a:t>10</a:t>
            </a:r>
            <a:r>
              <a:rPr lang="en-US" sz="1600" dirty="0">
                <a:latin typeface="Fira Code" pitchFamily="49" charset="0"/>
                <a:ea typeface="Fira Code" pitchFamily="49" charset="0"/>
                <a:cs typeface="Fira Code" pitchFamily="49" charset="0"/>
              </a:rPr>
              <a:t>))</a:t>
            </a:r>
          </a:p>
          <a:p>
            <a:pPr marL="0" indent="0">
              <a:buNone/>
            </a:pPr>
            <a:r>
              <a:rPr lang="en-US" sz="1600" dirty="0" err="1">
                <a:latin typeface="Fira Code" pitchFamily="49" charset="0"/>
                <a:ea typeface="Fira Code" pitchFamily="49" charset="0"/>
                <a:cs typeface="Fira Code" pitchFamily="49" charset="0"/>
              </a:rPr>
              <a:t>df</a:t>
            </a:r>
            <a:r>
              <a:rPr lang="en-US" sz="1600" dirty="0">
                <a:latin typeface="Fira Code" pitchFamily="49" charset="0"/>
                <a:ea typeface="Fira Code" pitchFamily="49" charset="0"/>
                <a:cs typeface="Fira Code" pitchFamily="49" charset="0"/>
              </a:rPr>
              <a:t> |&gt;						</a:t>
            </a:r>
            <a:r>
              <a:rPr lang="ru-RU" sz="1600" dirty="0">
                <a:latin typeface="Fira Code" pitchFamily="49" charset="0"/>
                <a:ea typeface="Fira Code" pitchFamily="49" charset="0"/>
                <a:cs typeface="Fira Code" pitchFamily="49" charset="0"/>
              </a:rPr>
              <a:t>	</a:t>
            </a:r>
            <a:r>
              <a:rPr lang="en-US" sz="1600" dirty="0">
                <a:solidFill>
                  <a:srgbClr val="C00000"/>
                </a:solidFill>
                <a:latin typeface="Fira Code" pitchFamily="49" charset="0"/>
                <a:ea typeface="Fira Code" pitchFamily="49" charset="0"/>
                <a:cs typeface="Fira Code" pitchFamily="49" charset="0"/>
              </a:rPr>
              <a:t># </a:t>
            </a:r>
            <a:r>
              <a:rPr lang="ru-RU" sz="1600" dirty="0">
                <a:solidFill>
                  <a:srgbClr val="C00000"/>
                </a:solidFill>
                <a:latin typeface="Fira Code" pitchFamily="49" charset="0"/>
                <a:ea typeface="Fira Code" pitchFamily="49" charset="0"/>
                <a:cs typeface="Fira Code" pitchFamily="49" charset="0"/>
              </a:rPr>
              <a:t>вставляется между пайпами</a:t>
            </a:r>
          </a:p>
          <a:p>
            <a:pPr marL="0" indent="0">
              <a:buNone/>
            </a:pPr>
            <a:r>
              <a:rPr lang="ru-RU" sz="1600" dirty="0">
                <a:latin typeface="Fira Code" pitchFamily="49" charset="0"/>
                <a:ea typeface="Fira Code" pitchFamily="49" charset="0"/>
                <a:cs typeface="Fira Code" pitchFamily="49" charset="0"/>
              </a:rPr>
              <a:t>  </a:t>
            </a:r>
            <a:r>
              <a:rPr lang="en-US" sz="1600" dirty="0">
                <a:latin typeface="Fira Code" pitchFamily="49" charset="0"/>
                <a:ea typeface="Fira Code" pitchFamily="49" charset="0"/>
                <a:cs typeface="Fira Code" pitchFamily="49" charset="0"/>
              </a:rPr>
              <a:t>verify(!</a:t>
            </a:r>
            <a:r>
              <a:rPr lang="en-US" sz="1600" dirty="0" err="1">
                <a:latin typeface="Fira Code" pitchFamily="49" charset="0"/>
                <a:ea typeface="Fira Code" pitchFamily="49" charset="0"/>
                <a:cs typeface="Fira Code" pitchFamily="49" charset="0"/>
              </a:rPr>
              <a:t>is.na</a:t>
            </a:r>
            <a:r>
              <a:rPr lang="en-US" sz="1600" dirty="0">
                <a:latin typeface="Fira Code" pitchFamily="49" charset="0"/>
                <a:ea typeface="Fira Code" pitchFamily="49" charset="0"/>
                <a:cs typeface="Fira Code" pitchFamily="49" charset="0"/>
              </a:rPr>
              <a:t>(x)) |&gt; 			</a:t>
            </a:r>
            <a:r>
              <a:rPr lang="ru-RU" sz="1600" dirty="0">
                <a:latin typeface="Fira Code" pitchFamily="49" charset="0"/>
                <a:ea typeface="Fira Code" pitchFamily="49" charset="0"/>
                <a:cs typeface="Fira Code" pitchFamily="49" charset="0"/>
              </a:rPr>
              <a:t>	</a:t>
            </a:r>
            <a:r>
              <a:rPr lang="en-US" sz="1600" dirty="0">
                <a:solidFill>
                  <a:srgbClr val="C00000"/>
                </a:solidFill>
                <a:latin typeface="Fira Code" pitchFamily="49" charset="0"/>
                <a:ea typeface="Fira Code" pitchFamily="49" charset="0"/>
                <a:cs typeface="Fira Code" pitchFamily="49" charset="0"/>
              </a:rPr>
              <a:t># </a:t>
            </a:r>
            <a:r>
              <a:rPr lang="ru-RU" sz="1600" dirty="0">
                <a:solidFill>
                  <a:srgbClr val="C00000"/>
                </a:solidFill>
                <a:latin typeface="Fira Code" pitchFamily="49" charset="0"/>
                <a:ea typeface="Fira Code" pitchFamily="49" charset="0"/>
                <a:cs typeface="Fira Code" pitchFamily="49" charset="0"/>
              </a:rPr>
              <a:t>любое логическое выражение</a:t>
            </a:r>
          </a:p>
          <a:p>
            <a:pPr marL="0" indent="0">
              <a:buNone/>
            </a:pPr>
            <a:r>
              <a:rPr lang="ru-RU" sz="1600" dirty="0">
                <a:latin typeface="Fira Code" pitchFamily="49" charset="0"/>
                <a:ea typeface="Fira Code" pitchFamily="49" charset="0"/>
                <a:cs typeface="Fira Code" pitchFamily="49" charset="0"/>
              </a:rPr>
              <a:t>  </a:t>
            </a:r>
            <a:r>
              <a:rPr lang="en-US" sz="1600" dirty="0">
                <a:latin typeface="Fira Code" pitchFamily="49" charset="0"/>
                <a:ea typeface="Fira Code" pitchFamily="49" charset="0"/>
                <a:cs typeface="Fira Code" pitchFamily="49" charset="0"/>
              </a:rPr>
              <a:t>count(x)</a:t>
            </a:r>
          </a:p>
          <a:p>
            <a:pPr marL="0" indent="0">
              <a:buNone/>
            </a:pPr>
            <a:r>
              <a:rPr lang="en-US" sz="1600" dirty="0">
                <a:solidFill>
                  <a:schemeClr val="tx1">
                    <a:lumMod val="50000"/>
                    <a:lumOff val="50000"/>
                  </a:schemeClr>
                </a:solidFill>
                <a:latin typeface="Fira Code" pitchFamily="49" charset="0"/>
                <a:ea typeface="Fira Code" pitchFamily="49" charset="0"/>
                <a:cs typeface="Fira Code" pitchFamily="49" charset="0"/>
              </a:rPr>
              <a:t>#&gt; verification [!</a:t>
            </a:r>
            <a:r>
              <a:rPr lang="en-US" sz="1600" dirty="0" err="1">
                <a:solidFill>
                  <a:schemeClr val="tx1">
                    <a:lumMod val="50000"/>
                    <a:lumOff val="50000"/>
                  </a:schemeClr>
                </a:solidFill>
                <a:latin typeface="Fira Code" pitchFamily="49" charset="0"/>
                <a:ea typeface="Fira Code" pitchFamily="49" charset="0"/>
                <a:cs typeface="Fira Code" pitchFamily="49" charset="0"/>
              </a:rPr>
              <a:t>is.na</a:t>
            </a:r>
            <a:r>
              <a:rPr lang="en-US" sz="1600" dirty="0">
                <a:solidFill>
                  <a:schemeClr val="tx1">
                    <a:lumMod val="50000"/>
                    <a:lumOff val="50000"/>
                  </a:schemeClr>
                </a:solidFill>
                <a:latin typeface="Fira Code" pitchFamily="49" charset="0"/>
                <a:ea typeface="Fira Code" pitchFamily="49" charset="0"/>
                <a:cs typeface="Fira Code" pitchFamily="49" charset="0"/>
              </a:rPr>
              <a:t>(x)] failed! (2 failures)</a:t>
            </a:r>
          </a:p>
          <a:p>
            <a:pPr marL="0" indent="0">
              <a:buNone/>
            </a:pPr>
            <a:r>
              <a:rPr lang="en-US" sz="1600" dirty="0">
                <a:solidFill>
                  <a:schemeClr val="tx1">
                    <a:lumMod val="50000"/>
                    <a:lumOff val="50000"/>
                  </a:schemeClr>
                </a:solidFill>
                <a:latin typeface="Fira Code" pitchFamily="49" charset="0"/>
                <a:ea typeface="Fira Code" pitchFamily="49" charset="0"/>
                <a:cs typeface="Fira Code" pitchFamily="49" charset="0"/>
              </a:rPr>
              <a:t>#&gt; </a:t>
            </a:r>
          </a:p>
          <a:p>
            <a:pPr marL="0" indent="0">
              <a:buNone/>
            </a:pPr>
            <a:r>
              <a:rPr lang="en-US" sz="1600" dirty="0">
                <a:solidFill>
                  <a:schemeClr val="tx1">
                    <a:lumMod val="50000"/>
                    <a:lumOff val="50000"/>
                  </a:schemeClr>
                </a:solidFill>
                <a:latin typeface="Fira Code" pitchFamily="49" charset="0"/>
                <a:ea typeface="Fira Code" pitchFamily="49" charset="0"/>
                <a:cs typeface="Fira Code" pitchFamily="49" charset="0"/>
              </a:rPr>
              <a:t>#&gt;     verb </a:t>
            </a:r>
            <a:r>
              <a:rPr lang="en-US" sz="1600" dirty="0" err="1">
                <a:solidFill>
                  <a:schemeClr val="tx1">
                    <a:lumMod val="50000"/>
                    <a:lumOff val="50000"/>
                  </a:schemeClr>
                </a:solidFill>
                <a:latin typeface="Fira Code" pitchFamily="49" charset="0"/>
                <a:ea typeface="Fira Code" pitchFamily="49" charset="0"/>
                <a:cs typeface="Fira Code" pitchFamily="49" charset="0"/>
              </a:rPr>
              <a:t>redux_fn</a:t>
            </a:r>
            <a:r>
              <a:rPr lang="en-US" sz="1600" dirty="0">
                <a:solidFill>
                  <a:schemeClr val="tx1">
                    <a:lumMod val="50000"/>
                    <a:lumOff val="50000"/>
                  </a:schemeClr>
                </a:solidFill>
                <a:latin typeface="Fira Code" pitchFamily="49" charset="0"/>
                <a:ea typeface="Fira Code" pitchFamily="49" charset="0"/>
                <a:cs typeface="Fira Code" pitchFamily="49" charset="0"/>
              </a:rPr>
              <a:t> predicate column index value</a:t>
            </a:r>
          </a:p>
          <a:p>
            <a:pPr marL="0" indent="0">
              <a:buNone/>
            </a:pPr>
            <a:r>
              <a:rPr lang="en-US" sz="1600" dirty="0">
                <a:solidFill>
                  <a:schemeClr val="tx1">
                    <a:lumMod val="50000"/>
                    <a:lumOff val="50000"/>
                  </a:schemeClr>
                </a:solidFill>
                <a:latin typeface="Fira Code" pitchFamily="49" charset="0"/>
                <a:ea typeface="Fira Code" pitchFamily="49" charset="0"/>
                <a:cs typeface="Fira Code" pitchFamily="49" charset="0"/>
              </a:rPr>
              <a:t>#&gt; 1 verify       NA !</a:t>
            </a:r>
            <a:r>
              <a:rPr lang="en-US" sz="1600" dirty="0" err="1">
                <a:solidFill>
                  <a:schemeClr val="tx1">
                    <a:lumMod val="50000"/>
                    <a:lumOff val="50000"/>
                  </a:schemeClr>
                </a:solidFill>
                <a:latin typeface="Fira Code" pitchFamily="49" charset="0"/>
                <a:ea typeface="Fira Code" pitchFamily="49" charset="0"/>
                <a:cs typeface="Fira Code" pitchFamily="49" charset="0"/>
              </a:rPr>
              <a:t>is.na</a:t>
            </a:r>
            <a:r>
              <a:rPr lang="en-US" sz="1600" dirty="0">
                <a:solidFill>
                  <a:schemeClr val="tx1">
                    <a:lumMod val="50000"/>
                    <a:lumOff val="50000"/>
                  </a:schemeClr>
                </a:solidFill>
                <a:latin typeface="Fira Code" pitchFamily="49" charset="0"/>
                <a:ea typeface="Fira Code" pitchFamily="49" charset="0"/>
                <a:cs typeface="Fira Code" pitchFamily="49" charset="0"/>
              </a:rPr>
              <a:t>(x)     NA     9    NA</a:t>
            </a:r>
          </a:p>
          <a:p>
            <a:pPr marL="0" indent="0">
              <a:buNone/>
            </a:pPr>
            <a:r>
              <a:rPr lang="en-US" sz="1600" dirty="0">
                <a:solidFill>
                  <a:schemeClr val="tx1">
                    <a:lumMod val="50000"/>
                    <a:lumOff val="50000"/>
                  </a:schemeClr>
                </a:solidFill>
                <a:latin typeface="Fira Code" pitchFamily="49" charset="0"/>
                <a:ea typeface="Fira Code" pitchFamily="49" charset="0"/>
                <a:cs typeface="Fira Code" pitchFamily="49" charset="0"/>
              </a:rPr>
              <a:t>#&gt; 2 verify       NA !</a:t>
            </a:r>
            <a:r>
              <a:rPr lang="en-US" sz="1600" dirty="0" err="1">
                <a:solidFill>
                  <a:schemeClr val="tx1">
                    <a:lumMod val="50000"/>
                    <a:lumOff val="50000"/>
                  </a:schemeClr>
                </a:solidFill>
                <a:latin typeface="Fira Code" pitchFamily="49" charset="0"/>
                <a:ea typeface="Fira Code" pitchFamily="49" charset="0"/>
                <a:cs typeface="Fira Code" pitchFamily="49" charset="0"/>
              </a:rPr>
              <a:t>is.na</a:t>
            </a:r>
            <a:r>
              <a:rPr lang="en-US" sz="1600" dirty="0">
                <a:solidFill>
                  <a:schemeClr val="tx1">
                    <a:lumMod val="50000"/>
                    <a:lumOff val="50000"/>
                  </a:schemeClr>
                </a:solidFill>
                <a:latin typeface="Fira Code" pitchFamily="49" charset="0"/>
                <a:ea typeface="Fira Code" pitchFamily="49" charset="0"/>
                <a:cs typeface="Fira Code" pitchFamily="49" charset="0"/>
              </a:rPr>
              <a:t>(x)     NA    10    NA</a:t>
            </a:r>
          </a:p>
          <a:p>
            <a:pPr marL="0" indent="0">
              <a:buNone/>
            </a:pPr>
            <a:r>
              <a:rPr lang="en-US" sz="1600" dirty="0">
                <a:solidFill>
                  <a:srgbClr val="C00000"/>
                </a:solidFill>
                <a:latin typeface="Fira Code" pitchFamily="49" charset="0"/>
                <a:ea typeface="Fira Code" pitchFamily="49" charset="0"/>
                <a:cs typeface="Fira Code" pitchFamily="49" charset="0"/>
              </a:rPr>
              <a:t>#&gt; Error: </a:t>
            </a:r>
            <a:r>
              <a:rPr lang="en-US" sz="1600" dirty="0" err="1">
                <a:solidFill>
                  <a:srgbClr val="C00000"/>
                </a:solidFill>
                <a:latin typeface="Fira Code" pitchFamily="49" charset="0"/>
                <a:ea typeface="Fira Code" pitchFamily="49" charset="0"/>
                <a:cs typeface="Fira Code" pitchFamily="49" charset="0"/>
              </a:rPr>
              <a:t>assertr</a:t>
            </a:r>
            <a:r>
              <a:rPr lang="en-US" sz="1600" dirty="0">
                <a:solidFill>
                  <a:srgbClr val="C00000"/>
                </a:solidFill>
                <a:latin typeface="Fira Code" pitchFamily="49" charset="0"/>
                <a:ea typeface="Fira Code" pitchFamily="49" charset="0"/>
                <a:cs typeface="Fira Code" pitchFamily="49" charset="0"/>
              </a:rPr>
              <a:t> stopped execution</a:t>
            </a:r>
          </a:p>
        </p:txBody>
      </p:sp>
    </p:spTree>
    <p:extLst>
      <p:ext uri="{BB962C8B-B14F-4D97-AF65-F5344CB8AC3E}">
        <p14:creationId xmlns:p14="http://schemas.microsoft.com/office/powerpoint/2010/main" val="17385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07727-D9B1-9B08-BD5F-B389CECC69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E2458-C8FC-1EB3-F5BA-7C38731751A5}"/>
              </a:ext>
            </a:extLst>
          </p:cNvPr>
          <p:cNvSpPr>
            <a:spLocks noGrp="1"/>
          </p:cNvSpPr>
          <p:nvPr>
            <p:ph type="title"/>
          </p:nvPr>
        </p:nvSpPr>
        <p:spPr/>
        <p:txBody>
          <a:bodyPr/>
          <a:lstStyle/>
          <a:p>
            <a:r>
              <a:rPr lang="en-US" dirty="0" err="1"/>
              <a:t>assertr</a:t>
            </a:r>
            <a:endParaRPr lang="en-US" dirty="0"/>
          </a:p>
        </p:txBody>
      </p:sp>
      <p:sp>
        <p:nvSpPr>
          <p:cNvPr id="3" name="Content Placeholder 2">
            <a:extLst>
              <a:ext uri="{FF2B5EF4-FFF2-40B4-BE49-F238E27FC236}">
                <a16:creationId xmlns:a16="http://schemas.microsoft.com/office/drawing/2014/main" id="{BD2C6158-D944-C509-7019-9FCF485504E2}"/>
              </a:ext>
            </a:extLst>
          </p:cNvPr>
          <p:cNvSpPr>
            <a:spLocks noGrp="1"/>
          </p:cNvSpPr>
          <p:nvPr>
            <p:ph idx="1"/>
          </p:nvPr>
        </p:nvSpPr>
        <p:spPr>
          <a:xfrm>
            <a:off x="838200" y="1493918"/>
            <a:ext cx="10898529" cy="5184673"/>
          </a:xfrm>
        </p:spPr>
        <p:txBody>
          <a:bodyPr>
            <a:noAutofit/>
          </a:bodyPr>
          <a:lstStyle/>
          <a:p>
            <a:pPr marL="0" indent="0">
              <a:buNone/>
            </a:pPr>
            <a:r>
              <a:rPr lang="en-US" sz="1600" dirty="0" err="1">
                <a:latin typeface="Fira Code" pitchFamily="49" charset="0"/>
                <a:ea typeface="Fira Code" pitchFamily="49" charset="0"/>
                <a:cs typeface="Fira Code" pitchFamily="49" charset="0"/>
              </a:rPr>
              <a:t>df</a:t>
            </a:r>
            <a:r>
              <a:rPr lang="en-US" sz="1600" dirty="0">
                <a:latin typeface="Fira Code" pitchFamily="49" charset="0"/>
                <a:ea typeface="Fira Code" pitchFamily="49" charset="0"/>
                <a:cs typeface="Fira Code" pitchFamily="49" charset="0"/>
              </a:rPr>
              <a:t> |&gt;</a:t>
            </a:r>
          </a:p>
          <a:p>
            <a:pPr marL="0" indent="0">
              <a:buNone/>
            </a:pPr>
            <a:r>
              <a:rPr lang="en-US" sz="1600" dirty="0">
                <a:latin typeface="Fira Code" pitchFamily="49" charset="0"/>
                <a:ea typeface="Fira Code" pitchFamily="49" charset="0"/>
                <a:cs typeface="Fira Code" pitchFamily="49" charset="0"/>
              </a:rPr>
              <a:t>  assert(</a:t>
            </a:r>
            <a:r>
              <a:rPr lang="en-US" sz="1600" dirty="0" err="1">
                <a:latin typeface="Fira Code" pitchFamily="49" charset="0"/>
                <a:ea typeface="Fira Code" pitchFamily="49" charset="0"/>
                <a:cs typeface="Fira Code" pitchFamily="49" charset="0"/>
              </a:rPr>
              <a:t>not_na</a:t>
            </a:r>
            <a:r>
              <a:rPr lang="en-US" sz="1600" dirty="0">
                <a:latin typeface="Fira Code" pitchFamily="49" charset="0"/>
                <a:ea typeface="Fira Code" pitchFamily="49" charset="0"/>
                <a:cs typeface="Fira Code" pitchFamily="49" charset="0"/>
              </a:rPr>
              <a:t>, x, y) |&gt;			</a:t>
            </a:r>
            <a:r>
              <a:rPr lang="ru-RU" sz="1600" dirty="0">
                <a:latin typeface="Fira Code" pitchFamily="49" charset="0"/>
                <a:ea typeface="Fira Code" pitchFamily="49" charset="0"/>
                <a:cs typeface="Fira Code" pitchFamily="49" charset="0"/>
              </a:rPr>
              <a:t>	</a:t>
            </a:r>
            <a:r>
              <a:rPr lang="en-US" sz="1600" dirty="0">
                <a:solidFill>
                  <a:srgbClr val="C00000"/>
                </a:solidFill>
                <a:latin typeface="Fira Code" pitchFamily="49" charset="0"/>
                <a:ea typeface="Fira Code" pitchFamily="49" charset="0"/>
                <a:cs typeface="Fira Code" pitchFamily="49" charset="0"/>
              </a:rPr>
              <a:t># assert + </a:t>
            </a:r>
            <a:r>
              <a:rPr lang="ru-RU" sz="1600" dirty="0">
                <a:solidFill>
                  <a:srgbClr val="C00000"/>
                </a:solidFill>
                <a:latin typeface="Fira Code" pitchFamily="49" charset="0"/>
                <a:ea typeface="Fira Code" pitchFamily="49" charset="0"/>
                <a:cs typeface="Fira Code" pitchFamily="49" charset="0"/>
              </a:rPr>
              <a:t>предикат</a:t>
            </a:r>
            <a:r>
              <a:rPr lang="en-US" sz="1600" dirty="0">
                <a:solidFill>
                  <a:srgbClr val="C00000"/>
                </a:solidFill>
                <a:latin typeface="Fira Code" pitchFamily="49" charset="0"/>
                <a:ea typeface="Fira Code" pitchFamily="49" charset="0"/>
                <a:cs typeface="Fira Code" pitchFamily="49" charset="0"/>
              </a:rPr>
              <a:t> </a:t>
            </a:r>
            <a:r>
              <a:rPr lang="ru-RU" sz="1600" dirty="0">
                <a:solidFill>
                  <a:srgbClr val="C00000"/>
                </a:solidFill>
                <a:latin typeface="Fira Code" pitchFamily="49" charset="0"/>
                <a:ea typeface="Fira Code" pitchFamily="49" charset="0"/>
                <a:cs typeface="Fira Code" pitchFamily="49" charset="0"/>
              </a:rPr>
              <a:t>вместо </a:t>
            </a:r>
            <a:r>
              <a:rPr lang="en-US" sz="1600" dirty="0">
                <a:solidFill>
                  <a:srgbClr val="C00000"/>
                </a:solidFill>
                <a:latin typeface="Fira Code" pitchFamily="49" charset="0"/>
                <a:ea typeface="Fira Code" pitchFamily="49" charset="0"/>
                <a:cs typeface="Fira Code" pitchFamily="49" charset="0"/>
              </a:rPr>
              <a:t>verify</a:t>
            </a:r>
          </a:p>
          <a:p>
            <a:pPr marL="0" indent="0">
              <a:buNone/>
            </a:pPr>
            <a:r>
              <a:rPr lang="en-US" sz="1600" dirty="0">
                <a:latin typeface="Fira Code" pitchFamily="49" charset="0"/>
                <a:ea typeface="Fira Code" pitchFamily="49" charset="0"/>
                <a:cs typeface="Fira Code" pitchFamily="49" charset="0"/>
              </a:rPr>
              <a:t>  count(x)</a:t>
            </a:r>
          </a:p>
          <a:p>
            <a:pPr marL="0" indent="0">
              <a:buNone/>
            </a:pPr>
            <a:r>
              <a:rPr lang="en-US" sz="1600" dirty="0">
                <a:solidFill>
                  <a:schemeClr val="tx1">
                    <a:lumMod val="65000"/>
                    <a:lumOff val="35000"/>
                  </a:schemeClr>
                </a:solidFill>
                <a:latin typeface="Fira Code" pitchFamily="49" charset="0"/>
                <a:ea typeface="Fira Code" pitchFamily="49" charset="0"/>
                <a:cs typeface="Fira Code" pitchFamily="49" charset="0"/>
              </a:rPr>
              <a:t>#&gt; Column 'x' violates assertion '</a:t>
            </a:r>
            <a:r>
              <a:rPr lang="en-US" sz="1600" dirty="0" err="1">
                <a:solidFill>
                  <a:schemeClr val="tx1">
                    <a:lumMod val="65000"/>
                    <a:lumOff val="35000"/>
                  </a:schemeClr>
                </a:solidFill>
                <a:latin typeface="Fira Code" pitchFamily="49" charset="0"/>
                <a:ea typeface="Fira Code" pitchFamily="49" charset="0"/>
                <a:cs typeface="Fira Code" pitchFamily="49" charset="0"/>
              </a:rPr>
              <a:t>not_na</a:t>
            </a:r>
            <a:r>
              <a:rPr lang="en-US" sz="1600" dirty="0">
                <a:solidFill>
                  <a:schemeClr val="tx1">
                    <a:lumMod val="65000"/>
                    <a:lumOff val="35000"/>
                  </a:schemeClr>
                </a:solidFill>
                <a:latin typeface="Fira Code" pitchFamily="49" charset="0"/>
                <a:ea typeface="Fira Code" pitchFamily="49" charset="0"/>
                <a:cs typeface="Fira Code" pitchFamily="49" charset="0"/>
              </a:rPr>
              <a:t>' 2 times</a:t>
            </a:r>
          </a:p>
          <a:p>
            <a:pPr marL="0" indent="0">
              <a:buNone/>
            </a:pPr>
            <a:r>
              <a:rPr lang="en-US" sz="1600" dirty="0">
                <a:solidFill>
                  <a:schemeClr val="tx1">
                    <a:lumMod val="65000"/>
                    <a:lumOff val="35000"/>
                  </a:schemeClr>
                </a:solidFill>
                <a:latin typeface="Fira Code" pitchFamily="49" charset="0"/>
                <a:ea typeface="Fira Code" pitchFamily="49" charset="0"/>
                <a:cs typeface="Fira Code" pitchFamily="49" charset="0"/>
              </a:rPr>
              <a:t>#&gt;     verb </a:t>
            </a:r>
            <a:r>
              <a:rPr lang="en-US" sz="1600" dirty="0" err="1">
                <a:solidFill>
                  <a:schemeClr val="tx1">
                    <a:lumMod val="65000"/>
                    <a:lumOff val="35000"/>
                  </a:schemeClr>
                </a:solidFill>
                <a:latin typeface="Fira Code" pitchFamily="49" charset="0"/>
                <a:ea typeface="Fira Code" pitchFamily="49" charset="0"/>
                <a:cs typeface="Fira Code" pitchFamily="49" charset="0"/>
              </a:rPr>
              <a:t>redux_fn</a:t>
            </a:r>
            <a:r>
              <a:rPr lang="en-US" sz="1600" dirty="0">
                <a:solidFill>
                  <a:schemeClr val="tx1">
                    <a:lumMod val="65000"/>
                    <a:lumOff val="35000"/>
                  </a:schemeClr>
                </a:solidFill>
                <a:latin typeface="Fira Code" pitchFamily="49" charset="0"/>
                <a:ea typeface="Fira Code" pitchFamily="49" charset="0"/>
                <a:cs typeface="Fira Code" pitchFamily="49" charset="0"/>
              </a:rPr>
              <a:t> predicate column index value</a:t>
            </a:r>
          </a:p>
          <a:p>
            <a:pPr marL="0" indent="0">
              <a:buNone/>
            </a:pPr>
            <a:r>
              <a:rPr lang="en-US" sz="1600" dirty="0">
                <a:solidFill>
                  <a:schemeClr val="tx1">
                    <a:lumMod val="65000"/>
                    <a:lumOff val="35000"/>
                  </a:schemeClr>
                </a:solidFill>
                <a:latin typeface="Fira Code" pitchFamily="49" charset="0"/>
                <a:ea typeface="Fira Code" pitchFamily="49" charset="0"/>
                <a:cs typeface="Fira Code" pitchFamily="49" charset="0"/>
              </a:rPr>
              <a:t>#&gt; 1 assert       NA    </a:t>
            </a:r>
            <a:r>
              <a:rPr lang="en-US" sz="1600" dirty="0" err="1">
                <a:solidFill>
                  <a:schemeClr val="tx1">
                    <a:lumMod val="65000"/>
                    <a:lumOff val="35000"/>
                  </a:schemeClr>
                </a:solidFill>
                <a:latin typeface="Fira Code" pitchFamily="49" charset="0"/>
                <a:ea typeface="Fira Code" pitchFamily="49" charset="0"/>
                <a:cs typeface="Fira Code" pitchFamily="49" charset="0"/>
              </a:rPr>
              <a:t>not_na</a:t>
            </a:r>
            <a:r>
              <a:rPr lang="en-US" sz="1600" dirty="0">
                <a:solidFill>
                  <a:schemeClr val="tx1">
                    <a:lumMod val="65000"/>
                    <a:lumOff val="35000"/>
                  </a:schemeClr>
                </a:solidFill>
                <a:latin typeface="Fira Code" pitchFamily="49" charset="0"/>
                <a:ea typeface="Fira Code" pitchFamily="49" charset="0"/>
                <a:cs typeface="Fira Code" pitchFamily="49" charset="0"/>
              </a:rPr>
              <a:t>      x     9  &lt;NA&gt;</a:t>
            </a:r>
          </a:p>
          <a:p>
            <a:pPr marL="0" indent="0">
              <a:buNone/>
            </a:pPr>
            <a:r>
              <a:rPr lang="en-US" sz="1600" dirty="0">
                <a:solidFill>
                  <a:schemeClr val="tx1">
                    <a:lumMod val="65000"/>
                    <a:lumOff val="35000"/>
                  </a:schemeClr>
                </a:solidFill>
                <a:latin typeface="Fira Code" pitchFamily="49" charset="0"/>
                <a:ea typeface="Fira Code" pitchFamily="49" charset="0"/>
                <a:cs typeface="Fira Code" pitchFamily="49" charset="0"/>
              </a:rPr>
              <a:t>#&gt; 2 assert       NA    </a:t>
            </a:r>
            <a:r>
              <a:rPr lang="en-US" sz="1600" dirty="0" err="1">
                <a:solidFill>
                  <a:schemeClr val="tx1">
                    <a:lumMod val="65000"/>
                    <a:lumOff val="35000"/>
                  </a:schemeClr>
                </a:solidFill>
                <a:latin typeface="Fira Code" pitchFamily="49" charset="0"/>
                <a:ea typeface="Fira Code" pitchFamily="49" charset="0"/>
                <a:cs typeface="Fira Code" pitchFamily="49" charset="0"/>
              </a:rPr>
              <a:t>not_na</a:t>
            </a:r>
            <a:r>
              <a:rPr lang="en-US" sz="1600" dirty="0">
                <a:solidFill>
                  <a:schemeClr val="tx1">
                    <a:lumMod val="65000"/>
                    <a:lumOff val="35000"/>
                  </a:schemeClr>
                </a:solidFill>
                <a:latin typeface="Fira Code" pitchFamily="49" charset="0"/>
                <a:ea typeface="Fira Code" pitchFamily="49" charset="0"/>
                <a:cs typeface="Fira Code" pitchFamily="49" charset="0"/>
              </a:rPr>
              <a:t>      x    10  &lt;NA&gt;</a:t>
            </a:r>
          </a:p>
          <a:p>
            <a:pPr marL="0" indent="0">
              <a:buNone/>
            </a:pPr>
            <a:r>
              <a:rPr lang="en-US" sz="1600" dirty="0">
                <a:solidFill>
                  <a:srgbClr val="C00000"/>
                </a:solidFill>
                <a:latin typeface="Fira Code" pitchFamily="49" charset="0"/>
                <a:ea typeface="Fira Code" pitchFamily="49" charset="0"/>
                <a:cs typeface="Fira Code" pitchFamily="49" charset="0"/>
              </a:rPr>
              <a:t>#&gt; Error: </a:t>
            </a:r>
            <a:r>
              <a:rPr lang="en-US" sz="1600" dirty="0" err="1">
                <a:solidFill>
                  <a:srgbClr val="C00000"/>
                </a:solidFill>
                <a:latin typeface="Fira Code" pitchFamily="49" charset="0"/>
                <a:ea typeface="Fira Code" pitchFamily="49" charset="0"/>
                <a:cs typeface="Fira Code" pitchFamily="49" charset="0"/>
              </a:rPr>
              <a:t>assertr</a:t>
            </a:r>
            <a:r>
              <a:rPr lang="en-US" sz="1600" dirty="0">
                <a:solidFill>
                  <a:srgbClr val="C00000"/>
                </a:solidFill>
                <a:latin typeface="Fira Code" pitchFamily="49" charset="0"/>
                <a:ea typeface="Fira Code" pitchFamily="49" charset="0"/>
                <a:cs typeface="Fira Code" pitchFamily="49" charset="0"/>
              </a:rPr>
              <a:t> stopped execution</a:t>
            </a:r>
          </a:p>
        </p:txBody>
      </p:sp>
    </p:spTree>
    <p:extLst>
      <p:ext uri="{BB962C8B-B14F-4D97-AF65-F5344CB8AC3E}">
        <p14:creationId xmlns:p14="http://schemas.microsoft.com/office/powerpoint/2010/main" val="7674059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94F1F-3728-43BD-713E-680991320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326EA-80C0-B589-4C0C-0A400611AB85}"/>
              </a:ext>
            </a:extLst>
          </p:cNvPr>
          <p:cNvSpPr>
            <a:spLocks noGrp="1"/>
          </p:cNvSpPr>
          <p:nvPr>
            <p:ph type="title"/>
          </p:nvPr>
        </p:nvSpPr>
        <p:spPr/>
        <p:txBody>
          <a:bodyPr/>
          <a:lstStyle/>
          <a:p>
            <a:r>
              <a:rPr lang="en-US" dirty="0" err="1"/>
              <a:t>assertr</a:t>
            </a:r>
            <a:endParaRPr lang="en-US" dirty="0"/>
          </a:p>
        </p:txBody>
      </p:sp>
      <p:sp>
        <p:nvSpPr>
          <p:cNvPr id="3" name="Content Placeholder 2">
            <a:extLst>
              <a:ext uri="{FF2B5EF4-FFF2-40B4-BE49-F238E27FC236}">
                <a16:creationId xmlns:a16="http://schemas.microsoft.com/office/drawing/2014/main" id="{16AD92D2-6102-67D2-09A9-951CAA067334}"/>
              </a:ext>
            </a:extLst>
          </p:cNvPr>
          <p:cNvSpPr>
            <a:spLocks noGrp="1"/>
          </p:cNvSpPr>
          <p:nvPr>
            <p:ph idx="1"/>
          </p:nvPr>
        </p:nvSpPr>
        <p:spPr>
          <a:xfrm>
            <a:off x="838200" y="1493918"/>
            <a:ext cx="10898529" cy="5184673"/>
          </a:xfrm>
        </p:spPr>
        <p:txBody>
          <a:bodyPr>
            <a:noAutofit/>
          </a:bodyPr>
          <a:lstStyle/>
          <a:p>
            <a:pPr marL="0" indent="0">
              <a:buNone/>
            </a:pPr>
            <a:r>
              <a:rPr lang="en-US" sz="1600" dirty="0" err="1">
                <a:latin typeface="Fira Code" pitchFamily="49" charset="0"/>
                <a:ea typeface="Fira Code" pitchFamily="49" charset="0"/>
                <a:cs typeface="Fira Code" pitchFamily="49" charset="0"/>
              </a:rPr>
              <a:t>df</a:t>
            </a:r>
            <a:r>
              <a:rPr lang="en-US" sz="1600" dirty="0">
                <a:latin typeface="Fira Code" pitchFamily="49" charset="0"/>
                <a:ea typeface="Fira Code" pitchFamily="49" charset="0"/>
                <a:cs typeface="Fira Code" pitchFamily="49" charset="0"/>
              </a:rPr>
              <a:t> |&gt;</a:t>
            </a:r>
          </a:p>
          <a:p>
            <a:pPr marL="0" indent="0">
              <a:buNone/>
            </a:pPr>
            <a:r>
              <a:rPr lang="en-US" sz="1600" dirty="0">
                <a:latin typeface="Fira Code" pitchFamily="49" charset="0"/>
                <a:ea typeface="Fira Code" pitchFamily="49" charset="0"/>
                <a:cs typeface="Fira Code" pitchFamily="49" charset="0"/>
              </a:rPr>
              <a:t>  assert(</a:t>
            </a:r>
            <a:r>
              <a:rPr lang="en-US" sz="1600" dirty="0" err="1">
                <a:latin typeface="Fira Code" pitchFamily="49" charset="0"/>
                <a:ea typeface="Fira Code" pitchFamily="49" charset="0"/>
                <a:cs typeface="Fira Code" pitchFamily="49" charset="0"/>
              </a:rPr>
              <a:t>not_na</a:t>
            </a:r>
            <a:r>
              <a:rPr lang="en-US" sz="1600" dirty="0">
                <a:latin typeface="Fira Code" pitchFamily="49" charset="0"/>
                <a:ea typeface="Fira Code" pitchFamily="49" charset="0"/>
                <a:cs typeface="Fira Code" pitchFamily="49" charset="0"/>
              </a:rPr>
              <a:t>, x, y, </a:t>
            </a:r>
            <a:r>
              <a:rPr lang="en-US" sz="1600" dirty="0" err="1">
                <a:latin typeface="Fira Code" pitchFamily="49" charset="0"/>
                <a:ea typeface="Fira Code" pitchFamily="49" charset="0"/>
                <a:cs typeface="Fira Code" pitchFamily="49" charset="0"/>
              </a:rPr>
              <a:t>error_fun</a:t>
            </a:r>
            <a:r>
              <a:rPr lang="en-US" sz="1600" dirty="0">
                <a:latin typeface="Fira Code" pitchFamily="49" charset="0"/>
                <a:ea typeface="Fira Code" pitchFamily="49" charset="0"/>
                <a:cs typeface="Fira Code" pitchFamily="49" charset="0"/>
              </a:rPr>
              <a:t> = </a:t>
            </a:r>
            <a:r>
              <a:rPr lang="en-US" sz="1600" dirty="0" err="1">
                <a:latin typeface="Fira Code" pitchFamily="49" charset="0"/>
                <a:ea typeface="Fira Code" pitchFamily="49" charset="0"/>
                <a:cs typeface="Fira Code" pitchFamily="49" charset="0"/>
              </a:rPr>
              <a:t>just_warn</a:t>
            </a:r>
            <a:r>
              <a:rPr lang="en-US" sz="1600" dirty="0">
                <a:latin typeface="Fira Code" pitchFamily="49" charset="0"/>
                <a:ea typeface="Fira Code" pitchFamily="49" charset="0"/>
                <a:cs typeface="Fira Code" pitchFamily="49" charset="0"/>
              </a:rPr>
              <a:t>) |&gt;	</a:t>
            </a:r>
            <a:r>
              <a:rPr lang="en-US" sz="1600" dirty="0">
                <a:solidFill>
                  <a:srgbClr val="C00000"/>
                </a:solidFill>
                <a:latin typeface="Fira Code" pitchFamily="49" charset="0"/>
                <a:ea typeface="Fira Code" pitchFamily="49" charset="0"/>
                <a:cs typeface="Fira Code" pitchFamily="49" charset="0"/>
              </a:rPr>
              <a:t># </a:t>
            </a:r>
            <a:r>
              <a:rPr lang="ru-RU" sz="1600" dirty="0">
                <a:solidFill>
                  <a:srgbClr val="C00000"/>
                </a:solidFill>
                <a:latin typeface="Fira Code" pitchFamily="49" charset="0"/>
                <a:ea typeface="Fira Code" pitchFamily="49" charset="0"/>
                <a:cs typeface="Fira Code" pitchFamily="49" charset="0"/>
              </a:rPr>
              <a:t>обработчик ошибок</a:t>
            </a:r>
            <a:endParaRPr lang="en-US" sz="1600" dirty="0">
              <a:solidFill>
                <a:srgbClr val="C00000"/>
              </a:solidFill>
              <a:latin typeface="Fira Code" pitchFamily="49" charset="0"/>
              <a:ea typeface="Fira Code" pitchFamily="49" charset="0"/>
              <a:cs typeface="Fira Code" pitchFamily="49" charset="0"/>
            </a:endParaRPr>
          </a:p>
          <a:p>
            <a:pPr marL="0" indent="0">
              <a:buNone/>
            </a:pPr>
            <a:r>
              <a:rPr lang="en-US" sz="1600" dirty="0">
                <a:latin typeface="Fira Code" pitchFamily="49" charset="0"/>
                <a:ea typeface="Fira Code" pitchFamily="49" charset="0"/>
                <a:cs typeface="Fira Code" pitchFamily="49" charset="0"/>
              </a:rPr>
              <a:t>  count(x)</a:t>
            </a:r>
          </a:p>
          <a:p>
            <a:pPr marL="0" indent="0">
              <a:buNone/>
            </a:pPr>
            <a:r>
              <a:rPr lang="en-US" sz="1600" dirty="0">
                <a:solidFill>
                  <a:schemeClr val="tx1">
                    <a:lumMod val="65000"/>
                    <a:lumOff val="35000"/>
                  </a:schemeClr>
                </a:solidFill>
                <a:latin typeface="Fira Code" pitchFamily="49" charset="0"/>
                <a:ea typeface="Fira Code" pitchFamily="49" charset="0"/>
                <a:cs typeface="Fira Code" pitchFamily="49" charset="0"/>
              </a:rPr>
              <a:t>#&gt; Column 'x' violates assertion '</a:t>
            </a:r>
            <a:r>
              <a:rPr lang="en-US" sz="1600" dirty="0" err="1">
                <a:solidFill>
                  <a:schemeClr val="tx1">
                    <a:lumMod val="65000"/>
                    <a:lumOff val="35000"/>
                  </a:schemeClr>
                </a:solidFill>
                <a:latin typeface="Fira Code" pitchFamily="49" charset="0"/>
                <a:ea typeface="Fira Code" pitchFamily="49" charset="0"/>
                <a:cs typeface="Fira Code" pitchFamily="49" charset="0"/>
              </a:rPr>
              <a:t>not_na</a:t>
            </a:r>
            <a:r>
              <a:rPr lang="en-US" sz="1600" dirty="0">
                <a:solidFill>
                  <a:schemeClr val="tx1">
                    <a:lumMod val="65000"/>
                    <a:lumOff val="35000"/>
                  </a:schemeClr>
                </a:solidFill>
                <a:latin typeface="Fira Code" pitchFamily="49" charset="0"/>
                <a:ea typeface="Fira Code" pitchFamily="49" charset="0"/>
                <a:cs typeface="Fira Code" pitchFamily="49" charset="0"/>
              </a:rPr>
              <a:t>' 2 times</a:t>
            </a:r>
          </a:p>
          <a:p>
            <a:pPr marL="0" indent="0">
              <a:buNone/>
            </a:pPr>
            <a:r>
              <a:rPr lang="en-US" sz="1600" dirty="0">
                <a:solidFill>
                  <a:schemeClr val="tx1">
                    <a:lumMod val="65000"/>
                    <a:lumOff val="35000"/>
                  </a:schemeClr>
                </a:solidFill>
                <a:latin typeface="Fira Code" pitchFamily="49" charset="0"/>
                <a:ea typeface="Fira Code" pitchFamily="49" charset="0"/>
                <a:cs typeface="Fira Code" pitchFamily="49" charset="0"/>
              </a:rPr>
              <a:t>#&gt;     verb </a:t>
            </a:r>
            <a:r>
              <a:rPr lang="en-US" sz="1600" dirty="0" err="1">
                <a:solidFill>
                  <a:schemeClr val="tx1">
                    <a:lumMod val="65000"/>
                    <a:lumOff val="35000"/>
                  </a:schemeClr>
                </a:solidFill>
                <a:latin typeface="Fira Code" pitchFamily="49" charset="0"/>
                <a:ea typeface="Fira Code" pitchFamily="49" charset="0"/>
                <a:cs typeface="Fira Code" pitchFamily="49" charset="0"/>
              </a:rPr>
              <a:t>redux_fn</a:t>
            </a:r>
            <a:r>
              <a:rPr lang="en-US" sz="1600" dirty="0">
                <a:solidFill>
                  <a:schemeClr val="tx1">
                    <a:lumMod val="65000"/>
                    <a:lumOff val="35000"/>
                  </a:schemeClr>
                </a:solidFill>
                <a:latin typeface="Fira Code" pitchFamily="49" charset="0"/>
                <a:ea typeface="Fira Code" pitchFamily="49" charset="0"/>
                <a:cs typeface="Fira Code" pitchFamily="49" charset="0"/>
              </a:rPr>
              <a:t> predicate column index value</a:t>
            </a:r>
          </a:p>
          <a:p>
            <a:pPr marL="0" indent="0">
              <a:buNone/>
            </a:pPr>
            <a:r>
              <a:rPr lang="en-US" sz="1600" dirty="0">
                <a:solidFill>
                  <a:schemeClr val="tx1">
                    <a:lumMod val="65000"/>
                    <a:lumOff val="35000"/>
                  </a:schemeClr>
                </a:solidFill>
                <a:latin typeface="Fira Code" pitchFamily="49" charset="0"/>
                <a:ea typeface="Fira Code" pitchFamily="49" charset="0"/>
                <a:cs typeface="Fira Code" pitchFamily="49" charset="0"/>
              </a:rPr>
              <a:t>#&gt; 1 assert       NA    </a:t>
            </a:r>
            <a:r>
              <a:rPr lang="en-US" sz="1600" dirty="0" err="1">
                <a:solidFill>
                  <a:schemeClr val="tx1">
                    <a:lumMod val="65000"/>
                    <a:lumOff val="35000"/>
                  </a:schemeClr>
                </a:solidFill>
                <a:latin typeface="Fira Code" pitchFamily="49" charset="0"/>
                <a:ea typeface="Fira Code" pitchFamily="49" charset="0"/>
                <a:cs typeface="Fira Code" pitchFamily="49" charset="0"/>
              </a:rPr>
              <a:t>not_na</a:t>
            </a:r>
            <a:r>
              <a:rPr lang="en-US" sz="1600" dirty="0">
                <a:solidFill>
                  <a:schemeClr val="tx1">
                    <a:lumMod val="65000"/>
                    <a:lumOff val="35000"/>
                  </a:schemeClr>
                </a:solidFill>
                <a:latin typeface="Fira Code" pitchFamily="49" charset="0"/>
                <a:ea typeface="Fira Code" pitchFamily="49" charset="0"/>
                <a:cs typeface="Fira Code" pitchFamily="49" charset="0"/>
              </a:rPr>
              <a:t>      x     9  &lt;NA&gt;</a:t>
            </a:r>
          </a:p>
          <a:p>
            <a:pPr marL="0" indent="0">
              <a:buNone/>
            </a:pPr>
            <a:r>
              <a:rPr lang="en-US" sz="1600" dirty="0">
                <a:solidFill>
                  <a:schemeClr val="tx1">
                    <a:lumMod val="65000"/>
                    <a:lumOff val="35000"/>
                  </a:schemeClr>
                </a:solidFill>
                <a:latin typeface="Fira Code" pitchFamily="49" charset="0"/>
                <a:ea typeface="Fira Code" pitchFamily="49" charset="0"/>
                <a:cs typeface="Fira Code" pitchFamily="49" charset="0"/>
              </a:rPr>
              <a:t>#&gt; 2 assert       NA    </a:t>
            </a:r>
            <a:r>
              <a:rPr lang="en-US" sz="1600" dirty="0" err="1">
                <a:solidFill>
                  <a:schemeClr val="tx1">
                    <a:lumMod val="65000"/>
                    <a:lumOff val="35000"/>
                  </a:schemeClr>
                </a:solidFill>
                <a:latin typeface="Fira Code" pitchFamily="49" charset="0"/>
                <a:ea typeface="Fira Code" pitchFamily="49" charset="0"/>
                <a:cs typeface="Fira Code" pitchFamily="49" charset="0"/>
              </a:rPr>
              <a:t>not_na</a:t>
            </a:r>
            <a:r>
              <a:rPr lang="en-US" sz="1600" dirty="0">
                <a:solidFill>
                  <a:schemeClr val="tx1">
                    <a:lumMod val="65000"/>
                    <a:lumOff val="35000"/>
                  </a:schemeClr>
                </a:solidFill>
                <a:latin typeface="Fira Code" pitchFamily="49" charset="0"/>
                <a:ea typeface="Fira Code" pitchFamily="49" charset="0"/>
                <a:cs typeface="Fira Code" pitchFamily="49" charset="0"/>
              </a:rPr>
              <a:t>      x    10  &lt;NA&gt;</a:t>
            </a:r>
          </a:p>
          <a:p>
            <a:pPr marL="0" indent="0">
              <a:buNone/>
            </a:pPr>
            <a:r>
              <a:rPr lang="en-US" sz="1600" dirty="0">
                <a:solidFill>
                  <a:srgbClr val="C00000"/>
                </a:solidFill>
                <a:latin typeface="Fira Code" pitchFamily="49" charset="0"/>
                <a:ea typeface="Fira Code" pitchFamily="49" charset="0"/>
                <a:cs typeface="Fira Code" pitchFamily="49" charset="0"/>
              </a:rPr>
              <a:t>#&gt; Warning: </a:t>
            </a:r>
            <a:r>
              <a:rPr lang="en-US" sz="1600" dirty="0" err="1">
                <a:solidFill>
                  <a:srgbClr val="C00000"/>
                </a:solidFill>
                <a:latin typeface="Fira Code" pitchFamily="49" charset="0"/>
                <a:ea typeface="Fira Code" pitchFamily="49" charset="0"/>
                <a:cs typeface="Fira Code" pitchFamily="49" charset="0"/>
              </a:rPr>
              <a:t>assertr</a:t>
            </a:r>
            <a:r>
              <a:rPr lang="en-US" sz="1600" dirty="0">
                <a:solidFill>
                  <a:srgbClr val="C00000"/>
                </a:solidFill>
                <a:latin typeface="Fira Code" pitchFamily="49" charset="0"/>
                <a:ea typeface="Fira Code" pitchFamily="49" charset="0"/>
                <a:cs typeface="Fira Code" pitchFamily="49" charset="0"/>
              </a:rPr>
              <a:t> encountered errors</a:t>
            </a:r>
          </a:p>
          <a:p>
            <a:pPr marL="0" indent="0">
              <a:buNone/>
            </a:pPr>
            <a:r>
              <a:rPr lang="en-US" sz="1600" dirty="0">
                <a:latin typeface="Fira Code" pitchFamily="49" charset="0"/>
                <a:ea typeface="Fira Code" pitchFamily="49" charset="0"/>
                <a:cs typeface="Fira Code" pitchFamily="49" charset="0"/>
              </a:rPr>
              <a:t>#&gt;      x n</a:t>
            </a:r>
          </a:p>
          <a:p>
            <a:pPr marL="0" indent="0">
              <a:buNone/>
            </a:pPr>
            <a:r>
              <a:rPr lang="en-US" sz="1600" dirty="0">
                <a:latin typeface="Fira Code" pitchFamily="49" charset="0"/>
                <a:ea typeface="Fira Code" pitchFamily="49" charset="0"/>
                <a:cs typeface="Fira Code" pitchFamily="49" charset="0"/>
              </a:rPr>
              <a:t>#&gt; 1   Hi 3</a:t>
            </a:r>
          </a:p>
          <a:p>
            <a:pPr marL="0" indent="0">
              <a:buNone/>
            </a:pPr>
            <a:r>
              <a:rPr lang="en-US" sz="1600" dirty="0">
                <a:latin typeface="Fira Code" pitchFamily="49" charset="0"/>
                <a:ea typeface="Fira Code" pitchFamily="49" charset="0"/>
                <a:cs typeface="Fira Code" pitchFamily="49" charset="0"/>
              </a:rPr>
              <a:t>#&gt; 2   Lo 5</a:t>
            </a:r>
          </a:p>
          <a:p>
            <a:pPr marL="0" indent="0">
              <a:buNone/>
            </a:pPr>
            <a:r>
              <a:rPr lang="en-US" sz="1600" dirty="0">
                <a:latin typeface="Fira Code" pitchFamily="49" charset="0"/>
                <a:ea typeface="Fira Code" pitchFamily="49" charset="0"/>
                <a:cs typeface="Fira Code" pitchFamily="49" charset="0"/>
              </a:rPr>
              <a:t>#&gt; 3 &lt;NA&gt; 2</a:t>
            </a:r>
            <a:endParaRPr lang="en-US" sz="1600" dirty="0">
              <a:solidFill>
                <a:srgbClr val="C00000"/>
              </a:solidFill>
              <a:latin typeface="Fira Code" pitchFamily="49" charset="0"/>
              <a:ea typeface="Fira Code" pitchFamily="49" charset="0"/>
              <a:cs typeface="Fira Code" pitchFamily="49" charset="0"/>
            </a:endParaRPr>
          </a:p>
        </p:txBody>
      </p:sp>
    </p:spTree>
    <p:extLst>
      <p:ext uri="{BB962C8B-B14F-4D97-AF65-F5344CB8AC3E}">
        <p14:creationId xmlns:p14="http://schemas.microsoft.com/office/powerpoint/2010/main" val="876404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4315F-43EC-DFF9-62AF-C562E52E59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A3A58-A0B3-FF1C-ADBF-00D06EA4A77E}"/>
              </a:ext>
            </a:extLst>
          </p:cNvPr>
          <p:cNvSpPr>
            <a:spLocks noGrp="1"/>
          </p:cNvSpPr>
          <p:nvPr>
            <p:ph type="title"/>
          </p:nvPr>
        </p:nvSpPr>
        <p:spPr/>
        <p:txBody>
          <a:bodyPr/>
          <a:lstStyle/>
          <a:p>
            <a:r>
              <a:rPr lang="en-US" dirty="0" err="1"/>
              <a:t>assertr</a:t>
            </a:r>
            <a:endParaRPr lang="en-US" dirty="0"/>
          </a:p>
        </p:txBody>
      </p:sp>
      <p:sp>
        <p:nvSpPr>
          <p:cNvPr id="3" name="Content Placeholder 2">
            <a:extLst>
              <a:ext uri="{FF2B5EF4-FFF2-40B4-BE49-F238E27FC236}">
                <a16:creationId xmlns:a16="http://schemas.microsoft.com/office/drawing/2014/main" id="{D7A264C4-9128-D186-6096-0637C7545DCE}"/>
              </a:ext>
            </a:extLst>
          </p:cNvPr>
          <p:cNvSpPr>
            <a:spLocks noGrp="1"/>
          </p:cNvSpPr>
          <p:nvPr>
            <p:ph idx="1"/>
          </p:nvPr>
        </p:nvSpPr>
        <p:spPr>
          <a:xfrm>
            <a:off x="838200" y="1493918"/>
            <a:ext cx="10898529" cy="5184673"/>
          </a:xfrm>
        </p:spPr>
        <p:txBody>
          <a:bodyPr>
            <a:noAutofit/>
          </a:bodyPr>
          <a:lstStyle/>
          <a:p>
            <a:pPr marL="0" indent="0">
              <a:buNone/>
            </a:pPr>
            <a:r>
              <a:rPr lang="en-US" sz="1600" dirty="0" err="1">
                <a:latin typeface="Fira Code" pitchFamily="49" charset="0"/>
                <a:ea typeface="Fira Code" pitchFamily="49" charset="0"/>
                <a:cs typeface="Fira Code" pitchFamily="49" charset="0"/>
              </a:rPr>
              <a:t>df</a:t>
            </a:r>
            <a:r>
              <a:rPr lang="en-US" sz="1600" dirty="0">
                <a:latin typeface="Fira Code" pitchFamily="49" charset="0"/>
                <a:ea typeface="Fira Code" pitchFamily="49" charset="0"/>
                <a:cs typeface="Fira Code" pitchFamily="49" charset="0"/>
              </a:rPr>
              <a:t> |&gt;</a:t>
            </a:r>
          </a:p>
          <a:p>
            <a:pPr marL="0" indent="0">
              <a:buNone/>
            </a:pPr>
            <a:r>
              <a:rPr lang="en-US" sz="1600" dirty="0">
                <a:latin typeface="Fira Code" pitchFamily="49" charset="0"/>
                <a:ea typeface="Fira Code" pitchFamily="49" charset="0"/>
                <a:cs typeface="Fira Code" pitchFamily="49" charset="0"/>
              </a:rPr>
              <a:t>  insist(</a:t>
            </a:r>
            <a:r>
              <a:rPr lang="en-US" sz="1600" dirty="0" err="1">
                <a:latin typeface="Fira Code" pitchFamily="49" charset="0"/>
                <a:ea typeface="Fira Code" pitchFamily="49" charset="0"/>
                <a:cs typeface="Fira Code" pitchFamily="49" charset="0"/>
              </a:rPr>
              <a:t>within_n_sds</a:t>
            </a:r>
            <a:r>
              <a:rPr lang="en-US" sz="1600" dirty="0">
                <a:latin typeface="Fira Code" pitchFamily="49" charset="0"/>
                <a:ea typeface="Fira Code" pitchFamily="49" charset="0"/>
                <a:cs typeface="Fira Code" pitchFamily="49" charset="0"/>
              </a:rPr>
              <a:t>(</a:t>
            </a:r>
            <a:r>
              <a:rPr lang="en-US" sz="1600" dirty="0">
                <a:solidFill>
                  <a:srgbClr val="0070C0"/>
                </a:solidFill>
                <a:latin typeface="Fira Code" pitchFamily="49" charset="0"/>
                <a:ea typeface="Fira Code" pitchFamily="49" charset="0"/>
                <a:cs typeface="Fira Code" pitchFamily="49" charset="0"/>
              </a:rPr>
              <a:t>1</a:t>
            </a:r>
            <a:r>
              <a:rPr lang="en-US" sz="1600" dirty="0">
                <a:latin typeface="Fira Code" pitchFamily="49" charset="0"/>
                <a:ea typeface="Fira Code" pitchFamily="49" charset="0"/>
                <a:cs typeface="Fira Code" pitchFamily="49" charset="0"/>
              </a:rPr>
              <a:t>), y)</a:t>
            </a:r>
          </a:p>
          <a:p>
            <a:pPr marL="0" indent="0">
              <a:buNone/>
            </a:pPr>
            <a:r>
              <a:rPr lang="en-US" sz="1600" dirty="0">
                <a:solidFill>
                  <a:schemeClr val="tx1">
                    <a:lumMod val="65000"/>
                    <a:lumOff val="35000"/>
                  </a:schemeClr>
                </a:solidFill>
                <a:latin typeface="Fira Code" pitchFamily="49" charset="0"/>
                <a:ea typeface="Fira Code" pitchFamily="49" charset="0"/>
                <a:cs typeface="Fira Code" pitchFamily="49" charset="0"/>
              </a:rPr>
              <a:t>#&gt; Column 'y' violates assertion '</a:t>
            </a:r>
            <a:r>
              <a:rPr lang="en-US" sz="1600" dirty="0" err="1">
                <a:solidFill>
                  <a:schemeClr val="tx1">
                    <a:lumMod val="65000"/>
                    <a:lumOff val="35000"/>
                  </a:schemeClr>
                </a:solidFill>
                <a:latin typeface="Fira Code" pitchFamily="49" charset="0"/>
                <a:ea typeface="Fira Code" pitchFamily="49" charset="0"/>
                <a:cs typeface="Fira Code" pitchFamily="49" charset="0"/>
              </a:rPr>
              <a:t>within_n_sds</a:t>
            </a:r>
            <a:r>
              <a:rPr lang="en-US" sz="1600" dirty="0">
                <a:solidFill>
                  <a:schemeClr val="tx1">
                    <a:lumMod val="65000"/>
                    <a:lumOff val="35000"/>
                  </a:schemeClr>
                </a:solidFill>
                <a:latin typeface="Fira Code" pitchFamily="49" charset="0"/>
                <a:ea typeface="Fira Code" pitchFamily="49" charset="0"/>
                <a:cs typeface="Fira Code" pitchFamily="49" charset="0"/>
              </a:rPr>
              <a:t>(1)' 4 times</a:t>
            </a:r>
          </a:p>
          <a:p>
            <a:pPr marL="0" indent="0">
              <a:buNone/>
            </a:pPr>
            <a:r>
              <a:rPr lang="en-US" sz="1600" dirty="0">
                <a:solidFill>
                  <a:schemeClr val="tx1">
                    <a:lumMod val="65000"/>
                    <a:lumOff val="35000"/>
                  </a:schemeClr>
                </a:solidFill>
                <a:latin typeface="Fira Code" pitchFamily="49" charset="0"/>
                <a:ea typeface="Fira Code" pitchFamily="49" charset="0"/>
                <a:cs typeface="Fira Code" pitchFamily="49" charset="0"/>
              </a:rPr>
              <a:t>#&gt;     verb </a:t>
            </a:r>
            <a:r>
              <a:rPr lang="en-US" sz="1600" dirty="0" err="1">
                <a:solidFill>
                  <a:schemeClr val="tx1">
                    <a:lumMod val="65000"/>
                    <a:lumOff val="35000"/>
                  </a:schemeClr>
                </a:solidFill>
                <a:latin typeface="Fira Code" pitchFamily="49" charset="0"/>
                <a:ea typeface="Fira Code" pitchFamily="49" charset="0"/>
                <a:cs typeface="Fira Code" pitchFamily="49" charset="0"/>
              </a:rPr>
              <a:t>redux_fn</a:t>
            </a:r>
            <a:r>
              <a:rPr lang="en-US" sz="1600" dirty="0">
                <a:solidFill>
                  <a:schemeClr val="tx1">
                    <a:lumMod val="65000"/>
                    <a:lumOff val="35000"/>
                  </a:schemeClr>
                </a:solidFill>
                <a:latin typeface="Fira Code" pitchFamily="49" charset="0"/>
                <a:ea typeface="Fira Code" pitchFamily="49" charset="0"/>
                <a:cs typeface="Fira Code" pitchFamily="49" charset="0"/>
              </a:rPr>
              <a:t>       predicate column index     value</a:t>
            </a:r>
          </a:p>
          <a:p>
            <a:pPr marL="0" indent="0">
              <a:buNone/>
            </a:pPr>
            <a:r>
              <a:rPr lang="en-US" sz="1600" dirty="0">
                <a:solidFill>
                  <a:schemeClr val="tx1">
                    <a:lumMod val="65000"/>
                    <a:lumOff val="35000"/>
                  </a:schemeClr>
                </a:solidFill>
                <a:latin typeface="Fira Code" pitchFamily="49" charset="0"/>
                <a:ea typeface="Fira Code" pitchFamily="49" charset="0"/>
                <a:cs typeface="Fira Code" pitchFamily="49" charset="0"/>
              </a:rPr>
              <a:t>#&gt; 1 insist       NA </a:t>
            </a:r>
            <a:r>
              <a:rPr lang="en-US" sz="1600" dirty="0" err="1">
                <a:solidFill>
                  <a:schemeClr val="tx1">
                    <a:lumMod val="65000"/>
                    <a:lumOff val="35000"/>
                  </a:schemeClr>
                </a:solidFill>
                <a:latin typeface="Fira Code" pitchFamily="49" charset="0"/>
                <a:ea typeface="Fira Code" pitchFamily="49" charset="0"/>
                <a:cs typeface="Fira Code" pitchFamily="49" charset="0"/>
              </a:rPr>
              <a:t>within_n_sds</a:t>
            </a:r>
            <a:r>
              <a:rPr lang="en-US" sz="1600" dirty="0">
                <a:solidFill>
                  <a:schemeClr val="tx1">
                    <a:lumMod val="65000"/>
                    <a:lumOff val="35000"/>
                  </a:schemeClr>
                </a:solidFill>
                <a:latin typeface="Fira Code" pitchFamily="49" charset="0"/>
                <a:ea typeface="Fira Code" pitchFamily="49" charset="0"/>
                <a:cs typeface="Fira Code" pitchFamily="49" charset="0"/>
              </a:rPr>
              <a:t>(1)      y     2  1.554896</a:t>
            </a:r>
          </a:p>
          <a:p>
            <a:pPr marL="0" indent="0">
              <a:buNone/>
            </a:pPr>
            <a:r>
              <a:rPr lang="en-US" sz="1600" dirty="0">
                <a:solidFill>
                  <a:schemeClr val="tx1">
                    <a:lumMod val="65000"/>
                    <a:lumOff val="35000"/>
                  </a:schemeClr>
                </a:solidFill>
                <a:latin typeface="Fira Code" pitchFamily="49" charset="0"/>
                <a:ea typeface="Fira Code" pitchFamily="49" charset="0"/>
                <a:cs typeface="Fira Code" pitchFamily="49" charset="0"/>
              </a:rPr>
              <a:t>#&gt; 2 insist       NA </a:t>
            </a:r>
            <a:r>
              <a:rPr lang="en-US" sz="1600" dirty="0" err="1">
                <a:solidFill>
                  <a:schemeClr val="tx1">
                    <a:lumMod val="65000"/>
                    <a:lumOff val="35000"/>
                  </a:schemeClr>
                </a:solidFill>
                <a:latin typeface="Fira Code" pitchFamily="49" charset="0"/>
                <a:ea typeface="Fira Code" pitchFamily="49" charset="0"/>
                <a:cs typeface="Fira Code" pitchFamily="49" charset="0"/>
              </a:rPr>
              <a:t>within_n_sds</a:t>
            </a:r>
            <a:r>
              <a:rPr lang="en-US" sz="1600" dirty="0">
                <a:solidFill>
                  <a:schemeClr val="tx1">
                    <a:lumMod val="65000"/>
                    <a:lumOff val="35000"/>
                  </a:schemeClr>
                </a:solidFill>
                <a:latin typeface="Fira Code" pitchFamily="49" charset="0"/>
                <a:ea typeface="Fira Code" pitchFamily="49" charset="0"/>
                <a:cs typeface="Fira Code" pitchFamily="49" charset="0"/>
              </a:rPr>
              <a:t>(1)      y     3 -1.187641</a:t>
            </a:r>
          </a:p>
          <a:p>
            <a:pPr marL="0" indent="0">
              <a:buNone/>
            </a:pPr>
            <a:r>
              <a:rPr lang="en-US" sz="1600" dirty="0">
                <a:solidFill>
                  <a:schemeClr val="tx1">
                    <a:lumMod val="65000"/>
                    <a:lumOff val="35000"/>
                  </a:schemeClr>
                </a:solidFill>
                <a:latin typeface="Fira Code" pitchFamily="49" charset="0"/>
                <a:ea typeface="Fira Code" pitchFamily="49" charset="0"/>
                <a:cs typeface="Fira Code" pitchFamily="49" charset="0"/>
              </a:rPr>
              <a:t>#&gt; 3 insist       NA </a:t>
            </a:r>
            <a:r>
              <a:rPr lang="en-US" sz="1600" dirty="0" err="1">
                <a:solidFill>
                  <a:schemeClr val="tx1">
                    <a:lumMod val="65000"/>
                    <a:lumOff val="35000"/>
                  </a:schemeClr>
                </a:solidFill>
                <a:latin typeface="Fira Code" pitchFamily="49" charset="0"/>
                <a:ea typeface="Fira Code" pitchFamily="49" charset="0"/>
                <a:cs typeface="Fira Code" pitchFamily="49" charset="0"/>
              </a:rPr>
              <a:t>within_n_sds</a:t>
            </a:r>
            <a:r>
              <a:rPr lang="en-US" sz="1600" dirty="0">
                <a:solidFill>
                  <a:schemeClr val="tx1">
                    <a:lumMod val="65000"/>
                    <a:lumOff val="35000"/>
                  </a:schemeClr>
                </a:solidFill>
                <a:latin typeface="Fira Code" pitchFamily="49" charset="0"/>
                <a:ea typeface="Fira Code" pitchFamily="49" charset="0"/>
                <a:cs typeface="Fira Code" pitchFamily="49" charset="0"/>
              </a:rPr>
              <a:t>(1)      y     5 -1.086133</a:t>
            </a:r>
          </a:p>
          <a:p>
            <a:pPr marL="0" indent="0">
              <a:buNone/>
            </a:pPr>
            <a:r>
              <a:rPr lang="en-US" sz="1600" dirty="0">
                <a:solidFill>
                  <a:schemeClr val="tx1">
                    <a:lumMod val="65000"/>
                    <a:lumOff val="35000"/>
                  </a:schemeClr>
                </a:solidFill>
                <a:latin typeface="Fira Code" pitchFamily="49" charset="0"/>
                <a:ea typeface="Fira Code" pitchFamily="49" charset="0"/>
                <a:cs typeface="Fira Code" pitchFamily="49" charset="0"/>
              </a:rPr>
              <a:t>#&gt; 4 insist       NA </a:t>
            </a:r>
            <a:r>
              <a:rPr lang="en-US" sz="1600" dirty="0" err="1">
                <a:solidFill>
                  <a:schemeClr val="tx1">
                    <a:lumMod val="65000"/>
                    <a:lumOff val="35000"/>
                  </a:schemeClr>
                </a:solidFill>
                <a:latin typeface="Fira Code" pitchFamily="49" charset="0"/>
                <a:ea typeface="Fira Code" pitchFamily="49" charset="0"/>
                <a:cs typeface="Fira Code" pitchFamily="49" charset="0"/>
              </a:rPr>
              <a:t>within_n_sds</a:t>
            </a:r>
            <a:r>
              <a:rPr lang="en-US" sz="1600" dirty="0">
                <a:solidFill>
                  <a:schemeClr val="tx1">
                    <a:lumMod val="65000"/>
                    <a:lumOff val="35000"/>
                  </a:schemeClr>
                </a:solidFill>
                <a:latin typeface="Fira Code" pitchFamily="49" charset="0"/>
                <a:ea typeface="Fira Code" pitchFamily="49" charset="0"/>
                <a:cs typeface="Fira Code" pitchFamily="49" charset="0"/>
              </a:rPr>
              <a:t>(1)      y     6  1.613373</a:t>
            </a:r>
          </a:p>
          <a:p>
            <a:pPr marL="0" indent="0">
              <a:buNone/>
            </a:pPr>
            <a:r>
              <a:rPr lang="en-US" sz="1600" dirty="0">
                <a:solidFill>
                  <a:srgbClr val="C00000"/>
                </a:solidFill>
                <a:latin typeface="Fira Code" pitchFamily="49" charset="0"/>
                <a:ea typeface="Fira Code" pitchFamily="49" charset="0"/>
                <a:cs typeface="Fira Code" pitchFamily="49" charset="0"/>
              </a:rPr>
              <a:t>#&gt; Error: </a:t>
            </a:r>
            <a:r>
              <a:rPr lang="en-US" sz="1600" dirty="0" err="1">
                <a:solidFill>
                  <a:srgbClr val="C00000"/>
                </a:solidFill>
                <a:latin typeface="Fira Code" pitchFamily="49" charset="0"/>
                <a:ea typeface="Fira Code" pitchFamily="49" charset="0"/>
                <a:cs typeface="Fira Code" pitchFamily="49" charset="0"/>
              </a:rPr>
              <a:t>assertr</a:t>
            </a:r>
            <a:r>
              <a:rPr lang="en-US" sz="1600" dirty="0">
                <a:solidFill>
                  <a:srgbClr val="C00000"/>
                </a:solidFill>
                <a:latin typeface="Fira Code" pitchFamily="49" charset="0"/>
                <a:ea typeface="Fira Code" pitchFamily="49" charset="0"/>
                <a:cs typeface="Fira Code" pitchFamily="49" charset="0"/>
              </a:rPr>
              <a:t> stopped execution</a:t>
            </a:r>
          </a:p>
        </p:txBody>
      </p:sp>
    </p:spTree>
    <p:extLst>
      <p:ext uri="{BB962C8B-B14F-4D97-AF65-F5344CB8AC3E}">
        <p14:creationId xmlns:p14="http://schemas.microsoft.com/office/powerpoint/2010/main" val="1643175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58EEF-872A-92F9-0C4F-75A0519A9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7ABA66-1E8C-9FFB-226B-9525AD5492CD}"/>
              </a:ext>
            </a:extLst>
          </p:cNvPr>
          <p:cNvSpPr>
            <a:spLocks noGrp="1"/>
          </p:cNvSpPr>
          <p:nvPr>
            <p:ph type="title"/>
          </p:nvPr>
        </p:nvSpPr>
        <p:spPr/>
        <p:txBody>
          <a:bodyPr/>
          <a:lstStyle/>
          <a:p>
            <a:r>
              <a:rPr lang="ru-RU" dirty="0"/>
              <a:t>Встроенные предикаты</a:t>
            </a:r>
            <a:endParaRPr lang="en-US" dirty="0"/>
          </a:p>
        </p:txBody>
      </p:sp>
      <p:sp>
        <p:nvSpPr>
          <p:cNvPr id="3" name="Content Placeholder 2">
            <a:extLst>
              <a:ext uri="{FF2B5EF4-FFF2-40B4-BE49-F238E27FC236}">
                <a16:creationId xmlns:a16="http://schemas.microsoft.com/office/drawing/2014/main" id="{8EE83F5C-1CCC-8E2B-17AE-47CF607E9077}"/>
              </a:ext>
            </a:extLst>
          </p:cNvPr>
          <p:cNvSpPr>
            <a:spLocks noGrp="1"/>
          </p:cNvSpPr>
          <p:nvPr>
            <p:ph idx="1"/>
          </p:nvPr>
        </p:nvSpPr>
        <p:spPr>
          <a:xfrm>
            <a:off x="838200" y="1690688"/>
            <a:ext cx="9798934" cy="4351338"/>
          </a:xfrm>
        </p:spPr>
        <p:txBody>
          <a:bodyPr>
            <a:noAutofit/>
          </a:bodyPr>
          <a:lstStyle/>
          <a:p>
            <a:pPr marL="0" indent="0">
              <a:buNone/>
            </a:pPr>
            <a:r>
              <a:rPr lang="en-US" sz="2000" dirty="0" err="1">
                <a:latin typeface="Fira Code" pitchFamily="49" charset="0"/>
                <a:ea typeface="Fira Code" pitchFamily="49" charset="0"/>
                <a:cs typeface="Fira Code" pitchFamily="49" charset="0"/>
              </a:rPr>
              <a:t>within_bounds</a:t>
            </a:r>
            <a:r>
              <a:rPr lang="en-US" sz="2000" dirty="0">
                <a:latin typeface="Fira Code" pitchFamily="49" charset="0"/>
                <a:ea typeface="Fira Code" pitchFamily="49" charset="0"/>
                <a:cs typeface="Fira Code" pitchFamily="49" charset="0"/>
              </a:rPr>
              <a:t>(</a:t>
            </a:r>
            <a:r>
              <a:rPr lang="en-US" sz="2000" dirty="0">
                <a:solidFill>
                  <a:srgbClr val="0070C0"/>
                </a:solidFill>
                <a:latin typeface="Fira Code" pitchFamily="49" charset="0"/>
                <a:ea typeface="Fira Code" pitchFamily="49" charset="0"/>
                <a:cs typeface="Fira Code" pitchFamily="49" charset="0"/>
              </a:rPr>
              <a:t>0</a:t>
            </a:r>
            <a:r>
              <a:rPr lang="en-US" sz="2000" dirty="0">
                <a:latin typeface="Fira Code" pitchFamily="49" charset="0"/>
                <a:ea typeface="Fira Code" pitchFamily="49" charset="0"/>
                <a:cs typeface="Fira Code" pitchFamily="49" charset="0"/>
              </a:rPr>
              <a:t>,</a:t>
            </a:r>
            <a:r>
              <a:rPr lang="en-US" sz="2000" dirty="0">
                <a:solidFill>
                  <a:srgbClr val="0070C0"/>
                </a:solidFill>
                <a:latin typeface="Fira Code" pitchFamily="49" charset="0"/>
                <a:ea typeface="Fira Code" pitchFamily="49" charset="0"/>
                <a:cs typeface="Fira Code" pitchFamily="49" charset="0"/>
              </a:rPr>
              <a:t>1</a:t>
            </a:r>
            <a:r>
              <a:rPr lang="en-US" sz="2000" dirty="0">
                <a:latin typeface="Fira Code" pitchFamily="49" charset="0"/>
                <a:ea typeface="Fira Code" pitchFamily="49" charset="0"/>
                <a:cs typeface="Fira Code" pitchFamily="49" charset="0"/>
              </a:rPr>
              <a:t>)</a:t>
            </a:r>
            <a:r>
              <a:rPr lang="ru-RU" sz="2000" dirty="0">
                <a:latin typeface="Fira Code" pitchFamily="49" charset="0"/>
                <a:ea typeface="Fira Code" pitchFamily="49" charset="0"/>
                <a:cs typeface="Fira Code" pitchFamily="49" charset="0"/>
              </a:rPr>
              <a:t>	</a:t>
            </a:r>
            <a:r>
              <a:rPr lang="en-US" sz="2000" dirty="0">
                <a:solidFill>
                  <a:srgbClr val="C00000"/>
                </a:solidFill>
                <a:latin typeface="Fira Code" pitchFamily="49" charset="0"/>
                <a:ea typeface="Fira Code" pitchFamily="49" charset="0"/>
                <a:cs typeface="Fira Code" pitchFamily="49" charset="0"/>
              </a:rPr>
              <a:t># </a:t>
            </a:r>
            <a:r>
              <a:rPr lang="ru-RU" sz="2000" dirty="0">
                <a:solidFill>
                  <a:srgbClr val="C00000"/>
                </a:solidFill>
                <a:latin typeface="Fira Code" pitchFamily="49" charset="0"/>
                <a:ea typeface="Fira Code" pitchFamily="49" charset="0"/>
                <a:cs typeface="Fira Code" pitchFamily="49" charset="0"/>
              </a:rPr>
              <a:t>в диапазоне от 0 до 1</a:t>
            </a:r>
          </a:p>
          <a:p>
            <a:pPr marL="0" indent="0">
              <a:buNone/>
            </a:pPr>
            <a:endParaRPr lang="en-US" sz="2000" dirty="0">
              <a:latin typeface="Fira Code" pitchFamily="49" charset="0"/>
              <a:ea typeface="Fira Code" pitchFamily="49" charset="0"/>
              <a:cs typeface="Fira Code" pitchFamily="49" charset="0"/>
            </a:endParaRPr>
          </a:p>
          <a:p>
            <a:pPr marL="0" indent="0">
              <a:buNone/>
            </a:pPr>
            <a:r>
              <a:rPr lang="en-US" sz="2000" dirty="0" err="1">
                <a:latin typeface="Fira Code" pitchFamily="49" charset="0"/>
                <a:ea typeface="Fira Code" pitchFamily="49" charset="0"/>
                <a:cs typeface="Fira Code" pitchFamily="49" charset="0"/>
              </a:rPr>
              <a:t>in_set</a:t>
            </a:r>
            <a:r>
              <a:rPr lang="en-US" sz="2000" dirty="0">
                <a:latin typeface="Fira Code" pitchFamily="49" charset="0"/>
                <a:ea typeface="Fira Code" pitchFamily="49" charset="0"/>
                <a:cs typeface="Fira Code" pitchFamily="49" charset="0"/>
              </a:rPr>
              <a:t>(</a:t>
            </a:r>
            <a:r>
              <a:rPr lang="en-US" sz="2000" dirty="0">
                <a:solidFill>
                  <a:schemeClr val="accent3"/>
                </a:solidFill>
                <a:latin typeface="Fira Code" pitchFamily="49" charset="0"/>
                <a:ea typeface="Fira Code" pitchFamily="49" charset="0"/>
                <a:cs typeface="Fira Code" pitchFamily="49" charset="0"/>
              </a:rPr>
              <a:t>"M"</a:t>
            </a:r>
            <a:r>
              <a:rPr lang="en-US" sz="2000" dirty="0">
                <a:latin typeface="Fira Code" pitchFamily="49" charset="0"/>
                <a:ea typeface="Fira Code" pitchFamily="49" charset="0"/>
                <a:cs typeface="Fira Code" pitchFamily="49" charset="0"/>
              </a:rPr>
              <a:t>,</a:t>
            </a:r>
            <a:r>
              <a:rPr lang="en-US" sz="2000" dirty="0">
                <a:solidFill>
                  <a:schemeClr val="accent3"/>
                </a:solidFill>
                <a:latin typeface="Fira Code" pitchFamily="49" charset="0"/>
                <a:ea typeface="Fira Code" pitchFamily="49" charset="0"/>
                <a:cs typeface="Fira Code" pitchFamily="49" charset="0"/>
              </a:rPr>
              <a:t>"F"</a:t>
            </a:r>
            <a:r>
              <a:rPr lang="en-US" sz="2000" dirty="0">
                <a:latin typeface="Fira Code" pitchFamily="49" charset="0"/>
                <a:ea typeface="Fira Code" pitchFamily="49" charset="0"/>
                <a:cs typeface="Fira Code" pitchFamily="49" charset="0"/>
              </a:rPr>
              <a:t>)		</a:t>
            </a:r>
            <a:r>
              <a:rPr lang="en-US" sz="2000" dirty="0">
                <a:solidFill>
                  <a:srgbClr val="C00000"/>
                </a:solidFill>
                <a:latin typeface="Fira Code" pitchFamily="49" charset="0"/>
                <a:ea typeface="Fira Code" pitchFamily="49" charset="0"/>
                <a:cs typeface="Fira Code" pitchFamily="49" charset="0"/>
              </a:rPr>
              <a:t># </a:t>
            </a:r>
            <a:r>
              <a:rPr lang="ru-RU" sz="2000" dirty="0">
                <a:solidFill>
                  <a:srgbClr val="C00000"/>
                </a:solidFill>
                <a:latin typeface="Fira Code" pitchFamily="49" charset="0"/>
                <a:ea typeface="Fira Code" pitchFamily="49" charset="0"/>
                <a:cs typeface="Fira Code" pitchFamily="49" charset="0"/>
              </a:rPr>
              <a:t>из множества </a:t>
            </a:r>
            <a:r>
              <a:rPr lang="en-US" sz="2000" dirty="0">
                <a:solidFill>
                  <a:srgbClr val="C00000"/>
                </a:solidFill>
                <a:latin typeface="Fira Code" pitchFamily="49" charset="0"/>
                <a:ea typeface="Fira Code" pitchFamily="49" charset="0"/>
                <a:cs typeface="Fira Code" pitchFamily="49" charset="0"/>
              </a:rPr>
              <a:t>M, F</a:t>
            </a:r>
          </a:p>
          <a:p>
            <a:pPr marL="0" indent="0">
              <a:buNone/>
            </a:pPr>
            <a:endParaRPr lang="ru-RU" sz="2000" dirty="0">
              <a:latin typeface="Fira Code" pitchFamily="49" charset="0"/>
              <a:ea typeface="Fira Code" pitchFamily="49" charset="0"/>
              <a:cs typeface="Fira Code" pitchFamily="49" charset="0"/>
            </a:endParaRPr>
          </a:p>
          <a:p>
            <a:pPr marL="0" indent="0">
              <a:buNone/>
            </a:pPr>
            <a:r>
              <a:rPr lang="en-US" sz="2000" dirty="0" err="1">
                <a:latin typeface="Fira Code" pitchFamily="49" charset="0"/>
                <a:ea typeface="Fira Code" pitchFamily="49" charset="0"/>
                <a:cs typeface="Fira Code" pitchFamily="49" charset="0"/>
              </a:rPr>
              <a:t>within_n_sds</a:t>
            </a:r>
            <a:r>
              <a:rPr lang="en-US" sz="2000" dirty="0">
                <a:latin typeface="Fira Code" pitchFamily="49" charset="0"/>
                <a:ea typeface="Fira Code" pitchFamily="49" charset="0"/>
                <a:cs typeface="Fira Code" pitchFamily="49" charset="0"/>
              </a:rPr>
              <a:t>(</a:t>
            </a:r>
            <a:r>
              <a:rPr lang="en-US" sz="2000" dirty="0">
                <a:solidFill>
                  <a:srgbClr val="0070C0"/>
                </a:solidFill>
                <a:latin typeface="Fira Code" pitchFamily="49" charset="0"/>
                <a:ea typeface="Fira Code" pitchFamily="49" charset="0"/>
                <a:cs typeface="Fira Code" pitchFamily="49" charset="0"/>
              </a:rPr>
              <a:t>5</a:t>
            </a:r>
            <a:r>
              <a:rPr lang="en-US" sz="2000" dirty="0">
                <a:latin typeface="Fira Code" pitchFamily="49" charset="0"/>
                <a:ea typeface="Fira Code" pitchFamily="49" charset="0"/>
                <a:cs typeface="Fira Code" pitchFamily="49" charset="0"/>
              </a:rPr>
              <a:t>)		</a:t>
            </a:r>
            <a:r>
              <a:rPr lang="en-US" sz="2000" dirty="0">
                <a:solidFill>
                  <a:srgbClr val="C00000"/>
                </a:solidFill>
                <a:latin typeface="Fira Code" pitchFamily="49" charset="0"/>
                <a:ea typeface="Fira Code" pitchFamily="49" charset="0"/>
                <a:cs typeface="Fira Code" pitchFamily="49" charset="0"/>
              </a:rPr>
              <a:t># ± n SD</a:t>
            </a:r>
          </a:p>
          <a:p>
            <a:pPr marL="0" indent="0">
              <a:buNone/>
            </a:pPr>
            <a:endParaRPr lang="ru-RU" sz="2000" dirty="0">
              <a:latin typeface="Fira Code" pitchFamily="49" charset="0"/>
              <a:ea typeface="Fira Code" pitchFamily="49" charset="0"/>
              <a:cs typeface="Fira Code" pitchFamily="49" charset="0"/>
            </a:endParaRPr>
          </a:p>
          <a:p>
            <a:pPr marL="0" indent="0">
              <a:buNone/>
            </a:pPr>
            <a:r>
              <a:rPr lang="en-US" sz="2000" dirty="0" err="1">
                <a:latin typeface="Fira Code" pitchFamily="49" charset="0"/>
                <a:ea typeface="Fira Code" pitchFamily="49" charset="0"/>
                <a:cs typeface="Fira Code" pitchFamily="49" charset="0"/>
              </a:rPr>
              <a:t>within_n_mads</a:t>
            </a:r>
            <a:r>
              <a:rPr lang="en-US" sz="2000" dirty="0">
                <a:latin typeface="Fira Code" pitchFamily="49" charset="0"/>
                <a:ea typeface="Fira Code" pitchFamily="49" charset="0"/>
                <a:cs typeface="Fira Code" pitchFamily="49" charset="0"/>
              </a:rPr>
              <a:t>(</a:t>
            </a:r>
            <a:r>
              <a:rPr lang="en-US" sz="2000" dirty="0">
                <a:solidFill>
                  <a:srgbClr val="0070C0"/>
                </a:solidFill>
                <a:latin typeface="Fira Code" pitchFamily="49" charset="0"/>
                <a:ea typeface="Fira Code" pitchFamily="49" charset="0"/>
                <a:cs typeface="Fira Code" pitchFamily="49" charset="0"/>
              </a:rPr>
              <a:t>5</a:t>
            </a:r>
            <a:r>
              <a:rPr lang="en-US" sz="2000" dirty="0">
                <a:latin typeface="Fira Code" pitchFamily="49" charset="0"/>
                <a:ea typeface="Fira Code" pitchFamily="49" charset="0"/>
                <a:cs typeface="Fira Code" pitchFamily="49" charset="0"/>
              </a:rPr>
              <a:t>)		</a:t>
            </a:r>
            <a:r>
              <a:rPr lang="en-US" sz="2000" dirty="0">
                <a:solidFill>
                  <a:srgbClr val="C00000"/>
                </a:solidFill>
                <a:latin typeface="Fira Code" pitchFamily="49" charset="0"/>
                <a:ea typeface="Fira Code" pitchFamily="49" charset="0"/>
                <a:cs typeface="Fira Code" pitchFamily="49" charset="0"/>
              </a:rPr>
              <a:t># ± n MAD</a:t>
            </a:r>
          </a:p>
          <a:p>
            <a:pPr marL="0" indent="0">
              <a:buNone/>
            </a:pPr>
            <a:endParaRPr lang="en-US" sz="2000" dirty="0">
              <a:latin typeface="Fira Code" pitchFamily="49" charset="0"/>
              <a:ea typeface="Fira Code" pitchFamily="49" charset="0"/>
              <a:cs typeface="Fira Code" pitchFamily="49" charset="0"/>
            </a:endParaRPr>
          </a:p>
          <a:p>
            <a:pPr marL="0" indent="0">
              <a:buNone/>
            </a:pPr>
            <a:r>
              <a:rPr lang="en-US" sz="2000" dirty="0">
                <a:solidFill>
                  <a:srgbClr val="C00000"/>
                </a:solidFill>
                <a:latin typeface="Fira Code" pitchFamily="49" charset="0"/>
                <a:ea typeface="Fira Code" pitchFamily="49" charset="0"/>
                <a:cs typeface="Fira Code" pitchFamily="49" charset="0"/>
              </a:rPr>
              <a:t>#</a:t>
            </a:r>
            <a:r>
              <a:rPr lang="ru-RU" sz="2000" dirty="0">
                <a:solidFill>
                  <a:srgbClr val="C00000"/>
                </a:solidFill>
                <a:latin typeface="Fira Code" pitchFamily="49" charset="0"/>
                <a:ea typeface="Fira Code" pitchFamily="49" charset="0"/>
                <a:cs typeface="Fira Code" pitchFamily="49" charset="0"/>
              </a:rPr>
              <a:t> Функция возвращая</a:t>
            </a:r>
            <a:r>
              <a:rPr lang="en-US" sz="2000" dirty="0">
                <a:solidFill>
                  <a:srgbClr val="C00000"/>
                </a:solidFill>
                <a:latin typeface="Fira Code" pitchFamily="49" charset="0"/>
                <a:ea typeface="Fira Code" pitchFamily="49" charset="0"/>
                <a:cs typeface="Fira Code" pitchFamily="49" charset="0"/>
              </a:rPr>
              <a:t> FALSE </a:t>
            </a:r>
            <a:r>
              <a:rPr lang="ru-RU" sz="2000" dirty="0">
                <a:solidFill>
                  <a:srgbClr val="C00000"/>
                </a:solidFill>
                <a:latin typeface="Fira Code" pitchFamily="49" charset="0"/>
                <a:ea typeface="Fira Code" pitchFamily="49" charset="0"/>
                <a:cs typeface="Fira Code" pitchFamily="49" charset="0"/>
              </a:rPr>
              <a:t>если условие не выполняется</a:t>
            </a:r>
            <a:endParaRPr lang="en-US" sz="2000" dirty="0">
              <a:solidFill>
                <a:srgbClr val="C00000"/>
              </a:solidFill>
              <a:latin typeface="Fira Code" pitchFamily="49" charset="0"/>
              <a:ea typeface="Fira Code" pitchFamily="49" charset="0"/>
              <a:cs typeface="Fira Code" pitchFamily="49" charset="0"/>
            </a:endParaRPr>
          </a:p>
          <a:p>
            <a:pPr marL="0" indent="0">
              <a:buNone/>
            </a:pPr>
            <a:r>
              <a:rPr lang="en-US" sz="2000" dirty="0" err="1">
                <a:latin typeface="Fira Code" pitchFamily="49" charset="0"/>
                <a:ea typeface="Fira Code" pitchFamily="49" charset="0"/>
                <a:cs typeface="Fira Code" pitchFamily="49" charset="0"/>
              </a:rPr>
              <a:t>is_div</a:t>
            </a:r>
            <a:r>
              <a:rPr lang="en-US" sz="2000" dirty="0">
                <a:latin typeface="Fira Code" pitchFamily="49" charset="0"/>
                <a:ea typeface="Fira Code" pitchFamily="49" charset="0"/>
                <a:cs typeface="Fira Code" pitchFamily="49" charset="0"/>
              </a:rPr>
              <a:t> &lt;- </a:t>
            </a:r>
            <a:r>
              <a:rPr lang="en-US" sz="2000" dirty="0">
                <a:solidFill>
                  <a:srgbClr val="0070C0"/>
                </a:solidFill>
                <a:latin typeface="Fira Code" pitchFamily="49" charset="0"/>
                <a:ea typeface="Fira Code" pitchFamily="49" charset="0"/>
                <a:cs typeface="Fira Code" pitchFamily="49" charset="0"/>
              </a:rPr>
              <a:t>function</a:t>
            </a:r>
            <a:r>
              <a:rPr lang="en-US" sz="2000" dirty="0">
                <a:latin typeface="Fira Code" pitchFamily="49" charset="0"/>
                <a:ea typeface="Fira Code" pitchFamily="49" charset="0"/>
                <a:cs typeface="Fira Code" pitchFamily="49" charset="0"/>
              </a:rPr>
              <a:t>(d) {</a:t>
            </a:r>
          </a:p>
          <a:p>
            <a:pPr marL="0" indent="0">
              <a:buNone/>
            </a:pPr>
            <a:r>
              <a:rPr lang="en-US" sz="2000" dirty="0">
                <a:latin typeface="Fira Code" pitchFamily="49" charset="0"/>
                <a:ea typeface="Fira Code" pitchFamily="49" charset="0"/>
                <a:cs typeface="Fira Code" pitchFamily="49" charset="0"/>
              </a:rPr>
              <a:t>    </a:t>
            </a:r>
            <a:r>
              <a:rPr lang="en-US" sz="2000" dirty="0">
                <a:solidFill>
                  <a:srgbClr val="0070C0"/>
                </a:solidFill>
                <a:latin typeface="Fira Code" pitchFamily="49" charset="0"/>
                <a:ea typeface="Fira Code" pitchFamily="49" charset="0"/>
                <a:cs typeface="Fira Code" pitchFamily="49" charset="0"/>
              </a:rPr>
              <a:t>function</a:t>
            </a:r>
            <a:r>
              <a:rPr lang="en-US" sz="2000" dirty="0">
                <a:latin typeface="Fira Code" pitchFamily="49" charset="0"/>
                <a:ea typeface="Fira Code" pitchFamily="49" charset="0"/>
                <a:cs typeface="Fira Code" pitchFamily="49" charset="0"/>
              </a:rPr>
              <a:t>(x) x %% d == </a:t>
            </a:r>
            <a:r>
              <a:rPr lang="en-US" sz="2000" dirty="0">
                <a:solidFill>
                  <a:srgbClr val="0070C0"/>
                </a:solidFill>
                <a:latin typeface="Fira Code" pitchFamily="49" charset="0"/>
                <a:ea typeface="Fira Code" pitchFamily="49" charset="0"/>
                <a:cs typeface="Fira Code" pitchFamily="49" charset="0"/>
              </a:rPr>
              <a:t>0</a:t>
            </a:r>
          </a:p>
          <a:p>
            <a:pPr marL="0" indent="0">
              <a:buNone/>
            </a:pPr>
            <a:r>
              <a:rPr lang="en-US" sz="2000" dirty="0">
                <a:latin typeface="Fira Code" pitchFamily="49" charset="0"/>
                <a:ea typeface="Fira Code" pitchFamily="49" charset="0"/>
                <a:cs typeface="Fira Code" pitchFamily="49" charset="0"/>
              </a:rPr>
              <a:t>}</a:t>
            </a:r>
          </a:p>
        </p:txBody>
      </p:sp>
    </p:spTree>
    <p:extLst>
      <p:ext uri="{BB962C8B-B14F-4D97-AF65-F5344CB8AC3E}">
        <p14:creationId xmlns:p14="http://schemas.microsoft.com/office/powerpoint/2010/main" val="577311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98E78-8446-0DE2-F842-2263C23433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0A0E9-089D-6742-B62C-B18308A5A487}"/>
              </a:ext>
            </a:extLst>
          </p:cNvPr>
          <p:cNvSpPr>
            <a:spLocks noGrp="1"/>
          </p:cNvSpPr>
          <p:nvPr>
            <p:ph type="title"/>
          </p:nvPr>
        </p:nvSpPr>
        <p:spPr/>
        <p:txBody>
          <a:bodyPr/>
          <a:lstStyle/>
          <a:p>
            <a:r>
              <a:rPr lang="en-US" dirty="0" err="1"/>
              <a:t>assertr</a:t>
            </a:r>
            <a:endParaRPr lang="en-US" dirty="0"/>
          </a:p>
        </p:txBody>
      </p:sp>
      <p:sp>
        <p:nvSpPr>
          <p:cNvPr id="3" name="Content Placeholder 2">
            <a:extLst>
              <a:ext uri="{FF2B5EF4-FFF2-40B4-BE49-F238E27FC236}">
                <a16:creationId xmlns:a16="http://schemas.microsoft.com/office/drawing/2014/main" id="{B9387171-E8BF-BA63-7015-693EAABEE1F3}"/>
              </a:ext>
            </a:extLst>
          </p:cNvPr>
          <p:cNvSpPr>
            <a:spLocks noGrp="1"/>
          </p:cNvSpPr>
          <p:nvPr>
            <p:ph idx="1"/>
          </p:nvPr>
        </p:nvSpPr>
        <p:spPr>
          <a:xfrm>
            <a:off x="838200" y="1493918"/>
            <a:ext cx="10898529" cy="5184673"/>
          </a:xfrm>
        </p:spPr>
        <p:txBody>
          <a:bodyPr>
            <a:noAutofit/>
          </a:bodyPr>
          <a:lstStyle/>
          <a:p>
            <a:pPr marL="0" indent="0">
              <a:buNone/>
            </a:pPr>
            <a:r>
              <a:rPr lang="en-US" sz="1600" dirty="0">
                <a:solidFill>
                  <a:srgbClr val="0070C0"/>
                </a:solidFill>
                <a:latin typeface="Fira Code" pitchFamily="49" charset="0"/>
                <a:ea typeface="Fira Code" pitchFamily="49" charset="0"/>
                <a:cs typeface="Fira Code" pitchFamily="49" charset="0"/>
              </a:rPr>
              <a:t>library</a:t>
            </a:r>
            <a:r>
              <a:rPr lang="en-US" sz="1600" dirty="0">
                <a:latin typeface="Fira Code" pitchFamily="49" charset="0"/>
                <a:ea typeface="Fira Code" pitchFamily="49" charset="0"/>
                <a:cs typeface="Fira Code" pitchFamily="49" charset="0"/>
              </a:rPr>
              <a:t>(survival)</a:t>
            </a:r>
          </a:p>
          <a:p>
            <a:pPr marL="0" indent="0">
              <a:buNone/>
            </a:pPr>
            <a:endParaRPr lang="en-US" sz="1600" dirty="0">
              <a:latin typeface="Fira Code" pitchFamily="49" charset="0"/>
              <a:ea typeface="Fira Code" pitchFamily="49" charset="0"/>
              <a:cs typeface="Fira Code" pitchFamily="49" charset="0"/>
            </a:endParaRPr>
          </a:p>
          <a:p>
            <a:pPr marL="0" indent="0">
              <a:buNone/>
            </a:pPr>
            <a:r>
              <a:rPr lang="en-US" sz="1600" dirty="0" err="1">
                <a:latin typeface="Fira Code" pitchFamily="49" charset="0"/>
                <a:ea typeface="Fira Code" pitchFamily="49" charset="0"/>
                <a:cs typeface="Fira Code" pitchFamily="49" charset="0"/>
              </a:rPr>
              <a:t>fit_data</a:t>
            </a:r>
            <a:r>
              <a:rPr lang="en-US" sz="1600" dirty="0">
                <a:latin typeface="Fira Code" pitchFamily="49" charset="0"/>
                <a:ea typeface="Fira Code" pitchFamily="49" charset="0"/>
                <a:cs typeface="Fira Code" pitchFamily="49" charset="0"/>
              </a:rPr>
              <a:t> &lt;- </a:t>
            </a:r>
            <a:r>
              <a:rPr lang="en-US" sz="1600" dirty="0" err="1">
                <a:latin typeface="Fira Code" pitchFamily="49" charset="0"/>
                <a:ea typeface="Fira Code" pitchFamily="49" charset="0"/>
                <a:cs typeface="Fira Code" pitchFamily="49" charset="0"/>
              </a:rPr>
              <a:t>aml</a:t>
            </a:r>
            <a:r>
              <a:rPr lang="en-US" sz="1600" dirty="0">
                <a:latin typeface="Fira Code" pitchFamily="49" charset="0"/>
                <a:ea typeface="Fira Code" pitchFamily="49" charset="0"/>
                <a:cs typeface="Fira Code" pitchFamily="49" charset="0"/>
              </a:rPr>
              <a:t> |&gt;</a:t>
            </a:r>
          </a:p>
          <a:p>
            <a:pPr marL="0" indent="0">
              <a:buNone/>
            </a:pPr>
            <a:r>
              <a:rPr lang="en-US" sz="1600" dirty="0">
                <a:latin typeface="Fira Code" pitchFamily="49" charset="0"/>
                <a:ea typeface="Fira Code" pitchFamily="49" charset="0"/>
                <a:cs typeface="Fira Code" pitchFamily="49" charset="0"/>
              </a:rPr>
              <a:t>    verify(time &gt;= </a:t>
            </a:r>
            <a:r>
              <a:rPr lang="en-US" sz="1600" dirty="0">
                <a:solidFill>
                  <a:srgbClr val="0070C0"/>
                </a:solidFill>
                <a:latin typeface="Fira Code" pitchFamily="49" charset="0"/>
                <a:ea typeface="Fira Code" pitchFamily="49" charset="0"/>
                <a:cs typeface="Fira Code" pitchFamily="49" charset="0"/>
              </a:rPr>
              <a:t>0</a:t>
            </a:r>
            <a:r>
              <a:rPr lang="en-US" sz="1600" dirty="0">
                <a:latin typeface="Fira Code" pitchFamily="49" charset="0"/>
                <a:ea typeface="Fira Code" pitchFamily="49" charset="0"/>
                <a:cs typeface="Fira Code" pitchFamily="49" charset="0"/>
              </a:rPr>
              <a:t>) |&gt;</a:t>
            </a:r>
          </a:p>
          <a:p>
            <a:pPr marL="0" indent="0">
              <a:buNone/>
            </a:pPr>
            <a:r>
              <a:rPr lang="en-US" sz="1600" dirty="0">
                <a:latin typeface="Fira Code" pitchFamily="49" charset="0"/>
                <a:ea typeface="Fira Code" pitchFamily="49" charset="0"/>
                <a:cs typeface="Fira Code" pitchFamily="49" charset="0"/>
              </a:rPr>
              <a:t>    assert(</a:t>
            </a:r>
            <a:r>
              <a:rPr lang="en-US" sz="1600" dirty="0" err="1">
                <a:latin typeface="Fira Code" pitchFamily="49" charset="0"/>
                <a:ea typeface="Fira Code" pitchFamily="49" charset="0"/>
                <a:cs typeface="Fira Code" pitchFamily="49" charset="0"/>
              </a:rPr>
              <a:t>in_set</a:t>
            </a:r>
            <a:r>
              <a:rPr lang="en-US" sz="1600" dirty="0">
                <a:latin typeface="Fira Code" pitchFamily="49" charset="0"/>
                <a:ea typeface="Fira Code" pitchFamily="49" charset="0"/>
                <a:cs typeface="Fira Code" pitchFamily="49" charset="0"/>
              </a:rPr>
              <a:t>(</a:t>
            </a:r>
            <a:r>
              <a:rPr lang="en-US" sz="1600" dirty="0">
                <a:solidFill>
                  <a:srgbClr val="0070C0"/>
                </a:solidFill>
                <a:latin typeface="Fira Code" pitchFamily="49" charset="0"/>
                <a:ea typeface="Fira Code" pitchFamily="49" charset="0"/>
                <a:cs typeface="Fira Code" pitchFamily="49" charset="0"/>
              </a:rPr>
              <a:t>0</a:t>
            </a:r>
            <a:r>
              <a:rPr lang="en-US" sz="1600" dirty="0">
                <a:latin typeface="Fira Code" pitchFamily="49" charset="0"/>
                <a:ea typeface="Fira Code" pitchFamily="49" charset="0"/>
                <a:cs typeface="Fira Code" pitchFamily="49" charset="0"/>
              </a:rPr>
              <a:t>, </a:t>
            </a:r>
            <a:r>
              <a:rPr lang="en-US" sz="1600" dirty="0">
                <a:solidFill>
                  <a:srgbClr val="0070C0"/>
                </a:solidFill>
                <a:latin typeface="Fira Code" pitchFamily="49" charset="0"/>
                <a:ea typeface="Fira Code" pitchFamily="49" charset="0"/>
                <a:cs typeface="Fira Code" pitchFamily="49" charset="0"/>
              </a:rPr>
              <a:t>1</a:t>
            </a:r>
            <a:r>
              <a:rPr lang="en-US" sz="1600" dirty="0">
                <a:latin typeface="Fira Code" pitchFamily="49" charset="0"/>
                <a:ea typeface="Fira Code" pitchFamily="49" charset="0"/>
                <a:cs typeface="Fira Code" pitchFamily="49" charset="0"/>
              </a:rPr>
              <a:t>), status)</a:t>
            </a:r>
          </a:p>
          <a:p>
            <a:pPr marL="0" indent="0">
              <a:buNone/>
            </a:pPr>
            <a:endParaRPr lang="en-US" sz="1600" dirty="0">
              <a:latin typeface="Fira Code" pitchFamily="49" charset="0"/>
              <a:ea typeface="Fira Code" pitchFamily="49" charset="0"/>
              <a:cs typeface="Fira Code" pitchFamily="49" charset="0"/>
            </a:endParaRPr>
          </a:p>
          <a:p>
            <a:pPr marL="0" indent="0">
              <a:buNone/>
            </a:pPr>
            <a:r>
              <a:rPr lang="en-US" sz="1600" dirty="0">
                <a:latin typeface="Fira Code" pitchFamily="49" charset="0"/>
                <a:ea typeface="Fira Code" pitchFamily="49" charset="0"/>
                <a:cs typeface="Fira Code" pitchFamily="49" charset="0"/>
              </a:rPr>
              <a:t>fit &lt;- </a:t>
            </a:r>
            <a:r>
              <a:rPr lang="en-US" sz="1600" dirty="0" err="1">
                <a:latin typeface="Fira Code" pitchFamily="49" charset="0"/>
                <a:ea typeface="Fira Code" pitchFamily="49" charset="0"/>
                <a:cs typeface="Fira Code" pitchFamily="49" charset="0"/>
              </a:rPr>
              <a:t>survfit</a:t>
            </a:r>
            <a:r>
              <a:rPr lang="en-US" sz="1600" dirty="0">
                <a:latin typeface="Fira Code" pitchFamily="49" charset="0"/>
                <a:ea typeface="Fira Code" pitchFamily="49" charset="0"/>
                <a:cs typeface="Fira Code" pitchFamily="49" charset="0"/>
              </a:rPr>
              <a:t>(</a:t>
            </a:r>
            <a:r>
              <a:rPr lang="en-US" sz="1600" dirty="0" err="1">
                <a:latin typeface="Fira Code" pitchFamily="49" charset="0"/>
                <a:ea typeface="Fira Code" pitchFamily="49" charset="0"/>
                <a:cs typeface="Fira Code" pitchFamily="49" charset="0"/>
              </a:rPr>
              <a:t>Surv</a:t>
            </a:r>
            <a:r>
              <a:rPr lang="en-US" sz="1600" dirty="0">
                <a:latin typeface="Fira Code" pitchFamily="49" charset="0"/>
                <a:ea typeface="Fira Code" pitchFamily="49" charset="0"/>
                <a:cs typeface="Fira Code" pitchFamily="49" charset="0"/>
              </a:rPr>
              <a:t>(time, status) ~ </a:t>
            </a:r>
            <a:r>
              <a:rPr lang="en-US" sz="1600" dirty="0">
                <a:solidFill>
                  <a:srgbClr val="0070C0"/>
                </a:solidFill>
                <a:latin typeface="Fira Code" pitchFamily="49" charset="0"/>
                <a:ea typeface="Fira Code" pitchFamily="49" charset="0"/>
                <a:cs typeface="Fira Code" pitchFamily="49" charset="0"/>
              </a:rPr>
              <a:t>1</a:t>
            </a:r>
            <a:r>
              <a:rPr lang="en-US" sz="1600" dirty="0">
                <a:latin typeface="Fira Code" pitchFamily="49" charset="0"/>
                <a:ea typeface="Fira Code" pitchFamily="49" charset="0"/>
                <a:cs typeface="Fira Code" pitchFamily="49" charset="0"/>
              </a:rPr>
              <a:t>, </a:t>
            </a:r>
            <a:r>
              <a:rPr lang="en-US" sz="1600" dirty="0" err="1">
                <a:latin typeface="Fira Code" pitchFamily="49" charset="0"/>
                <a:ea typeface="Fira Code" pitchFamily="49" charset="0"/>
                <a:cs typeface="Fira Code" pitchFamily="49" charset="0"/>
              </a:rPr>
              <a:t>fit_data</a:t>
            </a:r>
            <a:r>
              <a:rPr lang="en-US" sz="1600" dirty="0">
                <a:latin typeface="Fira Code" pitchFamily="49" charset="0"/>
                <a:ea typeface="Fira Code" pitchFamily="49" charset="0"/>
                <a:cs typeface="Fira Code" pitchFamily="49" charset="0"/>
              </a:rPr>
              <a:t>)</a:t>
            </a:r>
          </a:p>
        </p:txBody>
      </p:sp>
    </p:spTree>
    <p:extLst>
      <p:ext uri="{BB962C8B-B14F-4D97-AF65-F5344CB8AC3E}">
        <p14:creationId xmlns:p14="http://schemas.microsoft.com/office/powerpoint/2010/main" val="9015381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05CDB-9C70-9BF1-CB5C-C71A2DE59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8A583-FF07-1DC7-603A-11C877783BC7}"/>
              </a:ext>
            </a:extLst>
          </p:cNvPr>
          <p:cNvSpPr>
            <a:spLocks noGrp="1"/>
          </p:cNvSpPr>
          <p:nvPr>
            <p:ph type="title"/>
          </p:nvPr>
        </p:nvSpPr>
        <p:spPr/>
        <p:txBody>
          <a:bodyPr/>
          <a:lstStyle/>
          <a:p>
            <a:r>
              <a:rPr lang="en-US" dirty="0" err="1"/>
              <a:t>reprex</a:t>
            </a:r>
            <a:r>
              <a:rPr lang="en-US" dirty="0"/>
              <a:t> (Reproducible Example)</a:t>
            </a:r>
          </a:p>
        </p:txBody>
      </p:sp>
      <p:sp>
        <p:nvSpPr>
          <p:cNvPr id="3" name="Content Placeholder 2">
            <a:extLst>
              <a:ext uri="{FF2B5EF4-FFF2-40B4-BE49-F238E27FC236}">
                <a16:creationId xmlns:a16="http://schemas.microsoft.com/office/drawing/2014/main" id="{06EB3FF0-3F52-E66C-2A66-AE4A982B367E}"/>
              </a:ext>
            </a:extLst>
          </p:cNvPr>
          <p:cNvSpPr>
            <a:spLocks noGrp="1"/>
          </p:cNvSpPr>
          <p:nvPr>
            <p:ph idx="1"/>
          </p:nvPr>
        </p:nvSpPr>
        <p:spPr>
          <a:xfrm>
            <a:off x="838200" y="1690687"/>
            <a:ext cx="10515600" cy="4802187"/>
          </a:xfrm>
        </p:spPr>
        <p:txBody>
          <a:bodyPr>
            <a:noAutofit/>
          </a:bodyPr>
          <a:lstStyle/>
          <a:p>
            <a:pPr marL="0" indent="0">
              <a:lnSpc>
                <a:spcPct val="100000"/>
              </a:lnSpc>
              <a:spcBef>
                <a:spcPts val="200"/>
              </a:spcBef>
              <a:buNone/>
            </a:pPr>
            <a:r>
              <a:rPr lang="en-US" sz="2000" dirty="0" err="1">
                <a:latin typeface="Fira Code" pitchFamily="49" charset="0"/>
                <a:ea typeface="Fira Code" pitchFamily="49" charset="0"/>
                <a:cs typeface="Fira Code" pitchFamily="49" charset="0"/>
              </a:rPr>
              <a:t>set.seed</a:t>
            </a:r>
            <a:r>
              <a:rPr lang="en-US" sz="2000" dirty="0">
                <a:latin typeface="Fira Code" pitchFamily="49" charset="0"/>
                <a:ea typeface="Fira Code" pitchFamily="49" charset="0"/>
                <a:cs typeface="Fira Code" pitchFamily="49" charset="0"/>
              </a:rPr>
              <a:t>(</a:t>
            </a:r>
            <a:r>
              <a:rPr lang="en-US" sz="2000" dirty="0">
                <a:solidFill>
                  <a:srgbClr val="0070C0"/>
                </a:solidFill>
                <a:latin typeface="Fira Code" pitchFamily="49" charset="0"/>
                <a:ea typeface="Fira Code" pitchFamily="49" charset="0"/>
                <a:cs typeface="Fira Code" pitchFamily="49" charset="0"/>
              </a:rPr>
              <a:t>42</a:t>
            </a:r>
            <a:r>
              <a:rPr lang="en-US" sz="2000" dirty="0">
                <a:latin typeface="Fira Code" pitchFamily="49" charset="0"/>
                <a:ea typeface="Fira Code" pitchFamily="49" charset="0"/>
                <a:cs typeface="Fira Code" pitchFamily="49" charset="0"/>
              </a:rPr>
              <a:t>)</a:t>
            </a:r>
            <a:r>
              <a:rPr lang="ru-RU" sz="2000" dirty="0">
                <a:latin typeface="Fira Code" pitchFamily="49" charset="0"/>
                <a:ea typeface="Fira Code" pitchFamily="49" charset="0"/>
                <a:cs typeface="Fira Code" pitchFamily="49" charset="0"/>
              </a:rPr>
              <a:t>      </a:t>
            </a:r>
            <a:r>
              <a:rPr lang="en-US" sz="2000" dirty="0">
                <a:latin typeface="Fira Code" pitchFamily="49" charset="0"/>
                <a:ea typeface="Fira Code" pitchFamily="49" charset="0"/>
                <a:cs typeface="Fira Code" pitchFamily="49" charset="0"/>
              </a:rPr>
              <a:t>	 		      </a:t>
            </a:r>
            <a:r>
              <a:rPr lang="en-US" sz="2000" dirty="0">
                <a:solidFill>
                  <a:srgbClr val="C00000"/>
                </a:solidFill>
                <a:latin typeface="Fira Code" pitchFamily="49" charset="0"/>
                <a:ea typeface="Fira Code" pitchFamily="49" charset="0"/>
                <a:cs typeface="Fira Code" pitchFamily="49" charset="0"/>
              </a:rPr>
              <a:t># </a:t>
            </a:r>
            <a:r>
              <a:rPr lang="ru-RU" sz="2000" dirty="0">
                <a:solidFill>
                  <a:srgbClr val="C00000"/>
                </a:solidFill>
                <a:latin typeface="Fira Code" pitchFamily="49" charset="0"/>
                <a:ea typeface="Fira Code" pitchFamily="49" charset="0"/>
                <a:cs typeface="Fira Code" pitchFamily="49" charset="0"/>
              </a:rPr>
              <a:t>Фиксируем ГСЧ</a:t>
            </a:r>
            <a:endParaRPr lang="en-US" sz="2000" dirty="0">
              <a:latin typeface="Fira Code" pitchFamily="49" charset="0"/>
              <a:ea typeface="Fira Code" pitchFamily="49" charset="0"/>
              <a:cs typeface="Fira Code" pitchFamily="49" charset="0"/>
            </a:endParaRPr>
          </a:p>
          <a:p>
            <a:pPr marL="0" indent="0">
              <a:lnSpc>
                <a:spcPct val="100000"/>
              </a:lnSpc>
              <a:spcBef>
                <a:spcPts val="200"/>
              </a:spcBef>
              <a:buNone/>
            </a:pPr>
            <a:r>
              <a:rPr lang="en-US" sz="2000" dirty="0">
                <a:latin typeface="Fira Code" pitchFamily="49" charset="0"/>
                <a:ea typeface="Fira Code" pitchFamily="49" charset="0"/>
                <a:cs typeface="Fira Code" pitchFamily="49" charset="0"/>
              </a:rPr>
              <a:t>x &lt;- </a:t>
            </a:r>
            <a:r>
              <a:rPr lang="en-US" sz="2000" dirty="0" err="1">
                <a:latin typeface="Fira Code" pitchFamily="49" charset="0"/>
                <a:ea typeface="Fira Code" pitchFamily="49" charset="0"/>
                <a:cs typeface="Fira Code" pitchFamily="49" charset="0"/>
              </a:rPr>
              <a:t>rnorm</a:t>
            </a:r>
            <a:r>
              <a:rPr lang="en-US" sz="2000" dirty="0">
                <a:latin typeface="Fira Code" pitchFamily="49" charset="0"/>
                <a:ea typeface="Fira Code" pitchFamily="49" charset="0"/>
                <a:cs typeface="Fira Code" pitchFamily="49" charset="0"/>
              </a:rPr>
              <a:t>(</a:t>
            </a:r>
            <a:r>
              <a:rPr lang="en-US" sz="2000" dirty="0">
                <a:solidFill>
                  <a:srgbClr val="0070C0"/>
                </a:solidFill>
                <a:latin typeface="Fira Code" pitchFamily="49" charset="0"/>
                <a:ea typeface="Fira Code" pitchFamily="49" charset="0"/>
                <a:cs typeface="Fira Code" pitchFamily="49" charset="0"/>
              </a:rPr>
              <a:t>100</a:t>
            </a:r>
            <a:r>
              <a:rPr lang="en-US" sz="2000" dirty="0">
                <a:latin typeface="Fira Code" pitchFamily="49" charset="0"/>
                <a:ea typeface="Fira Code" pitchFamily="49" charset="0"/>
                <a:cs typeface="Fira Code" pitchFamily="49" charset="0"/>
              </a:rPr>
              <a:t>) </a:t>
            </a:r>
            <a:r>
              <a:rPr lang="ru-RU" sz="2000" dirty="0">
                <a:latin typeface="Fira Code" pitchFamily="49" charset="0"/>
                <a:ea typeface="Fira Code" pitchFamily="49" charset="0"/>
                <a:cs typeface="Fira Code" pitchFamily="49" charset="0"/>
              </a:rPr>
              <a:t>  </a:t>
            </a:r>
            <a:r>
              <a:rPr lang="en-US" sz="2000" dirty="0">
                <a:latin typeface="Fira Code" pitchFamily="49" charset="0"/>
                <a:ea typeface="Fira Code" pitchFamily="49" charset="0"/>
                <a:cs typeface="Fira Code" pitchFamily="49" charset="0"/>
              </a:rPr>
              <a:t>	 		    </a:t>
            </a:r>
            <a:r>
              <a:rPr lang="ru-RU" sz="2000" dirty="0">
                <a:latin typeface="Fira Code" pitchFamily="49" charset="0"/>
                <a:ea typeface="Fira Code" pitchFamily="49" charset="0"/>
                <a:cs typeface="Fira Code" pitchFamily="49" charset="0"/>
              </a:rPr>
              <a:t> </a:t>
            </a:r>
            <a:r>
              <a:rPr lang="en-US" sz="2000" dirty="0">
                <a:latin typeface="Fira Code" pitchFamily="49" charset="0"/>
                <a:ea typeface="Fira Code" pitchFamily="49" charset="0"/>
                <a:cs typeface="Fira Code" pitchFamily="49" charset="0"/>
              </a:rPr>
              <a:t> </a:t>
            </a:r>
            <a:r>
              <a:rPr lang="en-US" sz="2000" dirty="0">
                <a:solidFill>
                  <a:srgbClr val="C00000"/>
                </a:solidFill>
                <a:latin typeface="Fira Code" pitchFamily="49" charset="0"/>
                <a:ea typeface="Fira Code" pitchFamily="49" charset="0"/>
                <a:cs typeface="Fira Code" pitchFamily="49" charset="0"/>
              </a:rPr>
              <a:t># </a:t>
            </a:r>
            <a:r>
              <a:rPr lang="ru-RU" sz="2000" dirty="0">
                <a:solidFill>
                  <a:srgbClr val="C00000"/>
                </a:solidFill>
                <a:latin typeface="Fira Code" pitchFamily="49" charset="0"/>
                <a:ea typeface="Fira Code" pitchFamily="49" charset="0"/>
                <a:cs typeface="Fira Code" pitchFamily="49" charset="0"/>
              </a:rPr>
              <a:t>Создаем нужную величину</a:t>
            </a:r>
            <a:endParaRPr lang="en-US" sz="2000" dirty="0">
              <a:solidFill>
                <a:srgbClr val="C00000"/>
              </a:solidFill>
              <a:latin typeface="Fira Code" pitchFamily="49" charset="0"/>
              <a:ea typeface="Fira Code" pitchFamily="49" charset="0"/>
              <a:cs typeface="Fira Code" pitchFamily="49" charset="0"/>
            </a:endParaRPr>
          </a:p>
          <a:p>
            <a:pPr marL="0" indent="0">
              <a:lnSpc>
                <a:spcPct val="100000"/>
              </a:lnSpc>
              <a:spcBef>
                <a:spcPts val="200"/>
              </a:spcBef>
              <a:buNone/>
            </a:pPr>
            <a:endParaRPr lang="en-US" sz="2000" dirty="0">
              <a:latin typeface="Fira Code" pitchFamily="49" charset="0"/>
              <a:ea typeface="Fira Code" pitchFamily="49" charset="0"/>
              <a:cs typeface="Fira Code" pitchFamily="49" charset="0"/>
            </a:endParaRPr>
          </a:p>
          <a:p>
            <a:pPr marL="0" indent="0">
              <a:lnSpc>
                <a:spcPct val="100000"/>
              </a:lnSpc>
              <a:spcBef>
                <a:spcPts val="200"/>
              </a:spcBef>
              <a:buNone/>
            </a:pPr>
            <a:r>
              <a:rPr lang="en-US" sz="2000" dirty="0" err="1">
                <a:latin typeface="Fira Code" pitchFamily="49" charset="0"/>
                <a:ea typeface="Fira Code" pitchFamily="49" charset="0"/>
                <a:cs typeface="Fira Code" pitchFamily="49" charset="0"/>
              </a:rPr>
              <a:t>df</a:t>
            </a:r>
            <a:r>
              <a:rPr lang="en-US" sz="2000" dirty="0">
                <a:latin typeface="Fira Code" pitchFamily="49" charset="0"/>
                <a:ea typeface="Fira Code" pitchFamily="49" charset="0"/>
                <a:cs typeface="Fira Code" pitchFamily="49" charset="0"/>
              </a:rPr>
              <a:t> &lt;- tribble(~ x, ~ y, </a:t>
            </a:r>
            <a:r>
              <a:rPr lang="ru-RU" sz="2000" dirty="0">
                <a:latin typeface="Fira Code" pitchFamily="49" charset="0"/>
                <a:ea typeface="Fira Code" pitchFamily="49" charset="0"/>
                <a:cs typeface="Fira Code" pitchFamily="49" charset="0"/>
              </a:rPr>
              <a:t> </a:t>
            </a:r>
            <a:r>
              <a:rPr lang="en-US" sz="2000" dirty="0">
                <a:latin typeface="Fira Code" pitchFamily="49" charset="0"/>
                <a:ea typeface="Fira Code" pitchFamily="49" charset="0"/>
                <a:cs typeface="Fira Code" pitchFamily="49" charset="0"/>
              </a:rPr>
              <a:t>		      </a:t>
            </a:r>
            <a:r>
              <a:rPr lang="en-US" sz="2000" dirty="0">
                <a:solidFill>
                  <a:srgbClr val="C00000"/>
                </a:solidFill>
                <a:latin typeface="Fira Code" pitchFamily="49" charset="0"/>
                <a:ea typeface="Fira Code" pitchFamily="49" charset="0"/>
                <a:cs typeface="Fira Code" pitchFamily="49" charset="0"/>
              </a:rPr>
              <a:t># </a:t>
            </a:r>
            <a:r>
              <a:rPr lang="ru-RU" sz="2000" dirty="0">
                <a:solidFill>
                  <a:srgbClr val="C00000"/>
                </a:solidFill>
                <a:latin typeface="Fira Code" pitchFamily="49" charset="0"/>
                <a:ea typeface="Fira Code" pitchFamily="49" charset="0"/>
                <a:cs typeface="Fira Code" pitchFamily="49" charset="0"/>
              </a:rPr>
              <a:t>или датасет</a:t>
            </a:r>
            <a:endParaRPr lang="en-US" sz="2000" dirty="0">
              <a:solidFill>
                <a:srgbClr val="C00000"/>
              </a:solidFill>
              <a:latin typeface="Fira Code" pitchFamily="49" charset="0"/>
              <a:ea typeface="Fira Code" pitchFamily="49" charset="0"/>
              <a:cs typeface="Fira Code" pitchFamily="49" charset="0"/>
            </a:endParaRPr>
          </a:p>
          <a:p>
            <a:pPr marL="0" indent="0">
              <a:lnSpc>
                <a:spcPct val="100000"/>
              </a:lnSpc>
              <a:spcBef>
                <a:spcPts val="200"/>
              </a:spcBef>
              <a:buNone/>
            </a:pPr>
            <a:r>
              <a:rPr lang="en-US" sz="2000" dirty="0">
                <a:latin typeface="Fira Code" pitchFamily="49" charset="0"/>
                <a:ea typeface="Fira Code" pitchFamily="49" charset="0"/>
                <a:cs typeface="Fira Code" pitchFamily="49" charset="0"/>
              </a:rPr>
              <a:t>              </a:t>
            </a:r>
            <a:r>
              <a:rPr lang="en-US" sz="2000" dirty="0">
                <a:solidFill>
                  <a:schemeClr val="accent3"/>
                </a:solidFill>
                <a:latin typeface="Fira Code" pitchFamily="49" charset="0"/>
                <a:ea typeface="Fira Code" pitchFamily="49" charset="0"/>
                <a:cs typeface="Fira Code" pitchFamily="49" charset="0"/>
              </a:rPr>
              <a:t>"M"</a:t>
            </a:r>
            <a:r>
              <a:rPr lang="en-US" sz="2000" dirty="0">
                <a:latin typeface="Fira Code" pitchFamily="49" charset="0"/>
                <a:ea typeface="Fira Code" pitchFamily="49" charset="0"/>
                <a:cs typeface="Fira Code" pitchFamily="49" charset="0"/>
              </a:rPr>
              <a:t>, </a:t>
            </a:r>
            <a:r>
              <a:rPr lang="en-US" sz="2000" dirty="0">
                <a:solidFill>
                  <a:srgbClr val="0070C0"/>
                </a:solidFill>
                <a:latin typeface="Fira Code" pitchFamily="49" charset="0"/>
                <a:ea typeface="Fira Code" pitchFamily="49" charset="0"/>
                <a:cs typeface="Fira Code" pitchFamily="49" charset="0"/>
              </a:rPr>
              <a:t>12.3</a:t>
            </a:r>
            <a:r>
              <a:rPr lang="en-US" sz="2000" dirty="0">
                <a:latin typeface="Fira Code" pitchFamily="49" charset="0"/>
                <a:ea typeface="Fira Code" pitchFamily="49" charset="0"/>
                <a:cs typeface="Fira Code" pitchFamily="49" charset="0"/>
              </a:rPr>
              <a:t>,</a:t>
            </a:r>
          </a:p>
          <a:p>
            <a:pPr marL="0" indent="0">
              <a:lnSpc>
                <a:spcPct val="100000"/>
              </a:lnSpc>
              <a:spcBef>
                <a:spcPts val="200"/>
              </a:spcBef>
              <a:buNone/>
            </a:pPr>
            <a:r>
              <a:rPr lang="en-US" sz="2000" dirty="0">
                <a:latin typeface="Fira Code" pitchFamily="49" charset="0"/>
                <a:ea typeface="Fira Code" pitchFamily="49" charset="0"/>
                <a:cs typeface="Fira Code" pitchFamily="49" charset="0"/>
              </a:rPr>
              <a:t>              </a:t>
            </a:r>
            <a:r>
              <a:rPr lang="en-US" sz="2000" dirty="0">
                <a:solidFill>
                  <a:schemeClr val="accent3"/>
                </a:solidFill>
                <a:latin typeface="Fira Code" pitchFamily="49" charset="0"/>
                <a:ea typeface="Fira Code" pitchFamily="49" charset="0"/>
                <a:cs typeface="Fira Code" pitchFamily="49" charset="0"/>
              </a:rPr>
              <a:t>"F"</a:t>
            </a:r>
            <a:r>
              <a:rPr lang="en-US" sz="2000" dirty="0">
                <a:latin typeface="Fira Code" pitchFamily="49" charset="0"/>
                <a:ea typeface="Fira Code" pitchFamily="49" charset="0"/>
                <a:cs typeface="Fira Code" pitchFamily="49" charset="0"/>
              </a:rPr>
              <a:t>, </a:t>
            </a:r>
            <a:r>
              <a:rPr lang="en-US" sz="2000" dirty="0">
                <a:solidFill>
                  <a:srgbClr val="0070C0"/>
                </a:solidFill>
                <a:latin typeface="Fira Code" pitchFamily="49" charset="0"/>
                <a:ea typeface="Fira Code" pitchFamily="49" charset="0"/>
                <a:cs typeface="Fira Code" pitchFamily="49" charset="0"/>
              </a:rPr>
              <a:t>45.6</a:t>
            </a:r>
            <a:r>
              <a:rPr lang="en-US" sz="2000" dirty="0">
                <a:latin typeface="Fira Code" pitchFamily="49" charset="0"/>
                <a:ea typeface="Fira Code" pitchFamily="49" charset="0"/>
                <a:cs typeface="Fira Code" pitchFamily="49" charset="0"/>
              </a:rPr>
              <a:t>)</a:t>
            </a:r>
          </a:p>
          <a:p>
            <a:pPr marL="0" indent="0">
              <a:lnSpc>
                <a:spcPct val="100000"/>
              </a:lnSpc>
              <a:spcBef>
                <a:spcPts val="200"/>
              </a:spcBef>
              <a:buNone/>
            </a:pPr>
            <a:endParaRPr lang="en-US" sz="2000" dirty="0">
              <a:latin typeface="Fira Code" pitchFamily="49" charset="0"/>
              <a:ea typeface="Fira Code" pitchFamily="49" charset="0"/>
              <a:cs typeface="Fira Code" pitchFamily="49" charset="0"/>
            </a:endParaRPr>
          </a:p>
          <a:p>
            <a:pPr marL="0" indent="0">
              <a:lnSpc>
                <a:spcPct val="100000"/>
              </a:lnSpc>
              <a:spcBef>
                <a:spcPts val="200"/>
              </a:spcBef>
              <a:buNone/>
            </a:pPr>
            <a:r>
              <a:rPr lang="en-US" sz="2000" dirty="0" err="1">
                <a:latin typeface="Fira Code" pitchFamily="49" charset="0"/>
                <a:ea typeface="Fira Code" pitchFamily="49" charset="0"/>
                <a:cs typeface="Fira Code" pitchFamily="49" charset="0"/>
              </a:rPr>
              <a:t>lm</a:t>
            </a:r>
            <a:r>
              <a:rPr lang="en-US" sz="2000" dirty="0">
                <a:latin typeface="Fira Code" pitchFamily="49" charset="0"/>
                <a:ea typeface="Fira Code" pitchFamily="49" charset="0"/>
                <a:cs typeface="Fira Code" pitchFamily="49" charset="0"/>
              </a:rPr>
              <a:t>(mpg ~ </a:t>
            </a:r>
            <a:r>
              <a:rPr lang="en-US" sz="2000" dirty="0" err="1">
                <a:latin typeface="Fira Code" pitchFamily="49" charset="0"/>
                <a:ea typeface="Fira Code" pitchFamily="49" charset="0"/>
                <a:cs typeface="Fira Code" pitchFamily="49" charset="0"/>
              </a:rPr>
              <a:t>wt</a:t>
            </a:r>
            <a:r>
              <a:rPr lang="en-US" sz="2000" dirty="0">
                <a:latin typeface="Fira Code" pitchFamily="49" charset="0"/>
                <a:ea typeface="Fira Code" pitchFamily="49" charset="0"/>
                <a:cs typeface="Fira Code" pitchFamily="49" charset="0"/>
              </a:rPr>
              <a:t> + vs, </a:t>
            </a:r>
            <a:r>
              <a:rPr lang="en-US" sz="2000" dirty="0" err="1">
                <a:latin typeface="Fira Code" pitchFamily="49" charset="0"/>
                <a:ea typeface="Fira Code" pitchFamily="49" charset="0"/>
                <a:cs typeface="Fira Code" pitchFamily="49" charset="0"/>
              </a:rPr>
              <a:t>mtcars</a:t>
            </a:r>
            <a:r>
              <a:rPr lang="en-US" sz="2000" dirty="0">
                <a:latin typeface="Fira Code" pitchFamily="49" charset="0"/>
                <a:ea typeface="Fira Code" pitchFamily="49" charset="0"/>
                <a:cs typeface="Fira Code" pitchFamily="49" charset="0"/>
              </a:rPr>
              <a:t>)</a:t>
            </a:r>
            <a:r>
              <a:rPr lang="ru-RU" sz="2000" dirty="0">
                <a:latin typeface="Fira Code" pitchFamily="49" charset="0"/>
                <a:ea typeface="Fira Code" pitchFamily="49" charset="0"/>
                <a:cs typeface="Fira Code" pitchFamily="49" charset="0"/>
              </a:rPr>
              <a:t>			</a:t>
            </a:r>
            <a:r>
              <a:rPr lang="en-US" sz="2000" dirty="0">
                <a:solidFill>
                  <a:srgbClr val="C00000"/>
                </a:solidFill>
                <a:latin typeface="Fira Code" pitchFamily="49" charset="0"/>
                <a:ea typeface="Fira Code" pitchFamily="49" charset="0"/>
                <a:cs typeface="Fira Code" pitchFamily="49" charset="0"/>
              </a:rPr>
              <a:t># </a:t>
            </a:r>
            <a:r>
              <a:rPr lang="ru-RU" sz="2000" dirty="0">
                <a:solidFill>
                  <a:srgbClr val="C00000"/>
                </a:solidFill>
                <a:latin typeface="Fira Code" pitchFamily="49" charset="0"/>
                <a:ea typeface="Fira Code" pitchFamily="49" charset="0"/>
                <a:cs typeface="Fira Code" pitchFamily="49" charset="0"/>
              </a:rPr>
              <a:t>сам код</a:t>
            </a:r>
            <a:endParaRPr lang="en-US" sz="2000" dirty="0">
              <a:solidFill>
                <a:srgbClr val="C00000"/>
              </a:solidFill>
              <a:latin typeface="Fira Code" pitchFamily="49" charset="0"/>
              <a:ea typeface="Fira Code" pitchFamily="49" charset="0"/>
              <a:cs typeface="Fira Code" pitchFamily="49" charset="0"/>
            </a:endParaRPr>
          </a:p>
          <a:p>
            <a:pPr marL="0" indent="0">
              <a:lnSpc>
                <a:spcPct val="100000"/>
              </a:lnSpc>
              <a:spcBef>
                <a:spcPts val="200"/>
              </a:spcBef>
              <a:buNone/>
            </a:pPr>
            <a:r>
              <a:rPr lang="en-US" sz="2000" dirty="0">
                <a:latin typeface="Fira Code" pitchFamily="49" charset="0"/>
                <a:ea typeface="Fira Code" pitchFamily="49" charset="0"/>
                <a:cs typeface="Fira Code" pitchFamily="49" charset="0"/>
              </a:rPr>
              <a:t># Coefficients:</a:t>
            </a:r>
            <a:r>
              <a:rPr lang="ru-RU" sz="2000" dirty="0">
                <a:latin typeface="Fira Code" pitchFamily="49" charset="0"/>
                <a:ea typeface="Fira Code" pitchFamily="49" charset="0"/>
                <a:cs typeface="Fira Code" pitchFamily="49" charset="0"/>
              </a:rPr>
              <a:t>					</a:t>
            </a:r>
            <a:r>
              <a:rPr lang="en-US" sz="2000" dirty="0">
                <a:solidFill>
                  <a:srgbClr val="C00000"/>
                </a:solidFill>
                <a:latin typeface="Fira Code" pitchFamily="49" charset="0"/>
                <a:ea typeface="Fira Code" pitchFamily="49" charset="0"/>
                <a:cs typeface="Fira Code" pitchFamily="49" charset="0"/>
              </a:rPr>
              <a:t># </a:t>
            </a:r>
            <a:r>
              <a:rPr lang="ru-RU" sz="2000" dirty="0">
                <a:solidFill>
                  <a:srgbClr val="C00000"/>
                </a:solidFill>
                <a:latin typeface="Fira Code" pitchFamily="49" charset="0"/>
                <a:ea typeface="Fira Code" pitchFamily="49" charset="0"/>
                <a:cs typeface="Fira Code" pitchFamily="49" charset="0"/>
              </a:rPr>
              <a:t>в идеале с результатом</a:t>
            </a:r>
            <a:endParaRPr lang="en-US" sz="2000" dirty="0">
              <a:solidFill>
                <a:srgbClr val="C00000"/>
              </a:solidFill>
              <a:latin typeface="Fira Code" pitchFamily="49" charset="0"/>
              <a:ea typeface="Fira Code" pitchFamily="49" charset="0"/>
              <a:cs typeface="Fira Code" pitchFamily="49" charset="0"/>
            </a:endParaRPr>
          </a:p>
          <a:p>
            <a:pPr marL="0" indent="0">
              <a:lnSpc>
                <a:spcPct val="100000"/>
              </a:lnSpc>
              <a:spcBef>
                <a:spcPts val="200"/>
              </a:spcBef>
              <a:buNone/>
            </a:pPr>
            <a:r>
              <a:rPr lang="en-US" sz="2000" dirty="0">
                <a:latin typeface="Fira Code" pitchFamily="49" charset="0"/>
                <a:ea typeface="Fira Code" pitchFamily="49" charset="0"/>
                <a:cs typeface="Fira Code" pitchFamily="49" charset="0"/>
              </a:rPr>
              <a:t># (Intercept)           </a:t>
            </a:r>
            <a:r>
              <a:rPr lang="en-US" sz="2000" dirty="0" err="1">
                <a:latin typeface="Fira Code" pitchFamily="49" charset="0"/>
                <a:ea typeface="Fira Code" pitchFamily="49" charset="0"/>
                <a:cs typeface="Fira Code" pitchFamily="49" charset="0"/>
              </a:rPr>
              <a:t>wt</a:t>
            </a:r>
            <a:r>
              <a:rPr lang="en-US" sz="2000" dirty="0">
                <a:latin typeface="Fira Code" pitchFamily="49" charset="0"/>
                <a:ea typeface="Fira Code" pitchFamily="49" charset="0"/>
                <a:cs typeface="Fira Code" pitchFamily="49" charset="0"/>
              </a:rPr>
              <a:t>           vs  </a:t>
            </a:r>
            <a:r>
              <a:rPr lang="en-US" sz="2000" dirty="0">
                <a:solidFill>
                  <a:srgbClr val="C00000"/>
                </a:solidFill>
                <a:latin typeface="Fira Code" pitchFamily="49" charset="0"/>
                <a:ea typeface="Fira Code" pitchFamily="49" charset="0"/>
                <a:cs typeface="Fira Code" pitchFamily="49" charset="0"/>
              </a:rPr>
              <a:t>#</a:t>
            </a:r>
            <a:r>
              <a:rPr lang="ru-RU" sz="2000" dirty="0">
                <a:solidFill>
                  <a:srgbClr val="C00000"/>
                </a:solidFill>
                <a:latin typeface="Fira Code" pitchFamily="49" charset="0"/>
                <a:ea typeface="Fira Code" pitchFamily="49" charset="0"/>
                <a:cs typeface="Fira Code" pitchFamily="49" charset="0"/>
              </a:rPr>
              <a:t> в комментариях</a:t>
            </a:r>
            <a:endParaRPr lang="en-US" sz="2000" dirty="0">
              <a:solidFill>
                <a:srgbClr val="C00000"/>
              </a:solidFill>
              <a:latin typeface="Fira Code" pitchFamily="49" charset="0"/>
              <a:ea typeface="Fira Code" pitchFamily="49" charset="0"/>
              <a:cs typeface="Fira Code" pitchFamily="49" charset="0"/>
            </a:endParaRPr>
          </a:p>
          <a:p>
            <a:pPr marL="0" indent="0">
              <a:lnSpc>
                <a:spcPct val="100000"/>
              </a:lnSpc>
              <a:spcBef>
                <a:spcPts val="200"/>
              </a:spcBef>
              <a:buNone/>
            </a:pPr>
            <a:r>
              <a:rPr lang="en-US" sz="2000" dirty="0">
                <a:latin typeface="Fira Code" pitchFamily="49" charset="0"/>
                <a:ea typeface="Fira Code" pitchFamily="49" charset="0"/>
                <a:cs typeface="Fira Code" pitchFamily="49" charset="0"/>
              </a:rPr>
              <a:t>#      33.004       -4.443        3.154 </a:t>
            </a:r>
            <a:r>
              <a:rPr lang="ru-RU" sz="2000" dirty="0">
                <a:latin typeface="Fira Code" pitchFamily="49" charset="0"/>
                <a:ea typeface="Fira Code" pitchFamily="49" charset="0"/>
                <a:cs typeface="Fira Code" pitchFamily="49" charset="0"/>
              </a:rPr>
              <a:t>	</a:t>
            </a:r>
            <a:r>
              <a:rPr lang="en-US" sz="2000" dirty="0">
                <a:solidFill>
                  <a:srgbClr val="C00000"/>
                </a:solidFill>
                <a:latin typeface="Fira Code" pitchFamily="49" charset="0"/>
                <a:ea typeface="Fira Code" pitchFamily="49" charset="0"/>
                <a:cs typeface="Fira Code" pitchFamily="49" charset="0"/>
              </a:rPr>
              <a:t>#</a:t>
            </a:r>
          </a:p>
          <a:p>
            <a:pPr marL="0" indent="0">
              <a:lnSpc>
                <a:spcPct val="100000"/>
              </a:lnSpc>
              <a:spcBef>
                <a:spcPts val="200"/>
              </a:spcBef>
              <a:buNone/>
            </a:pPr>
            <a:endParaRPr lang="en-US" sz="2000" dirty="0">
              <a:solidFill>
                <a:srgbClr val="C00000"/>
              </a:solidFill>
              <a:latin typeface="Fira Code" pitchFamily="49" charset="0"/>
              <a:ea typeface="Fira Code" pitchFamily="49" charset="0"/>
              <a:cs typeface="Fira Code" pitchFamily="49" charset="0"/>
            </a:endParaRPr>
          </a:p>
          <a:p>
            <a:pPr marL="0" indent="0">
              <a:lnSpc>
                <a:spcPct val="100000"/>
              </a:lnSpc>
              <a:spcBef>
                <a:spcPts val="200"/>
              </a:spcBef>
              <a:buNone/>
            </a:pPr>
            <a:r>
              <a:rPr lang="en-US" sz="2000" dirty="0" err="1">
                <a:latin typeface="Fira Code" pitchFamily="49" charset="0"/>
                <a:ea typeface="Fira Code" pitchFamily="49" charset="0"/>
                <a:cs typeface="Fira Code" pitchFamily="49" charset="0"/>
              </a:rPr>
              <a:t>sessionInfo</a:t>
            </a:r>
            <a:r>
              <a:rPr lang="en-US" sz="2000" dirty="0">
                <a:latin typeface="Fira Code" pitchFamily="49" charset="0"/>
                <a:ea typeface="Fira Code" pitchFamily="49" charset="0"/>
                <a:cs typeface="Fira Code" pitchFamily="49" charset="0"/>
              </a:rPr>
              <a:t>()					</a:t>
            </a:r>
            <a:r>
              <a:rPr lang="en-US" sz="2000" dirty="0">
                <a:solidFill>
                  <a:srgbClr val="C00000"/>
                </a:solidFill>
                <a:latin typeface="Fira Code" pitchFamily="49" charset="0"/>
                <a:ea typeface="Fira Code" pitchFamily="49" charset="0"/>
                <a:cs typeface="Fira Code" pitchFamily="49" charset="0"/>
              </a:rPr>
              <a:t>#</a:t>
            </a:r>
            <a:r>
              <a:rPr lang="ru-RU" sz="2000" dirty="0">
                <a:solidFill>
                  <a:srgbClr val="C00000"/>
                </a:solidFill>
                <a:latin typeface="Fira Code" pitchFamily="49" charset="0"/>
                <a:ea typeface="Fira Code" pitchFamily="49" charset="0"/>
                <a:cs typeface="Fira Code" pitchFamily="49" charset="0"/>
              </a:rPr>
              <a:t> версии библиотек</a:t>
            </a:r>
            <a:endParaRPr lang="en-US" sz="2000" dirty="0">
              <a:solidFill>
                <a:srgbClr val="C00000"/>
              </a:solidFill>
              <a:latin typeface="Fira Code" pitchFamily="49" charset="0"/>
              <a:ea typeface="Fira Code" pitchFamily="49" charset="0"/>
              <a:cs typeface="Fira Code" pitchFamily="49" charset="0"/>
            </a:endParaRPr>
          </a:p>
          <a:p>
            <a:pPr marL="0" indent="0">
              <a:lnSpc>
                <a:spcPct val="100000"/>
              </a:lnSpc>
              <a:spcBef>
                <a:spcPts val="200"/>
              </a:spcBef>
              <a:buNone/>
            </a:pPr>
            <a:r>
              <a:rPr lang="en-US" sz="2000" dirty="0">
                <a:latin typeface="Fira Code" pitchFamily="49" charset="0"/>
                <a:ea typeface="Fira Code" pitchFamily="49" charset="0"/>
                <a:cs typeface="Fira Code" pitchFamily="49" charset="0"/>
              </a:rPr>
              <a:t># ...</a:t>
            </a:r>
          </a:p>
          <a:p>
            <a:pPr marL="0" indent="0">
              <a:lnSpc>
                <a:spcPct val="100000"/>
              </a:lnSpc>
              <a:spcBef>
                <a:spcPts val="200"/>
              </a:spcBef>
              <a:buNone/>
            </a:pPr>
            <a:r>
              <a:rPr lang="en-US" sz="2000" dirty="0">
                <a:latin typeface="Fira Code" pitchFamily="49" charset="0"/>
                <a:ea typeface="Fira Code" pitchFamily="49" charset="0"/>
                <a:cs typeface="Fira Code" pitchFamily="49" charset="0"/>
              </a:rPr>
              <a:t># </a:t>
            </a:r>
            <a:r>
              <a:rPr lang="ru-RU" sz="2000" dirty="0">
                <a:latin typeface="Fira Code" pitchFamily="49" charset="0"/>
                <a:ea typeface="Fira Code" pitchFamily="49" charset="0"/>
                <a:cs typeface="Fira Code" pitchFamily="49" charset="0"/>
              </a:rPr>
              <a:t>длинный код -</a:t>
            </a:r>
            <a:r>
              <a:rPr lang="en-US" sz="2000" dirty="0">
                <a:latin typeface="Fira Code" pitchFamily="49" charset="0"/>
                <a:ea typeface="Fira Code" pitchFamily="49" charset="0"/>
                <a:cs typeface="Fira Code" pitchFamily="49" charset="0"/>
              </a:rPr>
              <a:t>&gt; </a:t>
            </a:r>
            <a:r>
              <a:rPr lang="en-US" sz="2000" dirty="0">
                <a:solidFill>
                  <a:srgbClr val="0070C0"/>
                </a:solidFill>
                <a:latin typeface="Fira Code" pitchFamily="49" charset="0"/>
                <a:ea typeface="Fira Code" pitchFamily="49" charset="0"/>
                <a:cs typeface="Fira Code" pitchFamily="49" charset="0"/>
              </a:rPr>
              <a:t>https://</a:t>
            </a:r>
            <a:r>
              <a:rPr lang="en-US" sz="2000" dirty="0" err="1">
                <a:solidFill>
                  <a:srgbClr val="0070C0"/>
                </a:solidFill>
                <a:latin typeface="Fira Code" pitchFamily="49" charset="0"/>
                <a:ea typeface="Fira Code" pitchFamily="49" charset="0"/>
                <a:cs typeface="Fira Code" pitchFamily="49" charset="0"/>
              </a:rPr>
              <a:t>gist.github.com</a:t>
            </a:r>
            <a:endParaRPr lang="en-US" sz="2000" dirty="0">
              <a:solidFill>
                <a:srgbClr val="0070C0"/>
              </a:solidFill>
              <a:latin typeface="Fira Code" pitchFamily="49" charset="0"/>
              <a:ea typeface="Fira Code" pitchFamily="49" charset="0"/>
              <a:cs typeface="Fira Code" pitchFamily="49" charset="0"/>
            </a:endParaRPr>
          </a:p>
        </p:txBody>
      </p:sp>
    </p:spTree>
    <p:extLst>
      <p:ext uri="{BB962C8B-B14F-4D97-AF65-F5344CB8AC3E}">
        <p14:creationId xmlns:p14="http://schemas.microsoft.com/office/powerpoint/2010/main" val="9621331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C8D44-D098-1A9F-E8A6-A8B9FC72D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5CB975-D5AD-FC27-DC22-E167487D8DE7}"/>
              </a:ext>
            </a:extLst>
          </p:cNvPr>
          <p:cNvSpPr>
            <a:spLocks noGrp="1"/>
          </p:cNvSpPr>
          <p:nvPr>
            <p:ph type="title"/>
          </p:nvPr>
        </p:nvSpPr>
        <p:spPr/>
        <p:txBody>
          <a:bodyPr/>
          <a:lstStyle/>
          <a:p>
            <a:r>
              <a:rPr lang="ru-RU" dirty="0"/>
              <a:t>Воспроизводимость</a:t>
            </a:r>
            <a:endParaRPr lang="en-US" dirty="0"/>
          </a:p>
        </p:txBody>
      </p:sp>
      <p:pic>
        <p:nvPicPr>
          <p:cNvPr id="1026" name="Picture 2" descr="Fig. 8">
            <a:extLst>
              <a:ext uri="{FF2B5EF4-FFF2-40B4-BE49-F238E27FC236}">
                <a16:creationId xmlns:a16="http://schemas.microsoft.com/office/drawing/2014/main" id="{23DCA1FE-1F85-8A77-C9DB-13822D1106F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63786"/>
            <a:ext cx="7261139" cy="40856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886A92A-273B-270B-C75A-488819F191C6}"/>
              </a:ext>
            </a:extLst>
          </p:cNvPr>
          <p:cNvSpPr txBox="1"/>
          <p:nvPr/>
        </p:nvSpPr>
        <p:spPr>
          <a:xfrm>
            <a:off x="838200" y="6122485"/>
            <a:ext cx="10863805" cy="646331"/>
          </a:xfrm>
          <a:prstGeom prst="rect">
            <a:avLst/>
          </a:prstGeom>
          <a:noFill/>
        </p:spPr>
        <p:txBody>
          <a:bodyPr wrap="square" rtlCol="0">
            <a:spAutoFit/>
          </a:bodyPr>
          <a:lstStyle/>
          <a:p>
            <a:r>
              <a:rPr lang="en-US" dirty="0">
                <a:hlinkClick r:id="rId3"/>
              </a:rPr>
              <a:t>Trisovic, A., Lau, M.K., Pasquier, T. </a:t>
            </a:r>
            <a:r>
              <a:rPr lang="en-US" i="1" dirty="0">
                <a:hlinkClick r:id="rId3"/>
              </a:rPr>
              <a:t>et al.</a:t>
            </a:r>
            <a:r>
              <a:rPr lang="en-US" dirty="0">
                <a:hlinkClick r:id="rId3"/>
              </a:rPr>
              <a:t> A large-scale study on research code quality and execution. </a:t>
            </a:r>
            <a:r>
              <a:rPr lang="en-US" i="1" dirty="0">
                <a:hlinkClick r:id="rId3"/>
              </a:rPr>
              <a:t>Sci Data</a:t>
            </a:r>
            <a:r>
              <a:rPr lang="en-US" dirty="0">
                <a:hlinkClick r:id="rId3"/>
              </a:rPr>
              <a:t> </a:t>
            </a:r>
            <a:r>
              <a:rPr lang="en-US" b="1" dirty="0">
                <a:hlinkClick r:id="rId3"/>
              </a:rPr>
              <a:t>9</a:t>
            </a:r>
            <a:r>
              <a:rPr lang="en-US" dirty="0">
                <a:hlinkClick r:id="rId3"/>
              </a:rPr>
              <a:t>, 60 (2022). https://</a:t>
            </a:r>
            <a:r>
              <a:rPr lang="en-US" dirty="0" err="1">
                <a:hlinkClick r:id="rId3"/>
              </a:rPr>
              <a:t>doi.org</a:t>
            </a:r>
            <a:r>
              <a:rPr lang="en-US" dirty="0">
                <a:hlinkClick r:id="rId3"/>
              </a:rPr>
              <a:t>/10.1038/s41597-022-01143-6</a:t>
            </a:r>
            <a:endParaRPr lang="en-US" dirty="0"/>
          </a:p>
        </p:txBody>
      </p:sp>
      <p:sp>
        <p:nvSpPr>
          <p:cNvPr id="6" name="TextBox 5">
            <a:extLst>
              <a:ext uri="{FF2B5EF4-FFF2-40B4-BE49-F238E27FC236}">
                <a16:creationId xmlns:a16="http://schemas.microsoft.com/office/drawing/2014/main" id="{1DA6BAC2-773F-7DA3-7D65-4641E4599A43}"/>
              </a:ext>
            </a:extLst>
          </p:cNvPr>
          <p:cNvSpPr txBox="1"/>
          <p:nvPr/>
        </p:nvSpPr>
        <p:spPr>
          <a:xfrm>
            <a:off x="8556539" y="2013760"/>
            <a:ext cx="3417218" cy="954107"/>
          </a:xfrm>
          <a:prstGeom prst="rect">
            <a:avLst/>
          </a:prstGeom>
          <a:noFill/>
        </p:spPr>
        <p:txBody>
          <a:bodyPr wrap="none" rtlCol="0">
            <a:spAutoFit/>
          </a:bodyPr>
          <a:lstStyle/>
          <a:p>
            <a:r>
              <a:rPr lang="ru-RU" sz="2800" dirty="0">
                <a:solidFill>
                  <a:srgbClr val="C00000"/>
                </a:solidFill>
              </a:rPr>
              <a:t>47%</a:t>
            </a:r>
            <a:endParaRPr lang="en-US" sz="2800" dirty="0">
              <a:solidFill>
                <a:srgbClr val="C00000"/>
              </a:solidFill>
            </a:endParaRPr>
          </a:p>
          <a:p>
            <a:r>
              <a:rPr lang="ru-RU" sz="2800" dirty="0">
                <a:solidFill>
                  <a:srgbClr val="C00000"/>
                </a:solidFill>
              </a:rPr>
              <a:t>на самом деле ниже</a:t>
            </a:r>
            <a:endParaRPr lang="en-US" sz="2800" dirty="0">
              <a:solidFill>
                <a:srgbClr val="C00000"/>
              </a:solidFill>
            </a:endParaRPr>
          </a:p>
        </p:txBody>
      </p:sp>
      <p:sp>
        <p:nvSpPr>
          <p:cNvPr id="7" name="TextBox 6">
            <a:extLst>
              <a:ext uri="{FF2B5EF4-FFF2-40B4-BE49-F238E27FC236}">
                <a16:creationId xmlns:a16="http://schemas.microsoft.com/office/drawing/2014/main" id="{1CA9400A-8505-7209-02E2-1FFE6B5306FB}"/>
              </a:ext>
            </a:extLst>
          </p:cNvPr>
          <p:cNvSpPr txBox="1"/>
          <p:nvPr/>
        </p:nvSpPr>
        <p:spPr>
          <a:xfrm>
            <a:off x="838200" y="1644428"/>
            <a:ext cx="2929520" cy="369332"/>
          </a:xfrm>
          <a:prstGeom prst="rect">
            <a:avLst/>
          </a:prstGeom>
          <a:noFill/>
        </p:spPr>
        <p:txBody>
          <a:bodyPr wrap="none" rtlCol="0">
            <a:spAutoFit/>
          </a:bodyPr>
          <a:lstStyle/>
          <a:p>
            <a:r>
              <a:rPr lang="en-US" dirty="0"/>
              <a:t>Harvard Dataverse repository</a:t>
            </a:r>
          </a:p>
        </p:txBody>
      </p:sp>
    </p:spTree>
    <p:extLst>
      <p:ext uri="{BB962C8B-B14F-4D97-AF65-F5344CB8AC3E}">
        <p14:creationId xmlns:p14="http://schemas.microsoft.com/office/powerpoint/2010/main" val="39992974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Git vs Github – Cosa sono e quali le differenze - Tech Generation">
            <a:extLst>
              <a:ext uri="{FF2B5EF4-FFF2-40B4-BE49-F238E27FC236}">
                <a16:creationId xmlns:a16="http://schemas.microsoft.com/office/drawing/2014/main" id="{9912AE07-5AEF-9CF5-A5E8-31146B8329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510" r="68524" b="7052"/>
          <a:stretch/>
        </p:blipFill>
        <p:spPr bwMode="auto">
          <a:xfrm>
            <a:off x="503793" y="333494"/>
            <a:ext cx="1773282" cy="132556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16FF532-0078-740C-5E19-E60012DDD0BD}"/>
              </a:ext>
            </a:extLst>
          </p:cNvPr>
          <p:cNvSpPr txBox="1"/>
          <p:nvPr/>
        </p:nvSpPr>
        <p:spPr>
          <a:xfrm>
            <a:off x="2405343" y="532705"/>
            <a:ext cx="8034700" cy="707886"/>
          </a:xfrm>
          <a:prstGeom prst="rect">
            <a:avLst/>
          </a:prstGeom>
          <a:noFill/>
        </p:spPr>
        <p:txBody>
          <a:bodyPr wrap="none" rtlCol="0">
            <a:spAutoFit/>
          </a:bodyPr>
          <a:lstStyle/>
          <a:p>
            <a:r>
              <a:rPr lang="en-RU" sz="4000"/>
              <a:t>Git</a:t>
            </a:r>
            <a:r>
              <a:rPr lang="ru-RU" sz="4000" dirty="0"/>
              <a:t> – система контроля версий</a:t>
            </a:r>
            <a:r>
              <a:rPr lang="en-US" sz="4000" dirty="0"/>
              <a:t> (VCS)</a:t>
            </a:r>
            <a:endParaRPr lang="en-RU" sz="4000" dirty="0"/>
          </a:p>
        </p:txBody>
      </p:sp>
      <p:sp>
        <p:nvSpPr>
          <p:cNvPr id="2" name="TextBox 1">
            <a:extLst>
              <a:ext uri="{FF2B5EF4-FFF2-40B4-BE49-F238E27FC236}">
                <a16:creationId xmlns:a16="http://schemas.microsoft.com/office/drawing/2014/main" id="{8138C71C-2769-23F6-52DF-5E4DA30F1965}"/>
              </a:ext>
            </a:extLst>
          </p:cNvPr>
          <p:cNvSpPr txBox="1"/>
          <p:nvPr/>
        </p:nvSpPr>
        <p:spPr>
          <a:xfrm>
            <a:off x="8350214" y="1248749"/>
            <a:ext cx="3687509" cy="738664"/>
          </a:xfrm>
          <a:prstGeom prst="rect">
            <a:avLst/>
          </a:prstGeom>
          <a:noFill/>
        </p:spPr>
        <p:txBody>
          <a:bodyPr wrap="square" rtlCol="0">
            <a:spAutoFit/>
          </a:bodyPr>
          <a:lstStyle/>
          <a:p>
            <a:r>
              <a:rPr lang="ru-RU" sz="1400" i="1" dirty="0"/>
              <a:t>Есть другие программы с интерфейсом</a:t>
            </a:r>
          </a:p>
          <a:p>
            <a:r>
              <a:rPr lang="ru-RU" sz="1400" i="1" dirty="0"/>
              <a:t>Но внутри тот же </a:t>
            </a:r>
            <a:r>
              <a:rPr lang="en-US" sz="1400" i="1" dirty="0"/>
              <a:t>Git</a:t>
            </a:r>
            <a:endParaRPr lang="ru-RU" sz="1400" i="1" dirty="0"/>
          </a:p>
          <a:p>
            <a:r>
              <a:rPr lang="ru-RU" sz="1400" i="1" dirty="0"/>
              <a:t>(</a:t>
            </a:r>
            <a:r>
              <a:rPr lang="en-US" sz="1400" i="1" dirty="0" err="1"/>
              <a:t>GitKraken</a:t>
            </a:r>
            <a:r>
              <a:rPr lang="en-US" sz="1400" i="1" dirty="0"/>
              <a:t> , GitHub Desktop)</a:t>
            </a:r>
            <a:endParaRPr lang="en-RU" sz="1400" i="1" dirty="0"/>
          </a:p>
        </p:txBody>
      </p:sp>
    </p:spTree>
    <p:extLst>
      <p:ext uri="{BB962C8B-B14F-4D97-AF65-F5344CB8AC3E}">
        <p14:creationId xmlns:p14="http://schemas.microsoft.com/office/powerpoint/2010/main" val="3430790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67E4A-D819-CC26-8E4A-FC85B41A784E}"/>
            </a:ext>
          </a:extLst>
        </p:cNvPr>
        <p:cNvGrpSpPr/>
        <p:nvPr/>
      </p:nvGrpSpPr>
      <p:grpSpPr>
        <a:xfrm>
          <a:off x="0" y="0"/>
          <a:ext cx="0" cy="0"/>
          <a:chOff x="0" y="0"/>
          <a:chExt cx="0" cy="0"/>
        </a:xfrm>
      </p:grpSpPr>
      <p:pic>
        <p:nvPicPr>
          <p:cNvPr id="6" name="Picture 2" descr="Git vs Github – Cosa sono e quali le differenze - Tech Generation">
            <a:extLst>
              <a:ext uri="{FF2B5EF4-FFF2-40B4-BE49-F238E27FC236}">
                <a16:creationId xmlns:a16="http://schemas.microsoft.com/office/drawing/2014/main" id="{4AC3AEA0-E716-A498-4B48-D5666E599C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510" r="68524" b="7052"/>
          <a:stretch/>
        </p:blipFill>
        <p:spPr bwMode="auto">
          <a:xfrm>
            <a:off x="503793" y="333494"/>
            <a:ext cx="1773282" cy="132556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BD72983-0C89-0812-1B73-8E326BB4F98E}"/>
              </a:ext>
            </a:extLst>
          </p:cNvPr>
          <p:cNvSpPr txBox="1"/>
          <p:nvPr/>
        </p:nvSpPr>
        <p:spPr>
          <a:xfrm>
            <a:off x="2405343" y="532705"/>
            <a:ext cx="8034700" cy="707886"/>
          </a:xfrm>
          <a:prstGeom prst="rect">
            <a:avLst/>
          </a:prstGeom>
          <a:noFill/>
        </p:spPr>
        <p:txBody>
          <a:bodyPr wrap="none" rtlCol="0">
            <a:spAutoFit/>
          </a:bodyPr>
          <a:lstStyle/>
          <a:p>
            <a:r>
              <a:rPr lang="en-RU" sz="4000" dirty="0"/>
              <a:t>Git</a:t>
            </a:r>
            <a:r>
              <a:rPr lang="ru-RU" sz="4000" dirty="0"/>
              <a:t> – система</a:t>
            </a:r>
            <a:r>
              <a:rPr lang="en-US" sz="4000" dirty="0"/>
              <a:t> </a:t>
            </a:r>
            <a:r>
              <a:rPr lang="ru-RU" sz="4000" dirty="0"/>
              <a:t>контроля версий</a:t>
            </a:r>
            <a:r>
              <a:rPr lang="en-US" sz="4000" dirty="0"/>
              <a:t> (VCS)</a:t>
            </a:r>
            <a:endParaRPr lang="en-RU" sz="4000" dirty="0"/>
          </a:p>
        </p:txBody>
      </p:sp>
      <p:sp>
        <p:nvSpPr>
          <p:cNvPr id="15" name="TextBox 14">
            <a:extLst>
              <a:ext uri="{FF2B5EF4-FFF2-40B4-BE49-F238E27FC236}">
                <a16:creationId xmlns:a16="http://schemas.microsoft.com/office/drawing/2014/main" id="{91B7FC6E-3D1C-F809-4B61-EED405F41B3F}"/>
              </a:ext>
            </a:extLst>
          </p:cNvPr>
          <p:cNvSpPr txBox="1"/>
          <p:nvPr/>
        </p:nvSpPr>
        <p:spPr>
          <a:xfrm>
            <a:off x="8350214" y="1248749"/>
            <a:ext cx="3687509" cy="738664"/>
          </a:xfrm>
          <a:prstGeom prst="rect">
            <a:avLst/>
          </a:prstGeom>
          <a:noFill/>
        </p:spPr>
        <p:txBody>
          <a:bodyPr wrap="square" rtlCol="0">
            <a:spAutoFit/>
          </a:bodyPr>
          <a:lstStyle/>
          <a:p>
            <a:r>
              <a:rPr lang="ru-RU" sz="1400" i="1" dirty="0"/>
              <a:t>Есть другие программы с интерфейсом</a:t>
            </a:r>
          </a:p>
          <a:p>
            <a:r>
              <a:rPr lang="ru-RU" sz="1400" i="1" dirty="0"/>
              <a:t>Но внутри тот же </a:t>
            </a:r>
            <a:r>
              <a:rPr lang="en-US" sz="1400" i="1" dirty="0"/>
              <a:t>Git</a:t>
            </a:r>
            <a:endParaRPr lang="ru-RU" sz="1400" i="1" dirty="0"/>
          </a:p>
          <a:p>
            <a:r>
              <a:rPr lang="ru-RU" sz="1400" i="1" dirty="0"/>
              <a:t>(</a:t>
            </a:r>
            <a:r>
              <a:rPr lang="en-US" sz="1400" i="1" dirty="0" err="1"/>
              <a:t>GitKraken</a:t>
            </a:r>
            <a:r>
              <a:rPr lang="en-US" sz="1400" i="1" dirty="0"/>
              <a:t> , GitHub Desktop)</a:t>
            </a:r>
            <a:endParaRPr lang="en-RU" sz="1400" i="1" dirty="0"/>
          </a:p>
        </p:txBody>
      </p:sp>
      <p:pic>
        <p:nvPicPr>
          <p:cNvPr id="25" name="Picture 2">
            <a:extLst>
              <a:ext uri="{FF2B5EF4-FFF2-40B4-BE49-F238E27FC236}">
                <a16:creationId xmlns:a16="http://schemas.microsoft.com/office/drawing/2014/main" id="{673D22B1-3A73-44E4-6166-DF23F1A3673A}"/>
              </a:ext>
            </a:extLst>
          </p:cNvPr>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l="788" r="2771" b="2862"/>
          <a:stretch/>
        </p:blipFill>
        <p:spPr bwMode="auto">
          <a:xfrm>
            <a:off x="2882348" y="1618081"/>
            <a:ext cx="3807799" cy="5104941"/>
          </a:xfrm>
          <a:prstGeom prst="rect">
            <a:avLst/>
          </a:prstGeom>
          <a:ln>
            <a:solidFill>
              <a:schemeClr val="bg1">
                <a:lumMod val="85000"/>
              </a:schemeClr>
            </a:solid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19073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2E5B2-3AB5-BC49-EB13-F1E05D3A72BB}"/>
              </a:ext>
            </a:extLst>
          </p:cNvPr>
          <p:cNvSpPr>
            <a:spLocks noGrp="1"/>
          </p:cNvSpPr>
          <p:nvPr>
            <p:ph type="title"/>
          </p:nvPr>
        </p:nvSpPr>
        <p:spPr/>
        <p:txBody>
          <a:bodyPr/>
          <a:lstStyle/>
          <a:p>
            <a:r>
              <a:rPr lang="ru-RU" dirty="0"/>
              <a:t>Зачем</a:t>
            </a:r>
            <a:endParaRPr lang="en-RU" dirty="0"/>
          </a:p>
        </p:txBody>
      </p:sp>
      <p:sp>
        <p:nvSpPr>
          <p:cNvPr id="3" name="Content Placeholder 2">
            <a:extLst>
              <a:ext uri="{FF2B5EF4-FFF2-40B4-BE49-F238E27FC236}">
                <a16:creationId xmlns:a16="http://schemas.microsoft.com/office/drawing/2014/main" id="{0418649E-0BDF-BDEE-D7EF-6D4284C46BE8}"/>
              </a:ext>
            </a:extLst>
          </p:cNvPr>
          <p:cNvSpPr>
            <a:spLocks noGrp="1"/>
          </p:cNvSpPr>
          <p:nvPr>
            <p:ph idx="1"/>
          </p:nvPr>
        </p:nvSpPr>
        <p:spPr/>
        <p:txBody>
          <a:bodyPr/>
          <a:lstStyle/>
          <a:p>
            <a:r>
              <a:rPr lang="ru-RU" dirty="0"/>
              <a:t>Всегда есть резервная копия</a:t>
            </a:r>
            <a:endParaRPr lang="en-US" dirty="0"/>
          </a:p>
          <a:p>
            <a:r>
              <a:rPr lang="ru-RU" dirty="0"/>
              <a:t>Легко вернуться к исходному состоянию</a:t>
            </a:r>
          </a:p>
          <a:p>
            <a:r>
              <a:rPr lang="ru-RU" u="sng" dirty="0"/>
              <a:t>Итеративный процесс работы</a:t>
            </a:r>
            <a:endParaRPr lang="en-US" u="sng" dirty="0"/>
          </a:p>
          <a:p>
            <a:r>
              <a:rPr lang="ru-RU" dirty="0"/>
              <a:t>Работа в команде (ревью)</a:t>
            </a:r>
          </a:p>
        </p:txBody>
      </p:sp>
    </p:spTree>
    <p:extLst>
      <p:ext uri="{BB962C8B-B14F-4D97-AF65-F5344CB8AC3E}">
        <p14:creationId xmlns:p14="http://schemas.microsoft.com/office/powerpoint/2010/main" val="5693015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A0760-8194-E89B-874A-4C078952D0FF}"/>
            </a:ext>
          </a:extLst>
        </p:cNvPr>
        <p:cNvGrpSpPr/>
        <p:nvPr/>
      </p:nvGrpSpPr>
      <p:grpSpPr>
        <a:xfrm>
          <a:off x="0" y="0"/>
          <a:ext cx="0" cy="0"/>
          <a:chOff x="0" y="0"/>
          <a:chExt cx="0" cy="0"/>
        </a:xfrm>
      </p:grpSpPr>
      <p:pic>
        <p:nvPicPr>
          <p:cNvPr id="6" name="Picture 2" descr="Git vs Github – Cosa sono e quali le differenze - Tech Generation">
            <a:extLst>
              <a:ext uri="{FF2B5EF4-FFF2-40B4-BE49-F238E27FC236}">
                <a16:creationId xmlns:a16="http://schemas.microsoft.com/office/drawing/2014/main" id="{406027C0-1AD5-C411-F088-9E7F3622F1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510" r="68524" b="7052"/>
          <a:stretch/>
        </p:blipFill>
        <p:spPr bwMode="auto">
          <a:xfrm>
            <a:off x="503793" y="333494"/>
            <a:ext cx="1773282" cy="132556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225984D-FD69-DAF7-ABBD-178D6E3871E4}"/>
              </a:ext>
            </a:extLst>
          </p:cNvPr>
          <p:cNvSpPr txBox="1"/>
          <p:nvPr/>
        </p:nvSpPr>
        <p:spPr>
          <a:xfrm>
            <a:off x="2405343" y="532705"/>
            <a:ext cx="8034700" cy="707886"/>
          </a:xfrm>
          <a:prstGeom prst="rect">
            <a:avLst/>
          </a:prstGeom>
          <a:noFill/>
        </p:spPr>
        <p:txBody>
          <a:bodyPr wrap="none" rtlCol="0">
            <a:spAutoFit/>
          </a:bodyPr>
          <a:lstStyle/>
          <a:p>
            <a:r>
              <a:rPr lang="en-RU" sz="4000" dirty="0"/>
              <a:t>Git</a:t>
            </a:r>
            <a:r>
              <a:rPr lang="ru-RU" sz="4000" dirty="0"/>
              <a:t> – система</a:t>
            </a:r>
            <a:r>
              <a:rPr lang="en-US" sz="4000" dirty="0"/>
              <a:t> </a:t>
            </a:r>
            <a:r>
              <a:rPr lang="ru-RU" sz="4000" dirty="0"/>
              <a:t>контроля версий </a:t>
            </a:r>
            <a:r>
              <a:rPr lang="en-US" sz="4000" dirty="0"/>
              <a:t>(VCS)</a:t>
            </a:r>
            <a:endParaRPr lang="en-RU" sz="4000" dirty="0"/>
          </a:p>
        </p:txBody>
      </p:sp>
      <p:pic>
        <p:nvPicPr>
          <p:cNvPr id="18" name="Picture 17">
            <a:extLst>
              <a:ext uri="{FF2B5EF4-FFF2-40B4-BE49-F238E27FC236}">
                <a16:creationId xmlns:a16="http://schemas.microsoft.com/office/drawing/2014/main" id="{7FFCBE62-EC04-1F3A-E510-67564CCAF327}"/>
              </a:ext>
            </a:extLst>
          </p:cNvPr>
          <p:cNvPicPr>
            <a:picLocks noChangeAspect="1"/>
          </p:cNvPicPr>
          <p:nvPr/>
        </p:nvPicPr>
        <p:blipFill>
          <a:blip r:embed="rId4"/>
          <a:srcRect/>
          <a:stretch/>
        </p:blipFill>
        <p:spPr>
          <a:xfrm>
            <a:off x="503793" y="1987413"/>
            <a:ext cx="6518108" cy="4811393"/>
          </a:xfrm>
          <a:prstGeom prst="rect">
            <a:avLst/>
          </a:prstGeom>
        </p:spPr>
      </p:pic>
      <p:cxnSp>
        <p:nvCxnSpPr>
          <p:cNvPr id="2" name="Straight Arrow Connector 1">
            <a:extLst>
              <a:ext uri="{FF2B5EF4-FFF2-40B4-BE49-F238E27FC236}">
                <a16:creationId xmlns:a16="http://schemas.microsoft.com/office/drawing/2014/main" id="{EAC19556-25B7-F024-F0B5-015BA482BA14}"/>
              </a:ext>
            </a:extLst>
          </p:cNvPr>
          <p:cNvCxnSpPr>
            <a:cxnSpLocks/>
          </p:cNvCxnSpPr>
          <p:nvPr/>
        </p:nvCxnSpPr>
        <p:spPr>
          <a:xfrm flipH="1">
            <a:off x="6857065" y="3429000"/>
            <a:ext cx="914400"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8CF17C62-4BA3-6A24-C58C-AE4B26908328}"/>
              </a:ext>
            </a:extLst>
          </p:cNvPr>
          <p:cNvSpPr txBox="1"/>
          <p:nvPr/>
        </p:nvSpPr>
        <p:spPr>
          <a:xfrm>
            <a:off x="7895400" y="3167390"/>
            <a:ext cx="4148956" cy="523220"/>
          </a:xfrm>
          <a:prstGeom prst="rect">
            <a:avLst/>
          </a:prstGeom>
          <a:noFill/>
        </p:spPr>
        <p:txBody>
          <a:bodyPr wrap="none" rtlCol="0">
            <a:spAutoFit/>
          </a:bodyPr>
          <a:lstStyle/>
          <a:p>
            <a:r>
              <a:rPr lang="ru-RU" sz="2800" dirty="0"/>
              <a:t>Репозиторий</a:t>
            </a:r>
            <a:r>
              <a:rPr lang="en-US" sz="2800" dirty="0"/>
              <a:t> (</a:t>
            </a:r>
            <a:r>
              <a:rPr lang="ru-RU" sz="2800" dirty="0"/>
              <a:t>локальный)</a:t>
            </a:r>
            <a:endParaRPr lang="en-RU" sz="2800" dirty="0"/>
          </a:p>
        </p:txBody>
      </p:sp>
      <p:sp>
        <p:nvSpPr>
          <p:cNvPr id="4" name="TextBox 3">
            <a:extLst>
              <a:ext uri="{FF2B5EF4-FFF2-40B4-BE49-F238E27FC236}">
                <a16:creationId xmlns:a16="http://schemas.microsoft.com/office/drawing/2014/main" id="{87E6BC41-48E0-2A86-AF5F-56C02062E07C}"/>
              </a:ext>
            </a:extLst>
          </p:cNvPr>
          <p:cNvSpPr txBox="1"/>
          <p:nvPr/>
        </p:nvSpPr>
        <p:spPr>
          <a:xfrm>
            <a:off x="8350214" y="1248749"/>
            <a:ext cx="3687509" cy="738664"/>
          </a:xfrm>
          <a:prstGeom prst="rect">
            <a:avLst/>
          </a:prstGeom>
          <a:noFill/>
        </p:spPr>
        <p:txBody>
          <a:bodyPr wrap="square" rtlCol="0">
            <a:spAutoFit/>
          </a:bodyPr>
          <a:lstStyle/>
          <a:p>
            <a:r>
              <a:rPr lang="ru-RU" sz="1400" i="1" dirty="0"/>
              <a:t>Есть другие программы с интерфейсом</a:t>
            </a:r>
          </a:p>
          <a:p>
            <a:r>
              <a:rPr lang="ru-RU" sz="1400" i="1" dirty="0"/>
              <a:t>Но внутри тот же </a:t>
            </a:r>
            <a:r>
              <a:rPr lang="en-US" sz="1400" i="1" dirty="0"/>
              <a:t>Git</a:t>
            </a:r>
            <a:endParaRPr lang="ru-RU" sz="1400" i="1" dirty="0"/>
          </a:p>
          <a:p>
            <a:r>
              <a:rPr lang="ru-RU" sz="1400" i="1" dirty="0"/>
              <a:t>(</a:t>
            </a:r>
            <a:r>
              <a:rPr lang="en-US" sz="1400" i="1" dirty="0" err="1"/>
              <a:t>GitKraken</a:t>
            </a:r>
            <a:r>
              <a:rPr lang="en-US" sz="1400" i="1" dirty="0"/>
              <a:t> , GitHub Desktop)</a:t>
            </a:r>
            <a:endParaRPr lang="en-RU" sz="1400" i="1" dirty="0"/>
          </a:p>
        </p:txBody>
      </p:sp>
    </p:spTree>
    <p:extLst>
      <p:ext uri="{BB962C8B-B14F-4D97-AF65-F5344CB8AC3E}">
        <p14:creationId xmlns:p14="http://schemas.microsoft.com/office/powerpoint/2010/main" val="337753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37B0E6D-BB26-0996-2FAB-2C2B8E2ACB5E}"/>
              </a:ext>
            </a:extLst>
          </p:cNvPr>
          <p:cNvPicPr>
            <a:picLocks noChangeAspect="1"/>
          </p:cNvPicPr>
          <p:nvPr/>
        </p:nvPicPr>
        <p:blipFill>
          <a:blip r:embed="rId3"/>
          <a:srcRect l="1164" t="2473" r="616" b="1682"/>
          <a:stretch/>
        </p:blipFill>
        <p:spPr>
          <a:xfrm>
            <a:off x="294198" y="2024519"/>
            <a:ext cx="5454595" cy="3326710"/>
          </a:xfrm>
          <a:prstGeom prst="rect">
            <a:avLst/>
          </a:prstGeom>
          <a:effectLst>
            <a:glow rad="254000">
              <a:schemeClr val="accent1">
                <a:alpha val="10000"/>
              </a:schemeClr>
            </a:glow>
          </a:effectLst>
        </p:spPr>
      </p:pic>
      <p:pic>
        <p:nvPicPr>
          <p:cNvPr id="4" name="Picture 2" descr="Git vs Github – Cosa sono e quali le differenze - Tech Generation">
            <a:extLst>
              <a:ext uri="{FF2B5EF4-FFF2-40B4-BE49-F238E27FC236}">
                <a16:creationId xmlns:a16="http://schemas.microsoft.com/office/drawing/2014/main" id="{7D1B4EF4-0DFF-5BA2-D1A5-278500D2853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119" r="54991" b="71778"/>
          <a:stretch/>
        </p:blipFill>
        <p:spPr bwMode="auto">
          <a:xfrm>
            <a:off x="229504" y="182940"/>
            <a:ext cx="1724715" cy="132556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20BCBC4-B419-F5C9-27B4-0F97EE457A7E}"/>
              </a:ext>
            </a:extLst>
          </p:cNvPr>
          <p:cNvSpPr txBox="1"/>
          <p:nvPr/>
        </p:nvSpPr>
        <p:spPr>
          <a:xfrm>
            <a:off x="2262651" y="456888"/>
            <a:ext cx="6952544" cy="707886"/>
          </a:xfrm>
          <a:prstGeom prst="rect">
            <a:avLst/>
          </a:prstGeom>
          <a:noFill/>
        </p:spPr>
        <p:txBody>
          <a:bodyPr wrap="none" rtlCol="0">
            <a:spAutoFit/>
          </a:bodyPr>
          <a:lstStyle/>
          <a:p>
            <a:r>
              <a:rPr lang="en-RU" sz="4000" dirty="0"/>
              <a:t>GitHub – </a:t>
            </a:r>
            <a:r>
              <a:rPr lang="ru-RU" sz="4000" dirty="0"/>
              <a:t>хостинг репозиториев</a:t>
            </a:r>
            <a:endParaRPr lang="en-RU" sz="4000" dirty="0"/>
          </a:p>
        </p:txBody>
      </p:sp>
      <p:sp>
        <p:nvSpPr>
          <p:cNvPr id="7" name="TextBox 6">
            <a:extLst>
              <a:ext uri="{FF2B5EF4-FFF2-40B4-BE49-F238E27FC236}">
                <a16:creationId xmlns:a16="http://schemas.microsoft.com/office/drawing/2014/main" id="{3A571FDB-0C92-E107-E561-9169C65537AA}"/>
              </a:ext>
            </a:extLst>
          </p:cNvPr>
          <p:cNvSpPr txBox="1"/>
          <p:nvPr/>
        </p:nvSpPr>
        <p:spPr>
          <a:xfrm>
            <a:off x="2262651" y="1164774"/>
            <a:ext cx="6829591" cy="523220"/>
          </a:xfrm>
          <a:prstGeom prst="rect">
            <a:avLst/>
          </a:prstGeom>
          <a:noFill/>
        </p:spPr>
        <p:txBody>
          <a:bodyPr wrap="square" rtlCol="0">
            <a:spAutoFit/>
          </a:bodyPr>
          <a:lstStyle/>
          <a:p>
            <a:pPr algn="r"/>
            <a:r>
              <a:rPr lang="ru-RU" sz="1400" i="1" dirty="0"/>
              <a:t>Есть другие хостинги</a:t>
            </a:r>
          </a:p>
          <a:p>
            <a:pPr algn="r"/>
            <a:r>
              <a:rPr lang="en-US" sz="1400" i="1" dirty="0"/>
              <a:t>GitLab, </a:t>
            </a:r>
            <a:r>
              <a:rPr lang="en-US" sz="1400" i="1" dirty="0" err="1"/>
              <a:t>Gitea</a:t>
            </a:r>
            <a:r>
              <a:rPr lang="en-US" sz="1400" i="1" dirty="0"/>
              <a:t>, Bitbucket</a:t>
            </a:r>
            <a:r>
              <a:rPr lang="ru-RU" sz="1400" i="1" dirty="0"/>
              <a:t>, внутри организации</a:t>
            </a:r>
            <a:endParaRPr lang="en-RU" sz="1400" i="1" dirty="0"/>
          </a:p>
        </p:txBody>
      </p:sp>
      <p:pic>
        <p:nvPicPr>
          <p:cNvPr id="8" name="Picture 7">
            <a:extLst>
              <a:ext uri="{FF2B5EF4-FFF2-40B4-BE49-F238E27FC236}">
                <a16:creationId xmlns:a16="http://schemas.microsoft.com/office/drawing/2014/main" id="{8D3D47D3-FE9D-C346-82E8-F8B468FACA71}"/>
              </a:ext>
            </a:extLst>
          </p:cNvPr>
          <p:cNvPicPr>
            <a:picLocks noChangeAspect="1"/>
          </p:cNvPicPr>
          <p:nvPr/>
        </p:nvPicPr>
        <p:blipFill>
          <a:blip r:embed="rId5"/>
          <a:srcRect l="2600" t="1097" r="315" b="1659"/>
          <a:stretch/>
        </p:blipFill>
        <p:spPr>
          <a:xfrm>
            <a:off x="4487033" y="3633330"/>
            <a:ext cx="7545823" cy="3095173"/>
          </a:xfrm>
          <a:prstGeom prst="rect">
            <a:avLst/>
          </a:prstGeom>
          <a:ln>
            <a:noFill/>
          </a:ln>
          <a:effectLst>
            <a:glow rad="254000">
              <a:schemeClr val="bg1">
                <a:lumMod val="50000"/>
                <a:alpha val="10000"/>
              </a:schemeClr>
            </a:glow>
          </a:effectLst>
        </p:spPr>
      </p:pic>
      <p:cxnSp>
        <p:nvCxnSpPr>
          <p:cNvPr id="13" name="Straight Arrow Connector 12">
            <a:extLst>
              <a:ext uri="{FF2B5EF4-FFF2-40B4-BE49-F238E27FC236}">
                <a16:creationId xmlns:a16="http://schemas.microsoft.com/office/drawing/2014/main" id="{0AE8B028-7B7C-3825-FE3E-3D25E0CC2660}"/>
              </a:ext>
            </a:extLst>
          </p:cNvPr>
          <p:cNvCxnSpPr>
            <a:cxnSpLocks/>
          </p:cNvCxnSpPr>
          <p:nvPr/>
        </p:nvCxnSpPr>
        <p:spPr>
          <a:xfrm flipH="1">
            <a:off x="6008766" y="2711512"/>
            <a:ext cx="914400"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1E3F7DB4-B48E-52BD-FFFD-A42754091AAD}"/>
              </a:ext>
            </a:extLst>
          </p:cNvPr>
          <p:cNvSpPr txBox="1"/>
          <p:nvPr/>
        </p:nvSpPr>
        <p:spPr>
          <a:xfrm>
            <a:off x="7047101" y="2449902"/>
            <a:ext cx="3536481" cy="523220"/>
          </a:xfrm>
          <a:prstGeom prst="rect">
            <a:avLst/>
          </a:prstGeom>
          <a:noFill/>
        </p:spPr>
        <p:txBody>
          <a:bodyPr wrap="none" rtlCol="0">
            <a:spAutoFit/>
          </a:bodyPr>
          <a:lstStyle/>
          <a:p>
            <a:r>
              <a:rPr lang="ru-RU" sz="2800" dirty="0"/>
              <a:t>Репозиторий</a:t>
            </a:r>
            <a:r>
              <a:rPr lang="en-US" sz="2800" dirty="0"/>
              <a:t> (remote)</a:t>
            </a:r>
            <a:endParaRPr lang="en-RU" sz="2800" dirty="0"/>
          </a:p>
        </p:txBody>
      </p:sp>
    </p:spTree>
    <p:extLst>
      <p:ext uri="{BB962C8B-B14F-4D97-AF65-F5344CB8AC3E}">
        <p14:creationId xmlns:p14="http://schemas.microsoft.com/office/powerpoint/2010/main" val="31816471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1D020-33F5-54BA-A542-1F72D89C280A}"/>
              </a:ext>
            </a:extLst>
          </p:cNvPr>
          <p:cNvSpPr>
            <a:spLocks noGrp="1"/>
          </p:cNvSpPr>
          <p:nvPr>
            <p:ph type="title"/>
          </p:nvPr>
        </p:nvSpPr>
        <p:spPr/>
        <p:txBody>
          <a:bodyPr/>
          <a:lstStyle/>
          <a:p>
            <a:r>
              <a:rPr lang="ru-RU" dirty="0"/>
              <a:t>Для разработки</a:t>
            </a:r>
            <a:endParaRPr lang="en-RU" dirty="0"/>
          </a:p>
        </p:txBody>
      </p:sp>
      <p:pic>
        <p:nvPicPr>
          <p:cNvPr id="4" name="Content Placeholder 3">
            <a:extLst>
              <a:ext uri="{FF2B5EF4-FFF2-40B4-BE49-F238E27FC236}">
                <a16:creationId xmlns:a16="http://schemas.microsoft.com/office/drawing/2014/main" id="{F8D5DAE2-7464-DE52-BD7C-F4583A436FEE}"/>
              </a:ext>
            </a:extLst>
          </p:cNvPr>
          <p:cNvPicPr>
            <a:picLocks noGrp="1" noChangeAspect="1"/>
          </p:cNvPicPr>
          <p:nvPr>
            <p:ph idx="1"/>
          </p:nvPr>
        </p:nvPicPr>
        <p:blipFill>
          <a:blip r:embed="rId3"/>
          <a:stretch>
            <a:fillRect/>
          </a:stretch>
        </p:blipFill>
        <p:spPr>
          <a:xfrm>
            <a:off x="898138" y="1515129"/>
            <a:ext cx="8236605" cy="5123090"/>
          </a:xfrm>
          <a:prstGeom prst="rect">
            <a:avLst/>
          </a:prstGeom>
          <a:effectLst>
            <a:glow rad="317500">
              <a:schemeClr val="bg1">
                <a:lumMod val="50000"/>
                <a:alpha val="3000"/>
              </a:schemeClr>
            </a:glow>
          </a:effectLst>
        </p:spPr>
      </p:pic>
    </p:spTree>
    <p:extLst>
      <p:ext uri="{BB962C8B-B14F-4D97-AF65-F5344CB8AC3E}">
        <p14:creationId xmlns:p14="http://schemas.microsoft.com/office/powerpoint/2010/main" val="8736983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4B0FD55-0B9F-7ABA-FEFA-219E093127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D012C9-2E1C-5945-22BE-C9A19CBF3E7A}"/>
              </a:ext>
            </a:extLst>
          </p:cNvPr>
          <p:cNvSpPr>
            <a:spLocks noGrp="1"/>
          </p:cNvSpPr>
          <p:nvPr>
            <p:ph type="title"/>
          </p:nvPr>
        </p:nvSpPr>
        <p:spPr/>
        <p:txBody>
          <a:bodyPr/>
          <a:lstStyle/>
          <a:p>
            <a:r>
              <a:rPr lang="ru-RU" dirty="0"/>
              <a:t>Для разработки</a:t>
            </a:r>
            <a:endParaRPr lang="en-RU" dirty="0"/>
          </a:p>
        </p:txBody>
      </p:sp>
      <p:pic>
        <p:nvPicPr>
          <p:cNvPr id="4" name="Content Placeholder 3">
            <a:extLst>
              <a:ext uri="{FF2B5EF4-FFF2-40B4-BE49-F238E27FC236}">
                <a16:creationId xmlns:a16="http://schemas.microsoft.com/office/drawing/2014/main" id="{0655467B-1F94-804F-CDC5-777D5169C0E5}"/>
              </a:ext>
            </a:extLst>
          </p:cNvPr>
          <p:cNvPicPr>
            <a:picLocks noGrp="1" noChangeAspect="1"/>
          </p:cNvPicPr>
          <p:nvPr>
            <p:ph idx="1"/>
          </p:nvPr>
        </p:nvPicPr>
        <p:blipFill>
          <a:blip r:embed="rId2"/>
          <a:srcRect/>
          <a:stretch/>
        </p:blipFill>
        <p:spPr>
          <a:xfrm>
            <a:off x="859973" y="1517195"/>
            <a:ext cx="8232667" cy="5120640"/>
          </a:xfrm>
          <a:prstGeom prst="rect">
            <a:avLst/>
          </a:prstGeom>
          <a:effectLst>
            <a:glow rad="317500">
              <a:schemeClr val="bg1">
                <a:lumMod val="50000"/>
                <a:alpha val="3000"/>
              </a:schemeClr>
            </a:glow>
          </a:effectLst>
        </p:spPr>
      </p:pic>
    </p:spTree>
    <p:extLst>
      <p:ext uri="{BB962C8B-B14F-4D97-AF65-F5344CB8AC3E}">
        <p14:creationId xmlns:p14="http://schemas.microsoft.com/office/powerpoint/2010/main" val="41721192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6E450-6FD2-D12E-A51E-FC86AC475E0E}"/>
              </a:ext>
            </a:extLst>
          </p:cNvPr>
          <p:cNvSpPr>
            <a:spLocks noGrp="1"/>
          </p:cNvSpPr>
          <p:nvPr>
            <p:ph type="title"/>
          </p:nvPr>
        </p:nvSpPr>
        <p:spPr/>
        <p:txBody>
          <a:bodyPr/>
          <a:lstStyle/>
          <a:p>
            <a:r>
              <a:rPr lang="ru-RU" dirty="0"/>
              <a:t>Для резюме</a:t>
            </a:r>
            <a:endParaRPr lang="en-RU" dirty="0"/>
          </a:p>
        </p:txBody>
      </p:sp>
      <p:pic>
        <p:nvPicPr>
          <p:cNvPr id="1030" name="Picture 6">
            <a:extLst>
              <a:ext uri="{FF2B5EF4-FFF2-40B4-BE49-F238E27FC236}">
                <a16:creationId xmlns:a16="http://schemas.microsoft.com/office/drawing/2014/main" id="{68808C74-BB12-41A5-3321-371F66D54B3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59972" y="1538285"/>
            <a:ext cx="8940800" cy="5029200"/>
          </a:xfrm>
          <a:prstGeom prst="rect">
            <a:avLst/>
          </a:prstGeom>
          <a:noFill/>
          <a:effectLst>
            <a:glow rad="317500">
              <a:schemeClr val="bg1">
                <a:lumMod val="50000"/>
                <a:alpha val="3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613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CC9C5148-D77D-04F1-3592-DC608A6FA853}"/>
              </a:ext>
            </a:extLst>
          </p:cNvPr>
          <p:cNvPicPr>
            <a:picLocks noGrp="1" noChangeAspect="1"/>
          </p:cNvPicPr>
          <p:nvPr>
            <p:ph idx="1"/>
          </p:nvPr>
        </p:nvPicPr>
        <p:blipFill>
          <a:blip r:embed="rId3"/>
          <a:srcRect b="1156"/>
          <a:stretch/>
        </p:blipFill>
        <p:spPr>
          <a:xfrm>
            <a:off x="838200" y="1478383"/>
            <a:ext cx="11024299" cy="4956494"/>
          </a:xfrm>
          <a:prstGeom prst="rect">
            <a:avLst/>
          </a:prstGeom>
          <a:effectLst>
            <a:glow rad="317500">
              <a:schemeClr val="bg1">
                <a:lumMod val="50000"/>
                <a:alpha val="3000"/>
              </a:schemeClr>
            </a:glow>
          </a:effectLst>
        </p:spPr>
      </p:pic>
      <p:sp>
        <p:nvSpPr>
          <p:cNvPr id="2" name="Title 1">
            <a:extLst>
              <a:ext uri="{FF2B5EF4-FFF2-40B4-BE49-F238E27FC236}">
                <a16:creationId xmlns:a16="http://schemas.microsoft.com/office/drawing/2014/main" id="{C8D76E4C-D31A-C542-BCC3-FD43575DEFED}"/>
              </a:ext>
            </a:extLst>
          </p:cNvPr>
          <p:cNvSpPr>
            <a:spLocks noGrp="1"/>
          </p:cNvSpPr>
          <p:nvPr>
            <p:ph type="title"/>
          </p:nvPr>
        </p:nvSpPr>
        <p:spPr/>
        <p:txBody>
          <a:bodyPr/>
          <a:lstStyle/>
          <a:p>
            <a:r>
              <a:rPr lang="en-US" dirty="0"/>
              <a:t>RStudio</a:t>
            </a:r>
          </a:p>
        </p:txBody>
      </p:sp>
      <p:cxnSp>
        <p:nvCxnSpPr>
          <p:cNvPr id="3" name="Straight Connector 2">
            <a:extLst>
              <a:ext uri="{FF2B5EF4-FFF2-40B4-BE49-F238E27FC236}">
                <a16:creationId xmlns:a16="http://schemas.microsoft.com/office/drawing/2014/main" id="{E8687276-EB9F-E4F6-D368-86B88B048894}"/>
              </a:ext>
            </a:extLst>
          </p:cNvPr>
          <p:cNvCxnSpPr>
            <a:cxnSpLocks/>
          </p:cNvCxnSpPr>
          <p:nvPr/>
        </p:nvCxnSpPr>
        <p:spPr>
          <a:xfrm>
            <a:off x="9001576" y="2948483"/>
            <a:ext cx="1016000" cy="0"/>
          </a:xfrm>
          <a:prstGeom prst="line">
            <a:avLst/>
          </a:prstGeom>
          <a:ln w="38100">
            <a:solidFill>
              <a:srgbClr val="C0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34985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70CE6-BE57-2A17-DFA6-382168067B90}"/>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B9EA832-FB4A-D8CF-9D80-09A14FA823B4}"/>
              </a:ext>
            </a:extLst>
          </p:cNvPr>
          <p:cNvSpPr>
            <a:spLocks noGrp="1"/>
          </p:cNvSpPr>
          <p:nvPr>
            <p:ph idx="1"/>
          </p:nvPr>
        </p:nvSpPr>
        <p:spPr/>
        <p:txBody>
          <a:bodyPr>
            <a:normAutofit/>
          </a:bodyPr>
          <a:lstStyle/>
          <a:p>
            <a:pPr marL="0" indent="0">
              <a:buNone/>
            </a:pPr>
            <a:r>
              <a:rPr lang="en-US" sz="2000" dirty="0">
                <a:latin typeface="Fira Code" pitchFamily="49" charset="0"/>
                <a:ea typeface="Fira Code" pitchFamily="49" charset="0"/>
                <a:cs typeface="Fira Code" pitchFamily="49" charset="0"/>
              </a:rPr>
              <a:t>$ </a:t>
            </a:r>
            <a:r>
              <a:rPr lang="en-US" sz="2000" dirty="0">
                <a:solidFill>
                  <a:schemeClr val="tx1">
                    <a:lumMod val="50000"/>
                    <a:lumOff val="50000"/>
                  </a:schemeClr>
                </a:solidFill>
                <a:latin typeface="Fira Code" pitchFamily="49" charset="0"/>
                <a:ea typeface="Fira Code" pitchFamily="49" charset="0"/>
                <a:cs typeface="Fira Code" pitchFamily="49" charset="0"/>
              </a:rPr>
              <a:t>command subcommand --long-argument -s arg1 arg2 ...</a:t>
            </a:r>
          </a:p>
          <a:p>
            <a:pPr marL="0" indent="0">
              <a:buNone/>
            </a:pPr>
            <a:endParaRPr lang="en-US" sz="2000" dirty="0">
              <a:latin typeface="Fira Code" pitchFamily="49" charset="0"/>
              <a:ea typeface="Fira Code" pitchFamily="49" charset="0"/>
              <a:cs typeface="Fira Code" pitchFamily="49" charset="0"/>
            </a:endParaRPr>
          </a:p>
          <a:p>
            <a:pPr marL="0" indent="0">
              <a:buNone/>
            </a:pPr>
            <a:r>
              <a:rPr lang="en-US" sz="2000" dirty="0">
                <a:latin typeface="Fira Code" pitchFamily="49" charset="0"/>
                <a:ea typeface="Fira Code" pitchFamily="49" charset="0"/>
                <a:cs typeface="Fira Code" pitchFamily="49" charset="0"/>
              </a:rPr>
              <a:t>$ git config --global </a:t>
            </a:r>
            <a:r>
              <a:rPr lang="en-US" sz="2000" dirty="0" err="1">
                <a:latin typeface="Fira Code" pitchFamily="49" charset="0"/>
                <a:ea typeface="Fira Code" pitchFamily="49" charset="0"/>
                <a:cs typeface="Fira Code" pitchFamily="49" charset="0"/>
              </a:rPr>
              <a:t>user.name</a:t>
            </a:r>
            <a:r>
              <a:rPr lang="en-US" sz="2000" dirty="0">
                <a:latin typeface="Fira Code" pitchFamily="49" charset="0"/>
                <a:ea typeface="Fira Code" pitchFamily="49" charset="0"/>
                <a:cs typeface="Fira Code" pitchFamily="49" charset="0"/>
              </a:rPr>
              <a:t> "Kirill Voronin"</a:t>
            </a:r>
          </a:p>
          <a:p>
            <a:pPr marL="0" indent="0">
              <a:buNone/>
            </a:pPr>
            <a:r>
              <a:rPr lang="en-US" sz="2000" dirty="0">
                <a:latin typeface="Fira Code" pitchFamily="49" charset="0"/>
                <a:ea typeface="Fira Code" pitchFamily="49" charset="0"/>
                <a:cs typeface="Fira Code" pitchFamily="49" charset="0"/>
              </a:rPr>
              <a:t>$ git config --global </a:t>
            </a:r>
            <a:r>
              <a:rPr lang="en-US" sz="2000" dirty="0" err="1">
                <a:latin typeface="Fira Code" pitchFamily="49" charset="0"/>
                <a:ea typeface="Fira Code" pitchFamily="49" charset="0"/>
                <a:cs typeface="Fira Code" pitchFamily="49" charset="0"/>
              </a:rPr>
              <a:t>user.email</a:t>
            </a:r>
            <a:r>
              <a:rPr lang="en-US" sz="2000" dirty="0">
                <a:latin typeface="Fira Code" pitchFamily="49" charset="0"/>
                <a:ea typeface="Fira Code" pitchFamily="49" charset="0"/>
                <a:cs typeface="Fira Code" pitchFamily="49" charset="0"/>
              </a:rPr>
              <a:t> </a:t>
            </a:r>
            <a:r>
              <a:rPr lang="en-US" sz="2000" dirty="0" err="1">
                <a:latin typeface="Fira Code" pitchFamily="49" charset="0"/>
                <a:ea typeface="Fira Code" pitchFamily="49" charset="0"/>
                <a:cs typeface="Fira Code" pitchFamily="49" charset="0"/>
              </a:rPr>
              <a:t>imvoroninkir@gmail.com</a:t>
            </a:r>
            <a:endParaRPr lang="en-US" sz="2000" dirty="0">
              <a:latin typeface="Fira Code" pitchFamily="49" charset="0"/>
              <a:ea typeface="Fira Code" pitchFamily="49" charset="0"/>
              <a:cs typeface="Fira Code" pitchFamily="49" charset="0"/>
            </a:endParaRPr>
          </a:p>
          <a:p>
            <a:pPr marL="0" indent="0">
              <a:buNone/>
            </a:pPr>
            <a:endParaRPr lang="en-US" sz="2000" dirty="0">
              <a:latin typeface="Fira Code" pitchFamily="49" charset="0"/>
              <a:ea typeface="Fira Code" pitchFamily="49" charset="0"/>
              <a:cs typeface="Fira Code" pitchFamily="49" charset="0"/>
            </a:endParaRPr>
          </a:p>
          <a:p>
            <a:pPr marL="0" indent="0">
              <a:buNone/>
            </a:pPr>
            <a:r>
              <a:rPr lang="en-US" sz="2000" dirty="0">
                <a:latin typeface="Fira Code" pitchFamily="49" charset="0"/>
                <a:ea typeface="Fira Code" pitchFamily="49" charset="0"/>
                <a:cs typeface="Fira Code" pitchFamily="49" charset="0"/>
              </a:rPr>
              <a:t>$ git remote add origin https://</a:t>
            </a:r>
            <a:r>
              <a:rPr lang="en-US" sz="2000" dirty="0" err="1">
                <a:latin typeface="Fira Code" pitchFamily="49" charset="0"/>
                <a:ea typeface="Fira Code" pitchFamily="49" charset="0"/>
                <a:cs typeface="Fira Code" pitchFamily="49" charset="0"/>
              </a:rPr>
              <a:t>github.com</a:t>
            </a:r>
            <a:r>
              <a:rPr lang="en-US" sz="2000" dirty="0">
                <a:latin typeface="Fira Code" pitchFamily="49" charset="0"/>
                <a:ea typeface="Fira Code" pitchFamily="49" charset="0"/>
                <a:cs typeface="Fira Code" pitchFamily="49" charset="0"/>
              </a:rPr>
              <a:t>/user/</a:t>
            </a:r>
            <a:r>
              <a:rPr lang="en-US" sz="2000" dirty="0" err="1">
                <a:latin typeface="Fira Code" pitchFamily="49" charset="0"/>
                <a:ea typeface="Fira Code" pitchFamily="49" charset="0"/>
                <a:cs typeface="Fira Code" pitchFamily="49" charset="0"/>
              </a:rPr>
              <a:t>repo.git</a:t>
            </a:r>
            <a:endParaRPr lang="en-US" sz="2000" dirty="0">
              <a:latin typeface="Fira Code" pitchFamily="49" charset="0"/>
              <a:ea typeface="Fira Code" pitchFamily="49" charset="0"/>
              <a:cs typeface="Fira Code" pitchFamily="49" charset="0"/>
            </a:endParaRPr>
          </a:p>
          <a:p>
            <a:pPr marL="0" indent="0">
              <a:buNone/>
            </a:pPr>
            <a:r>
              <a:rPr lang="en-US" sz="2000" dirty="0">
                <a:latin typeface="Fira Code" pitchFamily="49" charset="0"/>
                <a:ea typeface="Fira Code" pitchFamily="49" charset="0"/>
                <a:cs typeface="Fira Code" pitchFamily="49" charset="0"/>
              </a:rPr>
              <a:t>$ git push -u origin main</a:t>
            </a:r>
          </a:p>
        </p:txBody>
      </p:sp>
      <p:sp>
        <p:nvSpPr>
          <p:cNvPr id="2" name="Title 1">
            <a:extLst>
              <a:ext uri="{FF2B5EF4-FFF2-40B4-BE49-F238E27FC236}">
                <a16:creationId xmlns:a16="http://schemas.microsoft.com/office/drawing/2014/main" id="{453BFE19-CC3A-F599-C1A0-9A5BD63B69EA}"/>
              </a:ext>
            </a:extLst>
          </p:cNvPr>
          <p:cNvSpPr>
            <a:spLocks noGrp="1"/>
          </p:cNvSpPr>
          <p:nvPr>
            <p:ph type="title"/>
          </p:nvPr>
        </p:nvSpPr>
        <p:spPr/>
        <p:txBody>
          <a:bodyPr/>
          <a:lstStyle/>
          <a:p>
            <a:r>
              <a:rPr lang="ru-RU" dirty="0"/>
              <a:t>Терминал</a:t>
            </a:r>
            <a:endParaRPr lang="en-US" dirty="0"/>
          </a:p>
        </p:txBody>
      </p:sp>
    </p:spTree>
    <p:extLst>
      <p:ext uri="{BB962C8B-B14F-4D97-AF65-F5344CB8AC3E}">
        <p14:creationId xmlns:p14="http://schemas.microsoft.com/office/powerpoint/2010/main" val="16052887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4E792-9674-46E0-E550-DD37A684C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EDEDE-3463-0C07-A881-EA74A713E6E9}"/>
              </a:ext>
            </a:extLst>
          </p:cNvPr>
          <p:cNvSpPr>
            <a:spLocks noGrp="1"/>
          </p:cNvSpPr>
          <p:nvPr>
            <p:ph type="title"/>
          </p:nvPr>
        </p:nvSpPr>
        <p:spPr/>
        <p:txBody>
          <a:bodyPr/>
          <a:lstStyle/>
          <a:p>
            <a:r>
              <a:rPr lang="ru-RU" dirty="0"/>
              <a:t>Рабочая область</a:t>
            </a:r>
            <a:r>
              <a:rPr lang="en-US" dirty="0"/>
              <a:t> </a:t>
            </a:r>
            <a:r>
              <a:rPr lang="en-US" dirty="0">
                <a:latin typeface="Fira Code" pitchFamily="49" charset="0"/>
                <a:ea typeface="Fira Code" pitchFamily="49" charset="0"/>
                <a:cs typeface="Fira Code" pitchFamily="49" charset="0"/>
              </a:rPr>
              <a:t>(Working tree)</a:t>
            </a:r>
            <a:endParaRPr lang="en-RU" dirty="0">
              <a:latin typeface="Fira Code" pitchFamily="49" charset="0"/>
              <a:ea typeface="Fira Code" pitchFamily="49" charset="0"/>
              <a:cs typeface="Fira Code" pitchFamily="49" charset="0"/>
            </a:endParaRPr>
          </a:p>
        </p:txBody>
      </p:sp>
      <p:pic>
        <p:nvPicPr>
          <p:cNvPr id="13" name="Picture 12">
            <a:extLst>
              <a:ext uri="{FF2B5EF4-FFF2-40B4-BE49-F238E27FC236}">
                <a16:creationId xmlns:a16="http://schemas.microsoft.com/office/drawing/2014/main" id="{6F330382-6D4A-99B0-A3AB-67FFED9DB8C9}"/>
              </a:ext>
            </a:extLst>
          </p:cNvPr>
          <p:cNvPicPr>
            <a:picLocks noChangeAspect="1"/>
          </p:cNvPicPr>
          <p:nvPr/>
        </p:nvPicPr>
        <p:blipFill>
          <a:blip r:embed="rId3"/>
          <a:srcRect/>
          <a:stretch/>
        </p:blipFill>
        <p:spPr>
          <a:xfrm>
            <a:off x="560837" y="1581150"/>
            <a:ext cx="5118100" cy="3695700"/>
          </a:xfrm>
          <a:prstGeom prst="rect">
            <a:avLst/>
          </a:prstGeom>
        </p:spPr>
      </p:pic>
    </p:spTree>
    <p:extLst>
      <p:ext uri="{BB962C8B-B14F-4D97-AF65-F5344CB8AC3E}">
        <p14:creationId xmlns:p14="http://schemas.microsoft.com/office/powerpoint/2010/main" val="28658871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CCF74-015D-454D-F85F-AB26CD6F002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14142BFA-5769-FD77-9819-631BD8EA1937}"/>
              </a:ext>
            </a:extLst>
          </p:cNvPr>
          <p:cNvPicPr>
            <a:picLocks noChangeAspect="1"/>
          </p:cNvPicPr>
          <p:nvPr/>
        </p:nvPicPr>
        <p:blipFill>
          <a:blip r:embed="rId3"/>
          <a:srcRect/>
          <a:stretch/>
        </p:blipFill>
        <p:spPr>
          <a:xfrm>
            <a:off x="560837" y="1581150"/>
            <a:ext cx="5118100" cy="3695700"/>
          </a:xfrm>
          <a:prstGeom prst="rect">
            <a:avLst/>
          </a:prstGeom>
        </p:spPr>
      </p:pic>
      <p:pic>
        <p:nvPicPr>
          <p:cNvPr id="14" name="Picture 13">
            <a:extLst>
              <a:ext uri="{FF2B5EF4-FFF2-40B4-BE49-F238E27FC236}">
                <a16:creationId xmlns:a16="http://schemas.microsoft.com/office/drawing/2014/main" id="{67FE2D99-11CF-8586-8F4F-725D7D9ECE8E}"/>
              </a:ext>
            </a:extLst>
          </p:cNvPr>
          <p:cNvPicPr>
            <a:picLocks noChangeAspect="1"/>
          </p:cNvPicPr>
          <p:nvPr/>
        </p:nvPicPr>
        <p:blipFill>
          <a:blip r:embed="rId4"/>
          <a:srcRect/>
          <a:stretch/>
        </p:blipFill>
        <p:spPr>
          <a:xfrm>
            <a:off x="6282266" y="1772727"/>
            <a:ext cx="5332263" cy="3121325"/>
          </a:xfrm>
          <a:prstGeom prst="rect">
            <a:avLst/>
          </a:prstGeom>
          <a:effectLst>
            <a:glow rad="317500">
              <a:schemeClr val="bg1">
                <a:lumMod val="50000"/>
                <a:alpha val="3000"/>
              </a:schemeClr>
            </a:glow>
            <a:softEdge rad="0"/>
          </a:effectLst>
        </p:spPr>
      </p:pic>
      <p:sp>
        <p:nvSpPr>
          <p:cNvPr id="11" name="Title 1">
            <a:extLst>
              <a:ext uri="{FF2B5EF4-FFF2-40B4-BE49-F238E27FC236}">
                <a16:creationId xmlns:a16="http://schemas.microsoft.com/office/drawing/2014/main" id="{38428EA8-770A-0BEE-DFED-762706CDF8FE}"/>
              </a:ext>
            </a:extLst>
          </p:cNvPr>
          <p:cNvSpPr>
            <a:spLocks noGrp="1"/>
          </p:cNvSpPr>
          <p:nvPr>
            <p:ph type="title"/>
          </p:nvPr>
        </p:nvSpPr>
        <p:spPr>
          <a:xfrm>
            <a:off x="838200" y="365125"/>
            <a:ext cx="10515600" cy="1325563"/>
          </a:xfrm>
        </p:spPr>
        <p:txBody>
          <a:bodyPr/>
          <a:lstStyle/>
          <a:p>
            <a:r>
              <a:rPr lang="ru-RU" dirty="0"/>
              <a:t>Рабочая область</a:t>
            </a:r>
            <a:r>
              <a:rPr lang="en-US" dirty="0"/>
              <a:t> </a:t>
            </a:r>
            <a:r>
              <a:rPr lang="en-US" dirty="0">
                <a:latin typeface="Fira Code" pitchFamily="49" charset="0"/>
                <a:ea typeface="Fira Code" pitchFamily="49" charset="0"/>
                <a:cs typeface="Fira Code" pitchFamily="49" charset="0"/>
              </a:rPr>
              <a:t>(Working tree)</a:t>
            </a:r>
            <a:endParaRPr lang="en-RU" dirty="0">
              <a:latin typeface="Fira Code" pitchFamily="49" charset="0"/>
              <a:ea typeface="Fira Code" pitchFamily="49" charset="0"/>
              <a:cs typeface="Fira Code" pitchFamily="49" charset="0"/>
            </a:endParaRPr>
          </a:p>
        </p:txBody>
      </p:sp>
      <p:sp>
        <p:nvSpPr>
          <p:cNvPr id="2" name="TextBox 1">
            <a:extLst>
              <a:ext uri="{FF2B5EF4-FFF2-40B4-BE49-F238E27FC236}">
                <a16:creationId xmlns:a16="http://schemas.microsoft.com/office/drawing/2014/main" id="{59A0D1B9-B32A-3046-2BA4-EB9F0A1D37E2}"/>
              </a:ext>
            </a:extLst>
          </p:cNvPr>
          <p:cNvSpPr txBox="1"/>
          <p:nvPr/>
        </p:nvSpPr>
        <p:spPr>
          <a:xfrm>
            <a:off x="838200" y="6469336"/>
            <a:ext cx="10776329" cy="338554"/>
          </a:xfrm>
          <a:prstGeom prst="rect">
            <a:avLst/>
          </a:prstGeom>
          <a:noFill/>
        </p:spPr>
        <p:txBody>
          <a:bodyPr wrap="square" rtlCol="0">
            <a:spAutoFit/>
          </a:bodyPr>
          <a:lstStyle/>
          <a:p>
            <a:r>
              <a:rPr lang="en-US" sz="1600" dirty="0">
                <a:latin typeface="Fira Code" pitchFamily="49" charset="0"/>
                <a:ea typeface="Fira Code" pitchFamily="49" charset="0"/>
                <a:cs typeface="Fira Code" pitchFamily="49" charset="0"/>
              </a:rPr>
              <a:t>$ git status</a:t>
            </a:r>
          </a:p>
        </p:txBody>
      </p:sp>
    </p:spTree>
    <p:extLst>
      <p:ext uri="{BB962C8B-B14F-4D97-AF65-F5344CB8AC3E}">
        <p14:creationId xmlns:p14="http://schemas.microsoft.com/office/powerpoint/2010/main" val="39348188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B773B-58FC-7B28-3F0F-892119E67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1071F-D388-F0F4-6F0F-FF6C092E6C75}"/>
              </a:ext>
            </a:extLst>
          </p:cNvPr>
          <p:cNvSpPr>
            <a:spLocks noGrp="1"/>
          </p:cNvSpPr>
          <p:nvPr>
            <p:ph type="title"/>
          </p:nvPr>
        </p:nvSpPr>
        <p:spPr>
          <a:xfrm>
            <a:off x="838200" y="365125"/>
            <a:ext cx="4475672" cy="1325563"/>
          </a:xfrm>
        </p:spPr>
        <p:txBody>
          <a:bodyPr/>
          <a:lstStyle/>
          <a:p>
            <a:r>
              <a:rPr lang="ru-RU" dirty="0"/>
              <a:t>Рабочая область</a:t>
            </a:r>
            <a:endParaRPr lang="en-RU" dirty="0"/>
          </a:p>
        </p:txBody>
      </p:sp>
      <p:pic>
        <p:nvPicPr>
          <p:cNvPr id="13" name="Picture 12">
            <a:extLst>
              <a:ext uri="{FF2B5EF4-FFF2-40B4-BE49-F238E27FC236}">
                <a16:creationId xmlns:a16="http://schemas.microsoft.com/office/drawing/2014/main" id="{4A8020AD-DD08-E0EC-6497-ED47CE0B7238}"/>
              </a:ext>
            </a:extLst>
          </p:cNvPr>
          <p:cNvPicPr>
            <a:picLocks noChangeAspect="1"/>
          </p:cNvPicPr>
          <p:nvPr/>
        </p:nvPicPr>
        <p:blipFill>
          <a:blip r:embed="rId3"/>
          <a:srcRect/>
          <a:stretch/>
        </p:blipFill>
        <p:spPr>
          <a:xfrm>
            <a:off x="560837" y="1581150"/>
            <a:ext cx="5118100" cy="3695700"/>
          </a:xfrm>
          <a:prstGeom prst="rect">
            <a:avLst/>
          </a:prstGeom>
        </p:spPr>
      </p:pic>
      <p:pic>
        <p:nvPicPr>
          <p:cNvPr id="14" name="Picture 13">
            <a:extLst>
              <a:ext uri="{FF2B5EF4-FFF2-40B4-BE49-F238E27FC236}">
                <a16:creationId xmlns:a16="http://schemas.microsoft.com/office/drawing/2014/main" id="{B3D6A089-5E10-0471-A97A-42B5C0A8BE57}"/>
              </a:ext>
            </a:extLst>
          </p:cNvPr>
          <p:cNvPicPr>
            <a:picLocks noChangeAspect="1"/>
          </p:cNvPicPr>
          <p:nvPr/>
        </p:nvPicPr>
        <p:blipFill>
          <a:blip r:embed="rId4"/>
          <a:srcRect/>
          <a:stretch/>
        </p:blipFill>
        <p:spPr>
          <a:xfrm>
            <a:off x="6282266" y="1784261"/>
            <a:ext cx="5332263" cy="3098256"/>
          </a:xfrm>
          <a:prstGeom prst="rect">
            <a:avLst/>
          </a:prstGeom>
          <a:effectLst>
            <a:glow rad="317500">
              <a:schemeClr val="bg1">
                <a:lumMod val="50000"/>
                <a:alpha val="3000"/>
              </a:schemeClr>
            </a:glow>
          </a:effectLst>
        </p:spPr>
      </p:pic>
      <p:sp>
        <p:nvSpPr>
          <p:cNvPr id="3" name="Title 1">
            <a:extLst>
              <a:ext uri="{FF2B5EF4-FFF2-40B4-BE49-F238E27FC236}">
                <a16:creationId xmlns:a16="http://schemas.microsoft.com/office/drawing/2014/main" id="{66672B33-6A7F-07C1-CD4A-ADAF18556A61}"/>
              </a:ext>
            </a:extLst>
          </p:cNvPr>
          <p:cNvSpPr txBox="1">
            <a:spLocks/>
          </p:cNvSpPr>
          <p:nvPr/>
        </p:nvSpPr>
        <p:spPr>
          <a:xfrm>
            <a:off x="6282266" y="365124"/>
            <a:ext cx="4475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Fira Code" pitchFamily="49" charset="0"/>
                <a:ea typeface="Fira Code" pitchFamily="49" charset="0"/>
                <a:cs typeface="Fira Code" pitchFamily="49" charset="0"/>
              </a:rPr>
              <a:t>Staging</a:t>
            </a:r>
            <a:endParaRPr lang="en-RU" dirty="0">
              <a:latin typeface="Fira Code" pitchFamily="49" charset="0"/>
              <a:ea typeface="Fira Code" pitchFamily="49" charset="0"/>
              <a:cs typeface="Fira Code" pitchFamily="49" charset="0"/>
            </a:endParaRPr>
          </a:p>
        </p:txBody>
      </p:sp>
      <p:sp>
        <p:nvSpPr>
          <p:cNvPr id="4" name="Right Arrow 3">
            <a:extLst>
              <a:ext uri="{FF2B5EF4-FFF2-40B4-BE49-F238E27FC236}">
                <a16:creationId xmlns:a16="http://schemas.microsoft.com/office/drawing/2014/main" id="{D24A4386-90FC-E034-45EE-05788B275841}"/>
              </a:ext>
            </a:extLst>
          </p:cNvPr>
          <p:cNvSpPr/>
          <p:nvPr/>
        </p:nvSpPr>
        <p:spPr>
          <a:xfrm>
            <a:off x="5060059" y="764799"/>
            <a:ext cx="1062351" cy="526211"/>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RU"/>
          </a:p>
        </p:txBody>
      </p:sp>
      <p:sp>
        <p:nvSpPr>
          <p:cNvPr id="5" name="TextBox 4">
            <a:extLst>
              <a:ext uri="{FF2B5EF4-FFF2-40B4-BE49-F238E27FC236}">
                <a16:creationId xmlns:a16="http://schemas.microsoft.com/office/drawing/2014/main" id="{E100165B-9AC7-9553-FC33-6F135114DA0B}"/>
              </a:ext>
            </a:extLst>
          </p:cNvPr>
          <p:cNvSpPr txBox="1"/>
          <p:nvPr/>
        </p:nvSpPr>
        <p:spPr>
          <a:xfrm>
            <a:off x="838200" y="6471855"/>
            <a:ext cx="10776329" cy="338554"/>
          </a:xfrm>
          <a:prstGeom prst="rect">
            <a:avLst/>
          </a:prstGeom>
          <a:noFill/>
        </p:spPr>
        <p:txBody>
          <a:bodyPr wrap="square" rtlCol="0">
            <a:spAutoFit/>
          </a:bodyPr>
          <a:lstStyle/>
          <a:p>
            <a:r>
              <a:rPr lang="en-US" sz="1600" dirty="0">
                <a:latin typeface="Fira Code" pitchFamily="49" charset="0"/>
                <a:ea typeface="Fira Code" pitchFamily="49" charset="0"/>
                <a:cs typeface="Fira Code" pitchFamily="49" charset="0"/>
              </a:rPr>
              <a:t>$ git add 01-hello.Rmd</a:t>
            </a:r>
          </a:p>
        </p:txBody>
      </p:sp>
    </p:spTree>
    <p:extLst>
      <p:ext uri="{BB962C8B-B14F-4D97-AF65-F5344CB8AC3E}">
        <p14:creationId xmlns:p14="http://schemas.microsoft.com/office/powerpoint/2010/main" val="8116209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A3BDE-0A73-A485-F71A-F0156FF95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C419A-6F71-8267-EB06-F5BD5FB0CBBE}"/>
              </a:ext>
            </a:extLst>
          </p:cNvPr>
          <p:cNvSpPr>
            <a:spLocks noGrp="1"/>
          </p:cNvSpPr>
          <p:nvPr>
            <p:ph type="title"/>
          </p:nvPr>
        </p:nvSpPr>
        <p:spPr>
          <a:xfrm>
            <a:off x="838200" y="365125"/>
            <a:ext cx="4475672" cy="1325563"/>
          </a:xfrm>
        </p:spPr>
        <p:txBody>
          <a:bodyPr/>
          <a:lstStyle/>
          <a:p>
            <a:r>
              <a:rPr lang="ru-RU" dirty="0"/>
              <a:t>Рабочая область</a:t>
            </a:r>
            <a:endParaRPr lang="en-RU" dirty="0"/>
          </a:p>
        </p:txBody>
      </p:sp>
      <p:pic>
        <p:nvPicPr>
          <p:cNvPr id="13" name="Picture 12">
            <a:extLst>
              <a:ext uri="{FF2B5EF4-FFF2-40B4-BE49-F238E27FC236}">
                <a16:creationId xmlns:a16="http://schemas.microsoft.com/office/drawing/2014/main" id="{8B0019B6-2CD2-9170-CA87-C3A8F8DEF3C4}"/>
              </a:ext>
            </a:extLst>
          </p:cNvPr>
          <p:cNvPicPr>
            <a:picLocks noChangeAspect="1"/>
          </p:cNvPicPr>
          <p:nvPr/>
        </p:nvPicPr>
        <p:blipFill>
          <a:blip r:embed="rId3"/>
          <a:srcRect/>
          <a:stretch/>
        </p:blipFill>
        <p:spPr>
          <a:xfrm>
            <a:off x="560837" y="1581150"/>
            <a:ext cx="5118100" cy="3695700"/>
          </a:xfrm>
          <a:prstGeom prst="rect">
            <a:avLst/>
          </a:prstGeom>
        </p:spPr>
      </p:pic>
      <p:pic>
        <p:nvPicPr>
          <p:cNvPr id="14" name="Picture 13">
            <a:extLst>
              <a:ext uri="{FF2B5EF4-FFF2-40B4-BE49-F238E27FC236}">
                <a16:creationId xmlns:a16="http://schemas.microsoft.com/office/drawing/2014/main" id="{F0584A78-77EF-71FC-BCC2-2057DD55B1E1}"/>
              </a:ext>
            </a:extLst>
          </p:cNvPr>
          <p:cNvPicPr>
            <a:picLocks noChangeAspect="1"/>
          </p:cNvPicPr>
          <p:nvPr/>
        </p:nvPicPr>
        <p:blipFill>
          <a:blip r:embed="rId4"/>
          <a:srcRect/>
          <a:stretch/>
        </p:blipFill>
        <p:spPr>
          <a:xfrm>
            <a:off x="6282266" y="1788984"/>
            <a:ext cx="5332263" cy="3088810"/>
          </a:xfrm>
          <a:prstGeom prst="rect">
            <a:avLst/>
          </a:prstGeom>
          <a:effectLst>
            <a:glow rad="317500">
              <a:schemeClr val="bg1">
                <a:lumMod val="50000"/>
                <a:alpha val="3000"/>
              </a:schemeClr>
            </a:glow>
          </a:effectLst>
        </p:spPr>
      </p:pic>
      <p:sp>
        <p:nvSpPr>
          <p:cNvPr id="3" name="Title 1">
            <a:extLst>
              <a:ext uri="{FF2B5EF4-FFF2-40B4-BE49-F238E27FC236}">
                <a16:creationId xmlns:a16="http://schemas.microsoft.com/office/drawing/2014/main" id="{6EC1F3D9-0EC4-07D0-98B9-01546E62B1EF}"/>
              </a:ext>
            </a:extLst>
          </p:cNvPr>
          <p:cNvSpPr txBox="1">
            <a:spLocks/>
          </p:cNvSpPr>
          <p:nvPr/>
        </p:nvSpPr>
        <p:spPr>
          <a:xfrm>
            <a:off x="6282266" y="365124"/>
            <a:ext cx="4475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Fira Code" pitchFamily="49" charset="0"/>
                <a:ea typeface="Fira Code" pitchFamily="49" charset="0"/>
                <a:cs typeface="Fira Code" pitchFamily="49" charset="0"/>
              </a:rPr>
              <a:t>Staging</a:t>
            </a:r>
            <a:endParaRPr lang="en-RU" dirty="0">
              <a:latin typeface="Fira Code" pitchFamily="49" charset="0"/>
              <a:ea typeface="Fira Code" pitchFamily="49" charset="0"/>
              <a:cs typeface="Fira Code" pitchFamily="49" charset="0"/>
            </a:endParaRPr>
          </a:p>
        </p:txBody>
      </p:sp>
      <p:sp>
        <p:nvSpPr>
          <p:cNvPr id="4" name="Right Arrow 3">
            <a:extLst>
              <a:ext uri="{FF2B5EF4-FFF2-40B4-BE49-F238E27FC236}">
                <a16:creationId xmlns:a16="http://schemas.microsoft.com/office/drawing/2014/main" id="{569A394F-1F6C-6911-17DF-C86615772EBB}"/>
              </a:ext>
            </a:extLst>
          </p:cNvPr>
          <p:cNvSpPr/>
          <p:nvPr/>
        </p:nvSpPr>
        <p:spPr>
          <a:xfrm>
            <a:off x="5060059" y="764799"/>
            <a:ext cx="1062351" cy="526211"/>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RU"/>
          </a:p>
        </p:txBody>
      </p:sp>
      <p:sp>
        <p:nvSpPr>
          <p:cNvPr id="5" name="TextBox 4">
            <a:extLst>
              <a:ext uri="{FF2B5EF4-FFF2-40B4-BE49-F238E27FC236}">
                <a16:creationId xmlns:a16="http://schemas.microsoft.com/office/drawing/2014/main" id="{C8F4CC05-E581-D030-E858-D9F46507EE3F}"/>
              </a:ext>
            </a:extLst>
          </p:cNvPr>
          <p:cNvSpPr txBox="1"/>
          <p:nvPr/>
        </p:nvSpPr>
        <p:spPr>
          <a:xfrm>
            <a:off x="838200" y="6477406"/>
            <a:ext cx="10776329" cy="338554"/>
          </a:xfrm>
          <a:prstGeom prst="rect">
            <a:avLst/>
          </a:prstGeom>
          <a:noFill/>
        </p:spPr>
        <p:txBody>
          <a:bodyPr wrap="square" rtlCol="0">
            <a:spAutoFit/>
          </a:bodyPr>
          <a:lstStyle/>
          <a:p>
            <a:r>
              <a:rPr lang="en-US" sz="1600" dirty="0">
                <a:latin typeface="Fira Code" pitchFamily="49" charset="0"/>
                <a:ea typeface="Fira Code" pitchFamily="49" charset="0"/>
                <a:cs typeface="Fira Code" pitchFamily="49" charset="0"/>
              </a:rPr>
              <a:t>$ git status</a:t>
            </a:r>
          </a:p>
        </p:txBody>
      </p:sp>
    </p:spTree>
    <p:extLst>
      <p:ext uri="{BB962C8B-B14F-4D97-AF65-F5344CB8AC3E}">
        <p14:creationId xmlns:p14="http://schemas.microsoft.com/office/powerpoint/2010/main" val="33556158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9BBC7-99B1-AF66-1121-14F6F13B63BB}"/>
              </a:ext>
            </a:extLst>
          </p:cNvPr>
          <p:cNvSpPr>
            <a:spLocks noGrp="1"/>
          </p:cNvSpPr>
          <p:nvPr>
            <p:ph type="title"/>
          </p:nvPr>
        </p:nvSpPr>
        <p:spPr/>
        <p:txBody>
          <a:bodyPr/>
          <a:lstStyle/>
          <a:p>
            <a:r>
              <a:rPr lang="ru-RU" dirty="0"/>
              <a:t>Фиксация изменений </a:t>
            </a:r>
            <a:r>
              <a:rPr lang="en-RU" dirty="0">
                <a:latin typeface="Fira Code" pitchFamily="49" charset="0"/>
                <a:ea typeface="Fira Code" pitchFamily="49" charset="0"/>
                <a:cs typeface="Fira Code" pitchFamily="49" charset="0"/>
              </a:rPr>
              <a:t>(Commit)</a:t>
            </a:r>
          </a:p>
        </p:txBody>
      </p:sp>
      <p:pic>
        <p:nvPicPr>
          <p:cNvPr id="14" name="Content Placeholder 13">
            <a:extLst>
              <a:ext uri="{FF2B5EF4-FFF2-40B4-BE49-F238E27FC236}">
                <a16:creationId xmlns:a16="http://schemas.microsoft.com/office/drawing/2014/main" id="{5366FBAC-0CFF-00EF-68C3-584A62099B36}"/>
              </a:ext>
            </a:extLst>
          </p:cNvPr>
          <p:cNvPicPr>
            <a:picLocks noGrp="1" noChangeAspect="1"/>
          </p:cNvPicPr>
          <p:nvPr>
            <p:ph idx="1"/>
          </p:nvPr>
        </p:nvPicPr>
        <p:blipFill>
          <a:blip r:embed="rId2"/>
          <a:srcRect/>
          <a:stretch/>
        </p:blipFill>
        <p:spPr>
          <a:xfrm>
            <a:off x="622372" y="1342545"/>
            <a:ext cx="6762276" cy="5375767"/>
          </a:xfrm>
          <a:prstGeom prst="rect">
            <a:avLst/>
          </a:prstGeom>
        </p:spPr>
      </p:pic>
      <p:sp>
        <p:nvSpPr>
          <p:cNvPr id="3" name="TextBox 2">
            <a:extLst>
              <a:ext uri="{FF2B5EF4-FFF2-40B4-BE49-F238E27FC236}">
                <a16:creationId xmlns:a16="http://schemas.microsoft.com/office/drawing/2014/main" id="{9DD8D73C-1370-0B7B-F81C-9C11D543AB92}"/>
              </a:ext>
            </a:extLst>
          </p:cNvPr>
          <p:cNvSpPr txBox="1"/>
          <p:nvPr/>
        </p:nvSpPr>
        <p:spPr>
          <a:xfrm>
            <a:off x="838200" y="6477406"/>
            <a:ext cx="10776329" cy="338554"/>
          </a:xfrm>
          <a:prstGeom prst="rect">
            <a:avLst/>
          </a:prstGeom>
          <a:noFill/>
        </p:spPr>
        <p:txBody>
          <a:bodyPr wrap="square" rtlCol="0">
            <a:spAutoFit/>
          </a:bodyPr>
          <a:lstStyle/>
          <a:p>
            <a:r>
              <a:rPr lang="en-US" sz="1600" dirty="0">
                <a:latin typeface="Fira Code" pitchFamily="49" charset="0"/>
                <a:ea typeface="Fira Code" pitchFamily="49" charset="0"/>
                <a:cs typeface="Fira Code" pitchFamily="49" charset="0"/>
              </a:rPr>
              <a:t>$ git commit –m "Created an </a:t>
            </a:r>
            <a:r>
              <a:rPr lang="en-US" sz="1600" dirty="0" err="1">
                <a:latin typeface="Fira Code" pitchFamily="49" charset="0"/>
                <a:ea typeface="Fira Code" pitchFamily="49" charset="0"/>
                <a:cs typeface="Fira Code" pitchFamily="49" charset="0"/>
              </a:rPr>
              <a:t>Rmarkdown</a:t>
            </a:r>
            <a:r>
              <a:rPr lang="en-US" sz="1600" dirty="0">
                <a:latin typeface="Fira Code" pitchFamily="49" charset="0"/>
                <a:ea typeface="Fira Code" pitchFamily="49" charset="0"/>
                <a:cs typeface="Fira Code" pitchFamily="49" charset="0"/>
              </a:rPr>
              <a:t> file"</a:t>
            </a:r>
          </a:p>
        </p:txBody>
      </p:sp>
    </p:spTree>
    <p:extLst>
      <p:ext uri="{BB962C8B-B14F-4D97-AF65-F5344CB8AC3E}">
        <p14:creationId xmlns:p14="http://schemas.microsoft.com/office/powerpoint/2010/main" val="37721758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6F472-3E74-ABFE-F7AC-013837C3A914}"/>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26FC4A2B-2D72-BA85-C9DE-DC153E2AC6B3}"/>
              </a:ext>
            </a:extLst>
          </p:cNvPr>
          <p:cNvPicPr>
            <a:picLocks noChangeAspect="1"/>
          </p:cNvPicPr>
          <p:nvPr/>
        </p:nvPicPr>
        <p:blipFill>
          <a:blip r:embed="rId3"/>
          <a:srcRect/>
          <a:stretch/>
        </p:blipFill>
        <p:spPr>
          <a:xfrm>
            <a:off x="560837" y="1581150"/>
            <a:ext cx="5118100" cy="3695700"/>
          </a:xfrm>
          <a:prstGeom prst="rect">
            <a:avLst/>
          </a:prstGeom>
        </p:spPr>
      </p:pic>
      <p:pic>
        <p:nvPicPr>
          <p:cNvPr id="14" name="Picture 13">
            <a:extLst>
              <a:ext uri="{FF2B5EF4-FFF2-40B4-BE49-F238E27FC236}">
                <a16:creationId xmlns:a16="http://schemas.microsoft.com/office/drawing/2014/main" id="{4DBC76A4-4555-15C6-1EB1-24815656EE83}"/>
              </a:ext>
            </a:extLst>
          </p:cNvPr>
          <p:cNvPicPr>
            <a:picLocks noChangeAspect="1"/>
          </p:cNvPicPr>
          <p:nvPr/>
        </p:nvPicPr>
        <p:blipFill>
          <a:blip r:embed="rId4"/>
          <a:srcRect/>
          <a:stretch/>
        </p:blipFill>
        <p:spPr>
          <a:xfrm>
            <a:off x="6282266" y="1795865"/>
            <a:ext cx="5332263" cy="3075047"/>
          </a:xfrm>
          <a:prstGeom prst="rect">
            <a:avLst/>
          </a:prstGeom>
          <a:effectLst>
            <a:glow rad="317500">
              <a:schemeClr val="bg1">
                <a:lumMod val="50000"/>
                <a:alpha val="3000"/>
              </a:schemeClr>
            </a:glow>
          </a:effectLst>
        </p:spPr>
      </p:pic>
      <p:sp>
        <p:nvSpPr>
          <p:cNvPr id="7" name="Title 1">
            <a:extLst>
              <a:ext uri="{FF2B5EF4-FFF2-40B4-BE49-F238E27FC236}">
                <a16:creationId xmlns:a16="http://schemas.microsoft.com/office/drawing/2014/main" id="{132EB316-B59D-3630-4FDF-1EBB5117878D}"/>
              </a:ext>
            </a:extLst>
          </p:cNvPr>
          <p:cNvSpPr>
            <a:spLocks noGrp="1"/>
          </p:cNvSpPr>
          <p:nvPr>
            <p:ph type="title"/>
          </p:nvPr>
        </p:nvSpPr>
        <p:spPr>
          <a:xfrm>
            <a:off x="838200" y="365125"/>
            <a:ext cx="10515600" cy="1325563"/>
          </a:xfrm>
        </p:spPr>
        <p:txBody>
          <a:bodyPr/>
          <a:lstStyle/>
          <a:p>
            <a:r>
              <a:rPr lang="ru-RU" dirty="0"/>
              <a:t>Рабочая область</a:t>
            </a:r>
            <a:r>
              <a:rPr lang="en-US" dirty="0"/>
              <a:t> </a:t>
            </a:r>
            <a:r>
              <a:rPr lang="en-US" dirty="0">
                <a:latin typeface="Fira Code" pitchFamily="49" charset="0"/>
                <a:ea typeface="Fira Code" pitchFamily="49" charset="0"/>
                <a:cs typeface="Fira Code" pitchFamily="49" charset="0"/>
              </a:rPr>
              <a:t>(Working tree)</a:t>
            </a:r>
            <a:endParaRPr lang="en-RU" dirty="0">
              <a:latin typeface="Fira Code" pitchFamily="49" charset="0"/>
              <a:ea typeface="Fira Code" pitchFamily="49" charset="0"/>
              <a:cs typeface="Fira Code" pitchFamily="49" charset="0"/>
            </a:endParaRPr>
          </a:p>
        </p:txBody>
      </p:sp>
      <p:sp>
        <p:nvSpPr>
          <p:cNvPr id="2" name="TextBox 1">
            <a:extLst>
              <a:ext uri="{FF2B5EF4-FFF2-40B4-BE49-F238E27FC236}">
                <a16:creationId xmlns:a16="http://schemas.microsoft.com/office/drawing/2014/main" id="{3B828341-CBC7-3FC9-B480-09E97BC142EC}"/>
              </a:ext>
            </a:extLst>
          </p:cNvPr>
          <p:cNvSpPr txBox="1"/>
          <p:nvPr/>
        </p:nvSpPr>
        <p:spPr>
          <a:xfrm>
            <a:off x="838200" y="6477406"/>
            <a:ext cx="10776329" cy="338554"/>
          </a:xfrm>
          <a:prstGeom prst="rect">
            <a:avLst/>
          </a:prstGeom>
          <a:noFill/>
        </p:spPr>
        <p:txBody>
          <a:bodyPr wrap="square" rtlCol="0">
            <a:spAutoFit/>
          </a:bodyPr>
          <a:lstStyle/>
          <a:p>
            <a:r>
              <a:rPr lang="en-US" sz="1600" dirty="0">
                <a:latin typeface="Fira Code" pitchFamily="49" charset="0"/>
                <a:ea typeface="Fira Code" pitchFamily="49" charset="0"/>
                <a:cs typeface="Fira Code" pitchFamily="49" charset="0"/>
              </a:rPr>
              <a:t>$ git status</a:t>
            </a:r>
          </a:p>
        </p:txBody>
      </p:sp>
    </p:spTree>
    <p:extLst>
      <p:ext uri="{BB962C8B-B14F-4D97-AF65-F5344CB8AC3E}">
        <p14:creationId xmlns:p14="http://schemas.microsoft.com/office/powerpoint/2010/main" val="18698974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7BC2A-ABD3-6B0B-B1F8-98A5D7E70113}"/>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A82738CB-1048-0FDE-0B01-1F3F97DCABD5}"/>
              </a:ext>
            </a:extLst>
          </p:cNvPr>
          <p:cNvPicPr>
            <a:picLocks noChangeAspect="1"/>
          </p:cNvPicPr>
          <p:nvPr/>
        </p:nvPicPr>
        <p:blipFill>
          <a:blip r:embed="rId3"/>
          <a:srcRect/>
          <a:stretch/>
        </p:blipFill>
        <p:spPr>
          <a:xfrm>
            <a:off x="560837" y="1581150"/>
            <a:ext cx="5118100" cy="3695700"/>
          </a:xfrm>
          <a:prstGeom prst="rect">
            <a:avLst/>
          </a:prstGeom>
        </p:spPr>
      </p:pic>
      <p:pic>
        <p:nvPicPr>
          <p:cNvPr id="14" name="Picture 13">
            <a:extLst>
              <a:ext uri="{FF2B5EF4-FFF2-40B4-BE49-F238E27FC236}">
                <a16:creationId xmlns:a16="http://schemas.microsoft.com/office/drawing/2014/main" id="{2C7E5AD6-45A3-46AF-D9F1-51D9EAB5D504}"/>
              </a:ext>
            </a:extLst>
          </p:cNvPr>
          <p:cNvPicPr>
            <a:picLocks noChangeAspect="1"/>
          </p:cNvPicPr>
          <p:nvPr/>
        </p:nvPicPr>
        <p:blipFill>
          <a:blip r:embed="rId4"/>
          <a:srcRect/>
          <a:stretch/>
        </p:blipFill>
        <p:spPr>
          <a:xfrm>
            <a:off x="6296373" y="1795865"/>
            <a:ext cx="5304049" cy="3075047"/>
          </a:xfrm>
          <a:prstGeom prst="rect">
            <a:avLst/>
          </a:prstGeom>
          <a:effectLst>
            <a:glow rad="317500">
              <a:schemeClr val="bg1">
                <a:lumMod val="50000"/>
                <a:alpha val="3000"/>
              </a:schemeClr>
            </a:glow>
          </a:effectLst>
        </p:spPr>
      </p:pic>
      <p:sp>
        <p:nvSpPr>
          <p:cNvPr id="4" name="Title 1">
            <a:extLst>
              <a:ext uri="{FF2B5EF4-FFF2-40B4-BE49-F238E27FC236}">
                <a16:creationId xmlns:a16="http://schemas.microsoft.com/office/drawing/2014/main" id="{BA77BE2B-7200-DDEB-24C7-2414B46D23EE}"/>
              </a:ext>
            </a:extLst>
          </p:cNvPr>
          <p:cNvSpPr>
            <a:spLocks noGrp="1"/>
          </p:cNvSpPr>
          <p:nvPr>
            <p:ph type="title"/>
          </p:nvPr>
        </p:nvSpPr>
        <p:spPr>
          <a:xfrm>
            <a:off x="838200" y="365125"/>
            <a:ext cx="10515600" cy="1325563"/>
          </a:xfrm>
        </p:spPr>
        <p:txBody>
          <a:bodyPr/>
          <a:lstStyle/>
          <a:p>
            <a:r>
              <a:rPr lang="ru-RU" dirty="0"/>
              <a:t>Рабочая область</a:t>
            </a:r>
            <a:r>
              <a:rPr lang="en-US" dirty="0"/>
              <a:t> </a:t>
            </a:r>
            <a:r>
              <a:rPr lang="en-US" dirty="0">
                <a:latin typeface="Fira Code" pitchFamily="49" charset="0"/>
                <a:ea typeface="Fira Code" pitchFamily="49" charset="0"/>
                <a:cs typeface="Fira Code" pitchFamily="49" charset="0"/>
              </a:rPr>
              <a:t>(Working tree)</a:t>
            </a:r>
            <a:endParaRPr lang="en-RU" dirty="0">
              <a:latin typeface="Fira Code" pitchFamily="49" charset="0"/>
              <a:ea typeface="Fira Code" pitchFamily="49" charset="0"/>
              <a:cs typeface="Fira Code" pitchFamily="49" charset="0"/>
            </a:endParaRPr>
          </a:p>
        </p:txBody>
      </p:sp>
      <p:sp>
        <p:nvSpPr>
          <p:cNvPr id="2" name="TextBox 1">
            <a:extLst>
              <a:ext uri="{FF2B5EF4-FFF2-40B4-BE49-F238E27FC236}">
                <a16:creationId xmlns:a16="http://schemas.microsoft.com/office/drawing/2014/main" id="{C73358CB-DC85-F6BD-1466-5DD761BC1489}"/>
              </a:ext>
            </a:extLst>
          </p:cNvPr>
          <p:cNvSpPr txBox="1"/>
          <p:nvPr/>
        </p:nvSpPr>
        <p:spPr>
          <a:xfrm>
            <a:off x="838200" y="6057781"/>
            <a:ext cx="10776329" cy="800219"/>
          </a:xfrm>
          <a:prstGeom prst="rect">
            <a:avLst/>
          </a:prstGeom>
          <a:noFill/>
        </p:spPr>
        <p:txBody>
          <a:bodyPr wrap="square" rtlCol="0">
            <a:spAutoFit/>
          </a:bodyPr>
          <a:lstStyle/>
          <a:p>
            <a:pPr>
              <a:lnSpc>
                <a:spcPct val="150000"/>
              </a:lnSpc>
            </a:pPr>
            <a:r>
              <a:rPr lang="en-US" sz="1600" dirty="0">
                <a:latin typeface="Fira Code" pitchFamily="49" charset="0"/>
                <a:ea typeface="Fira Code" pitchFamily="49" charset="0"/>
                <a:cs typeface="Fira Code" pitchFamily="49" charset="0"/>
              </a:rPr>
              <a:t>$ git add 01-hello.Rmd</a:t>
            </a:r>
          </a:p>
          <a:p>
            <a:pPr>
              <a:lnSpc>
                <a:spcPct val="150000"/>
              </a:lnSpc>
            </a:pPr>
            <a:r>
              <a:rPr lang="en-US" sz="1600" dirty="0">
                <a:latin typeface="Fira Code" pitchFamily="49" charset="0"/>
                <a:ea typeface="Fira Code" pitchFamily="49" charset="0"/>
                <a:cs typeface="Fira Code" pitchFamily="49" charset="0"/>
              </a:rPr>
              <a:t>$ git status</a:t>
            </a:r>
          </a:p>
        </p:txBody>
      </p:sp>
    </p:spTree>
    <p:extLst>
      <p:ext uri="{BB962C8B-B14F-4D97-AF65-F5344CB8AC3E}">
        <p14:creationId xmlns:p14="http://schemas.microsoft.com/office/powerpoint/2010/main" val="40917652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762AC-891F-B070-FE70-AC602E198D1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5D9C2CB3-3D2F-FD20-127C-AEC2F62797C2}"/>
              </a:ext>
            </a:extLst>
          </p:cNvPr>
          <p:cNvPicPr>
            <a:picLocks noChangeAspect="1"/>
          </p:cNvPicPr>
          <p:nvPr/>
        </p:nvPicPr>
        <p:blipFill>
          <a:blip r:embed="rId3"/>
          <a:srcRect/>
          <a:stretch/>
        </p:blipFill>
        <p:spPr>
          <a:xfrm>
            <a:off x="560837" y="1581150"/>
            <a:ext cx="5118100" cy="3695700"/>
          </a:xfrm>
          <a:prstGeom prst="rect">
            <a:avLst/>
          </a:prstGeom>
        </p:spPr>
      </p:pic>
      <p:pic>
        <p:nvPicPr>
          <p:cNvPr id="14" name="Picture 13">
            <a:extLst>
              <a:ext uri="{FF2B5EF4-FFF2-40B4-BE49-F238E27FC236}">
                <a16:creationId xmlns:a16="http://schemas.microsoft.com/office/drawing/2014/main" id="{DAC669EE-6E2C-726C-17FC-880F30784306}"/>
              </a:ext>
            </a:extLst>
          </p:cNvPr>
          <p:cNvPicPr>
            <a:picLocks noChangeAspect="1"/>
          </p:cNvPicPr>
          <p:nvPr/>
        </p:nvPicPr>
        <p:blipFill>
          <a:blip r:embed="rId4"/>
          <a:srcRect/>
          <a:stretch/>
        </p:blipFill>
        <p:spPr>
          <a:xfrm>
            <a:off x="6296373" y="1795865"/>
            <a:ext cx="5304049" cy="3075047"/>
          </a:xfrm>
          <a:prstGeom prst="rect">
            <a:avLst/>
          </a:prstGeom>
          <a:effectLst>
            <a:glow rad="317500">
              <a:schemeClr val="bg1">
                <a:lumMod val="50000"/>
                <a:alpha val="3000"/>
              </a:schemeClr>
            </a:glow>
          </a:effectLst>
        </p:spPr>
      </p:pic>
      <p:sp>
        <p:nvSpPr>
          <p:cNvPr id="7" name="Title 1">
            <a:extLst>
              <a:ext uri="{FF2B5EF4-FFF2-40B4-BE49-F238E27FC236}">
                <a16:creationId xmlns:a16="http://schemas.microsoft.com/office/drawing/2014/main" id="{D1A4B203-272F-32B5-6A00-526EFFE5F545}"/>
              </a:ext>
            </a:extLst>
          </p:cNvPr>
          <p:cNvSpPr>
            <a:spLocks noGrp="1"/>
          </p:cNvSpPr>
          <p:nvPr>
            <p:ph type="title"/>
          </p:nvPr>
        </p:nvSpPr>
        <p:spPr>
          <a:xfrm>
            <a:off x="838200" y="365125"/>
            <a:ext cx="10515600" cy="1325563"/>
          </a:xfrm>
        </p:spPr>
        <p:txBody>
          <a:bodyPr/>
          <a:lstStyle/>
          <a:p>
            <a:r>
              <a:rPr lang="ru-RU" dirty="0"/>
              <a:t>Фиксация изменений </a:t>
            </a:r>
            <a:r>
              <a:rPr lang="en-RU" dirty="0">
                <a:latin typeface="Fira Code" pitchFamily="49" charset="0"/>
                <a:ea typeface="Fira Code" pitchFamily="49" charset="0"/>
                <a:cs typeface="Fira Code" pitchFamily="49" charset="0"/>
              </a:rPr>
              <a:t>(Commit)</a:t>
            </a:r>
          </a:p>
        </p:txBody>
      </p:sp>
      <p:pic>
        <p:nvPicPr>
          <p:cNvPr id="2" name="Picture 1">
            <a:extLst>
              <a:ext uri="{FF2B5EF4-FFF2-40B4-BE49-F238E27FC236}">
                <a16:creationId xmlns:a16="http://schemas.microsoft.com/office/drawing/2014/main" id="{DB85D5E0-0DFC-EF49-012C-FE707D54A87A}"/>
              </a:ext>
            </a:extLst>
          </p:cNvPr>
          <p:cNvPicPr>
            <a:picLocks noChangeAspect="1"/>
          </p:cNvPicPr>
          <p:nvPr/>
        </p:nvPicPr>
        <p:blipFill>
          <a:blip r:embed="rId5"/>
          <a:srcRect/>
          <a:stretch/>
        </p:blipFill>
        <p:spPr>
          <a:xfrm>
            <a:off x="560837" y="1356862"/>
            <a:ext cx="6048307" cy="5275951"/>
          </a:xfrm>
          <a:prstGeom prst="rect">
            <a:avLst/>
          </a:prstGeom>
        </p:spPr>
      </p:pic>
      <p:sp>
        <p:nvSpPr>
          <p:cNvPr id="3" name="TextBox 2">
            <a:extLst>
              <a:ext uri="{FF2B5EF4-FFF2-40B4-BE49-F238E27FC236}">
                <a16:creationId xmlns:a16="http://schemas.microsoft.com/office/drawing/2014/main" id="{28644188-0EF2-FDE0-BBEA-8205760D57DC}"/>
              </a:ext>
            </a:extLst>
          </p:cNvPr>
          <p:cNvSpPr txBox="1"/>
          <p:nvPr/>
        </p:nvSpPr>
        <p:spPr>
          <a:xfrm>
            <a:off x="838200" y="6477406"/>
            <a:ext cx="10776329" cy="338554"/>
          </a:xfrm>
          <a:prstGeom prst="rect">
            <a:avLst/>
          </a:prstGeom>
          <a:noFill/>
        </p:spPr>
        <p:txBody>
          <a:bodyPr wrap="square" rtlCol="0">
            <a:spAutoFit/>
          </a:bodyPr>
          <a:lstStyle/>
          <a:p>
            <a:r>
              <a:rPr lang="en-US" sz="1600" dirty="0">
                <a:latin typeface="Fira Code" pitchFamily="49" charset="0"/>
                <a:ea typeface="Fira Code" pitchFamily="49" charset="0"/>
                <a:cs typeface="Fira Code" pitchFamily="49" charset="0"/>
              </a:rPr>
              <a:t>$ git commit –m "Draw a sample and calculated it’s median"</a:t>
            </a:r>
          </a:p>
        </p:txBody>
      </p:sp>
    </p:spTree>
    <p:extLst>
      <p:ext uri="{BB962C8B-B14F-4D97-AF65-F5344CB8AC3E}">
        <p14:creationId xmlns:p14="http://schemas.microsoft.com/office/powerpoint/2010/main" val="31205869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0D918-6F25-846D-9DFA-AEF6350E26B2}"/>
              </a:ext>
            </a:extLst>
          </p:cNvPr>
          <p:cNvSpPr>
            <a:spLocks noGrp="1"/>
          </p:cNvSpPr>
          <p:nvPr>
            <p:ph type="title"/>
          </p:nvPr>
        </p:nvSpPr>
        <p:spPr/>
        <p:txBody>
          <a:bodyPr/>
          <a:lstStyle/>
          <a:p>
            <a:r>
              <a:rPr lang="ru-RU" dirty="0"/>
              <a:t>Итеративный процесс работы</a:t>
            </a:r>
            <a:endParaRPr lang="en-RU" dirty="0"/>
          </a:p>
        </p:txBody>
      </p:sp>
      <p:sp>
        <p:nvSpPr>
          <p:cNvPr id="4" name="Rectangle 3">
            <a:extLst>
              <a:ext uri="{FF2B5EF4-FFF2-40B4-BE49-F238E27FC236}">
                <a16:creationId xmlns:a16="http://schemas.microsoft.com/office/drawing/2014/main" id="{F9BE4928-13C4-25FD-C662-F0CB63621495}"/>
              </a:ext>
            </a:extLst>
          </p:cNvPr>
          <p:cNvSpPr/>
          <p:nvPr/>
        </p:nvSpPr>
        <p:spPr>
          <a:xfrm>
            <a:off x="1241785" y="1924105"/>
            <a:ext cx="2037031" cy="52612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solidFill>
              </a:rPr>
              <a:t>Рабочая область</a:t>
            </a:r>
            <a:endParaRPr lang="en-RU" sz="2000" dirty="0">
              <a:solidFill>
                <a:schemeClr val="tx1"/>
              </a:solidFill>
            </a:endParaRPr>
          </a:p>
        </p:txBody>
      </p:sp>
      <p:pic>
        <p:nvPicPr>
          <p:cNvPr id="18" name="Picture 17">
            <a:extLst>
              <a:ext uri="{FF2B5EF4-FFF2-40B4-BE49-F238E27FC236}">
                <a16:creationId xmlns:a16="http://schemas.microsoft.com/office/drawing/2014/main" id="{E09D5773-25A5-51CA-4126-C353E7265863}"/>
              </a:ext>
            </a:extLst>
          </p:cNvPr>
          <p:cNvPicPr>
            <a:picLocks noChangeAspect="1"/>
          </p:cNvPicPr>
          <p:nvPr/>
        </p:nvPicPr>
        <p:blipFill>
          <a:blip r:embed="rId3"/>
          <a:srcRect/>
          <a:stretch/>
        </p:blipFill>
        <p:spPr>
          <a:xfrm>
            <a:off x="6282266" y="1772727"/>
            <a:ext cx="5332263" cy="3121325"/>
          </a:xfrm>
          <a:prstGeom prst="rect">
            <a:avLst/>
          </a:prstGeom>
          <a:effectLst>
            <a:glow rad="317500">
              <a:schemeClr val="bg1">
                <a:lumMod val="50000"/>
                <a:alpha val="3000"/>
              </a:schemeClr>
            </a:glow>
            <a:softEdge rad="0"/>
          </a:effectLst>
        </p:spPr>
      </p:pic>
    </p:spTree>
    <p:extLst>
      <p:ext uri="{BB962C8B-B14F-4D97-AF65-F5344CB8AC3E}">
        <p14:creationId xmlns:p14="http://schemas.microsoft.com/office/powerpoint/2010/main" val="22393492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5818C-E65E-31C3-2D21-CDBCD55123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3B05E-9588-3521-7A09-68E37D4E37E1}"/>
              </a:ext>
            </a:extLst>
          </p:cNvPr>
          <p:cNvSpPr>
            <a:spLocks noGrp="1"/>
          </p:cNvSpPr>
          <p:nvPr>
            <p:ph type="title"/>
          </p:nvPr>
        </p:nvSpPr>
        <p:spPr/>
        <p:txBody>
          <a:bodyPr/>
          <a:lstStyle/>
          <a:p>
            <a:r>
              <a:rPr lang="ru-RU" dirty="0"/>
              <a:t>Итеративный процесс работы</a:t>
            </a:r>
            <a:endParaRPr lang="en-RU" dirty="0"/>
          </a:p>
        </p:txBody>
      </p:sp>
      <p:sp>
        <p:nvSpPr>
          <p:cNvPr id="4" name="Rectangle 3">
            <a:extLst>
              <a:ext uri="{FF2B5EF4-FFF2-40B4-BE49-F238E27FC236}">
                <a16:creationId xmlns:a16="http://schemas.microsoft.com/office/drawing/2014/main" id="{C5A3FAC3-445F-E79E-C0EC-CC16FA8AA0F2}"/>
              </a:ext>
            </a:extLst>
          </p:cNvPr>
          <p:cNvSpPr/>
          <p:nvPr/>
        </p:nvSpPr>
        <p:spPr>
          <a:xfrm>
            <a:off x="1241785" y="1924105"/>
            <a:ext cx="2037031" cy="52612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solidFill>
              </a:rPr>
              <a:t>Рабочая область</a:t>
            </a:r>
            <a:endParaRPr lang="en-RU" sz="2000" dirty="0">
              <a:solidFill>
                <a:schemeClr val="tx1"/>
              </a:solidFill>
            </a:endParaRPr>
          </a:p>
        </p:txBody>
      </p:sp>
      <p:sp>
        <p:nvSpPr>
          <p:cNvPr id="5" name="Rectangle 4">
            <a:extLst>
              <a:ext uri="{FF2B5EF4-FFF2-40B4-BE49-F238E27FC236}">
                <a16:creationId xmlns:a16="http://schemas.microsoft.com/office/drawing/2014/main" id="{572181CE-C1B5-E842-F639-90B1F71607E3}"/>
              </a:ext>
            </a:extLst>
          </p:cNvPr>
          <p:cNvSpPr/>
          <p:nvPr/>
        </p:nvSpPr>
        <p:spPr>
          <a:xfrm>
            <a:off x="2845100" y="2998257"/>
            <a:ext cx="2037031" cy="52612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Staging</a:t>
            </a:r>
            <a:endParaRPr lang="en-RU" sz="2000" dirty="0">
              <a:solidFill>
                <a:schemeClr val="tx1"/>
              </a:solidFill>
            </a:endParaRPr>
          </a:p>
        </p:txBody>
      </p:sp>
      <p:cxnSp>
        <p:nvCxnSpPr>
          <p:cNvPr id="7" name="Curved Connector 6">
            <a:extLst>
              <a:ext uri="{FF2B5EF4-FFF2-40B4-BE49-F238E27FC236}">
                <a16:creationId xmlns:a16="http://schemas.microsoft.com/office/drawing/2014/main" id="{9A34949A-FE30-16A9-6550-3940B20E4EA7}"/>
              </a:ext>
            </a:extLst>
          </p:cNvPr>
          <p:cNvCxnSpPr>
            <a:stCxn id="4" idx="3"/>
            <a:endCxn id="5" idx="0"/>
          </p:cNvCxnSpPr>
          <p:nvPr/>
        </p:nvCxnSpPr>
        <p:spPr>
          <a:xfrm>
            <a:off x="3278816" y="2187167"/>
            <a:ext cx="584800" cy="81109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pic>
        <p:nvPicPr>
          <p:cNvPr id="19" name="Picture 18">
            <a:extLst>
              <a:ext uri="{FF2B5EF4-FFF2-40B4-BE49-F238E27FC236}">
                <a16:creationId xmlns:a16="http://schemas.microsoft.com/office/drawing/2014/main" id="{4BF90E56-FD69-A679-9CE0-A6DC852A46C9}"/>
              </a:ext>
            </a:extLst>
          </p:cNvPr>
          <p:cNvPicPr>
            <a:picLocks noChangeAspect="1"/>
          </p:cNvPicPr>
          <p:nvPr/>
        </p:nvPicPr>
        <p:blipFill>
          <a:blip r:embed="rId2"/>
          <a:srcRect/>
          <a:stretch/>
        </p:blipFill>
        <p:spPr>
          <a:xfrm>
            <a:off x="6282266" y="1784261"/>
            <a:ext cx="5332263" cy="3098256"/>
          </a:xfrm>
          <a:prstGeom prst="rect">
            <a:avLst/>
          </a:prstGeom>
          <a:effectLst>
            <a:glow rad="317500">
              <a:schemeClr val="bg1">
                <a:lumMod val="50000"/>
                <a:alpha val="3000"/>
              </a:schemeClr>
            </a:glow>
          </a:effectLst>
        </p:spPr>
      </p:pic>
      <p:sp>
        <p:nvSpPr>
          <p:cNvPr id="3" name="TextBox 2">
            <a:extLst>
              <a:ext uri="{FF2B5EF4-FFF2-40B4-BE49-F238E27FC236}">
                <a16:creationId xmlns:a16="http://schemas.microsoft.com/office/drawing/2014/main" id="{2BA9BA51-F68F-8D9E-59F1-41A74674DA0F}"/>
              </a:ext>
            </a:extLst>
          </p:cNvPr>
          <p:cNvSpPr txBox="1"/>
          <p:nvPr/>
        </p:nvSpPr>
        <p:spPr>
          <a:xfrm>
            <a:off x="838200" y="6477406"/>
            <a:ext cx="10776329" cy="338554"/>
          </a:xfrm>
          <a:prstGeom prst="rect">
            <a:avLst/>
          </a:prstGeom>
          <a:noFill/>
        </p:spPr>
        <p:txBody>
          <a:bodyPr wrap="square" rtlCol="0">
            <a:spAutoFit/>
          </a:bodyPr>
          <a:lstStyle/>
          <a:p>
            <a:r>
              <a:rPr lang="en-US" sz="1600" dirty="0">
                <a:latin typeface="Fira Code" pitchFamily="49" charset="0"/>
                <a:ea typeface="Fira Code" pitchFamily="49" charset="0"/>
                <a:cs typeface="Fira Code" pitchFamily="49" charset="0"/>
              </a:rPr>
              <a:t>$ git add 01-hello.Rmd</a:t>
            </a:r>
          </a:p>
        </p:txBody>
      </p:sp>
    </p:spTree>
    <p:extLst>
      <p:ext uri="{BB962C8B-B14F-4D97-AF65-F5344CB8AC3E}">
        <p14:creationId xmlns:p14="http://schemas.microsoft.com/office/powerpoint/2010/main" val="5066676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65460-08FA-1373-AD66-634DD577B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43385-C306-3541-167D-8E7D2C7ED31D}"/>
              </a:ext>
            </a:extLst>
          </p:cNvPr>
          <p:cNvSpPr>
            <a:spLocks noGrp="1"/>
          </p:cNvSpPr>
          <p:nvPr>
            <p:ph type="title"/>
          </p:nvPr>
        </p:nvSpPr>
        <p:spPr/>
        <p:txBody>
          <a:bodyPr/>
          <a:lstStyle/>
          <a:p>
            <a:r>
              <a:rPr lang="ru-RU" dirty="0"/>
              <a:t>Итеративный процесс работы</a:t>
            </a:r>
            <a:endParaRPr lang="en-RU" dirty="0"/>
          </a:p>
        </p:txBody>
      </p:sp>
      <p:sp>
        <p:nvSpPr>
          <p:cNvPr id="4" name="Rectangle 3">
            <a:extLst>
              <a:ext uri="{FF2B5EF4-FFF2-40B4-BE49-F238E27FC236}">
                <a16:creationId xmlns:a16="http://schemas.microsoft.com/office/drawing/2014/main" id="{DBEA728D-5C0A-01DB-3800-C940960C9837}"/>
              </a:ext>
            </a:extLst>
          </p:cNvPr>
          <p:cNvSpPr/>
          <p:nvPr/>
        </p:nvSpPr>
        <p:spPr>
          <a:xfrm>
            <a:off x="1241785" y="1924105"/>
            <a:ext cx="2037031" cy="52612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solidFill>
              </a:rPr>
              <a:t>Рабочая область</a:t>
            </a:r>
            <a:endParaRPr lang="en-RU" sz="2000" dirty="0">
              <a:solidFill>
                <a:schemeClr val="tx1"/>
              </a:solidFill>
            </a:endParaRPr>
          </a:p>
        </p:txBody>
      </p:sp>
      <p:sp>
        <p:nvSpPr>
          <p:cNvPr id="5" name="Rectangle 4">
            <a:extLst>
              <a:ext uri="{FF2B5EF4-FFF2-40B4-BE49-F238E27FC236}">
                <a16:creationId xmlns:a16="http://schemas.microsoft.com/office/drawing/2014/main" id="{79EF5CD5-BB31-AB96-1A63-118A026C449B}"/>
              </a:ext>
            </a:extLst>
          </p:cNvPr>
          <p:cNvSpPr/>
          <p:nvPr/>
        </p:nvSpPr>
        <p:spPr>
          <a:xfrm>
            <a:off x="2845100" y="2998257"/>
            <a:ext cx="2037031" cy="52612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Staging</a:t>
            </a:r>
            <a:endParaRPr lang="en-RU" sz="2000" dirty="0">
              <a:solidFill>
                <a:schemeClr val="tx1"/>
              </a:solidFill>
            </a:endParaRPr>
          </a:p>
        </p:txBody>
      </p:sp>
      <p:sp>
        <p:nvSpPr>
          <p:cNvPr id="6" name="Rectangle 5">
            <a:extLst>
              <a:ext uri="{FF2B5EF4-FFF2-40B4-BE49-F238E27FC236}">
                <a16:creationId xmlns:a16="http://schemas.microsoft.com/office/drawing/2014/main" id="{E28E2E2B-1361-063B-C60D-E2B165FABA50}"/>
              </a:ext>
            </a:extLst>
          </p:cNvPr>
          <p:cNvSpPr/>
          <p:nvPr/>
        </p:nvSpPr>
        <p:spPr>
          <a:xfrm>
            <a:off x="2845100" y="4121740"/>
            <a:ext cx="2037031" cy="52612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Commit</a:t>
            </a:r>
            <a:endParaRPr lang="en-RU" sz="2000" dirty="0">
              <a:solidFill>
                <a:schemeClr val="tx1"/>
              </a:solidFill>
            </a:endParaRPr>
          </a:p>
        </p:txBody>
      </p:sp>
      <p:cxnSp>
        <p:nvCxnSpPr>
          <p:cNvPr id="7" name="Curved Connector 6">
            <a:extLst>
              <a:ext uri="{FF2B5EF4-FFF2-40B4-BE49-F238E27FC236}">
                <a16:creationId xmlns:a16="http://schemas.microsoft.com/office/drawing/2014/main" id="{8CEAA71D-32D4-1176-57E8-E09A9B05B4D9}"/>
              </a:ext>
            </a:extLst>
          </p:cNvPr>
          <p:cNvCxnSpPr>
            <a:stCxn id="4" idx="3"/>
            <a:endCxn id="5" idx="0"/>
          </p:cNvCxnSpPr>
          <p:nvPr/>
        </p:nvCxnSpPr>
        <p:spPr>
          <a:xfrm>
            <a:off x="3278816" y="2187167"/>
            <a:ext cx="584800" cy="81109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0" name="Curved Connector 9">
            <a:extLst>
              <a:ext uri="{FF2B5EF4-FFF2-40B4-BE49-F238E27FC236}">
                <a16:creationId xmlns:a16="http://schemas.microsoft.com/office/drawing/2014/main" id="{09940AD1-D1CD-AF69-B989-84E61E1635A8}"/>
              </a:ext>
            </a:extLst>
          </p:cNvPr>
          <p:cNvCxnSpPr>
            <a:stCxn id="5" idx="2"/>
            <a:endCxn id="6" idx="0"/>
          </p:cNvCxnSpPr>
          <p:nvPr/>
        </p:nvCxnSpPr>
        <p:spPr>
          <a:xfrm rot="5400000">
            <a:off x="3564937" y="3823060"/>
            <a:ext cx="597359" cy="12700"/>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pic>
        <p:nvPicPr>
          <p:cNvPr id="20" name="Content Placeholder 13">
            <a:extLst>
              <a:ext uri="{FF2B5EF4-FFF2-40B4-BE49-F238E27FC236}">
                <a16:creationId xmlns:a16="http://schemas.microsoft.com/office/drawing/2014/main" id="{3D0BA53D-4937-D409-D9C0-04351338C16F}"/>
              </a:ext>
            </a:extLst>
          </p:cNvPr>
          <p:cNvPicPr>
            <a:picLocks noGrp="1" noChangeAspect="1"/>
          </p:cNvPicPr>
          <p:nvPr>
            <p:ph idx="1"/>
          </p:nvPr>
        </p:nvPicPr>
        <p:blipFill>
          <a:blip r:embed="rId2"/>
          <a:srcRect/>
          <a:stretch/>
        </p:blipFill>
        <p:spPr>
          <a:xfrm>
            <a:off x="5276889" y="1206169"/>
            <a:ext cx="6843722" cy="5440514"/>
          </a:xfrm>
          <a:prstGeom prst="rect">
            <a:avLst/>
          </a:prstGeom>
        </p:spPr>
      </p:pic>
      <p:sp>
        <p:nvSpPr>
          <p:cNvPr id="3" name="TextBox 2">
            <a:extLst>
              <a:ext uri="{FF2B5EF4-FFF2-40B4-BE49-F238E27FC236}">
                <a16:creationId xmlns:a16="http://schemas.microsoft.com/office/drawing/2014/main" id="{E6A65663-EAA7-E0C5-4A92-8FD77559D15B}"/>
              </a:ext>
            </a:extLst>
          </p:cNvPr>
          <p:cNvSpPr txBox="1"/>
          <p:nvPr/>
        </p:nvSpPr>
        <p:spPr>
          <a:xfrm>
            <a:off x="838200" y="6477406"/>
            <a:ext cx="10776329" cy="338554"/>
          </a:xfrm>
          <a:prstGeom prst="rect">
            <a:avLst/>
          </a:prstGeom>
          <a:noFill/>
        </p:spPr>
        <p:txBody>
          <a:bodyPr wrap="square" rtlCol="0">
            <a:spAutoFit/>
          </a:bodyPr>
          <a:lstStyle/>
          <a:p>
            <a:r>
              <a:rPr lang="en-US" sz="1600" dirty="0">
                <a:latin typeface="Fira Code" pitchFamily="49" charset="0"/>
                <a:ea typeface="Fira Code" pitchFamily="49" charset="0"/>
                <a:cs typeface="Fira Code" pitchFamily="49" charset="0"/>
              </a:rPr>
              <a:t>$ git commit –m "Created an </a:t>
            </a:r>
            <a:r>
              <a:rPr lang="en-US" sz="1600" dirty="0" err="1">
                <a:latin typeface="Fira Code" pitchFamily="49" charset="0"/>
                <a:ea typeface="Fira Code" pitchFamily="49" charset="0"/>
                <a:cs typeface="Fira Code" pitchFamily="49" charset="0"/>
              </a:rPr>
              <a:t>Rmarkdown</a:t>
            </a:r>
            <a:r>
              <a:rPr lang="en-US" sz="1600" dirty="0">
                <a:latin typeface="Fira Code" pitchFamily="49" charset="0"/>
                <a:ea typeface="Fira Code" pitchFamily="49" charset="0"/>
                <a:cs typeface="Fira Code" pitchFamily="49" charset="0"/>
              </a:rPr>
              <a:t> file"</a:t>
            </a:r>
          </a:p>
        </p:txBody>
      </p:sp>
    </p:spTree>
    <p:extLst>
      <p:ext uri="{BB962C8B-B14F-4D97-AF65-F5344CB8AC3E}">
        <p14:creationId xmlns:p14="http://schemas.microsoft.com/office/powerpoint/2010/main" val="30183604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34118-145D-F416-E4D1-8A485F482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52FBD6-5BFE-B1AD-09D3-B8009D2A0883}"/>
              </a:ext>
            </a:extLst>
          </p:cNvPr>
          <p:cNvSpPr>
            <a:spLocks noGrp="1"/>
          </p:cNvSpPr>
          <p:nvPr>
            <p:ph type="title"/>
          </p:nvPr>
        </p:nvSpPr>
        <p:spPr/>
        <p:txBody>
          <a:bodyPr/>
          <a:lstStyle/>
          <a:p>
            <a:r>
              <a:rPr lang="ru-RU" dirty="0"/>
              <a:t>Итеративный процесс работы</a:t>
            </a:r>
            <a:endParaRPr lang="en-RU" dirty="0"/>
          </a:p>
        </p:txBody>
      </p:sp>
      <p:sp>
        <p:nvSpPr>
          <p:cNvPr id="4" name="Rectangle 3">
            <a:extLst>
              <a:ext uri="{FF2B5EF4-FFF2-40B4-BE49-F238E27FC236}">
                <a16:creationId xmlns:a16="http://schemas.microsoft.com/office/drawing/2014/main" id="{5064566D-39E5-9034-2C9A-9DE70F44EC74}"/>
              </a:ext>
            </a:extLst>
          </p:cNvPr>
          <p:cNvSpPr/>
          <p:nvPr/>
        </p:nvSpPr>
        <p:spPr>
          <a:xfrm>
            <a:off x="1241785" y="1924105"/>
            <a:ext cx="2037031" cy="52612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solidFill>
              </a:rPr>
              <a:t>Рабочая область</a:t>
            </a:r>
            <a:endParaRPr lang="en-RU" sz="2000" dirty="0">
              <a:solidFill>
                <a:schemeClr val="tx1"/>
              </a:solidFill>
            </a:endParaRPr>
          </a:p>
        </p:txBody>
      </p:sp>
      <p:sp>
        <p:nvSpPr>
          <p:cNvPr id="5" name="Rectangle 4">
            <a:extLst>
              <a:ext uri="{FF2B5EF4-FFF2-40B4-BE49-F238E27FC236}">
                <a16:creationId xmlns:a16="http://schemas.microsoft.com/office/drawing/2014/main" id="{DDB71C66-8E93-07F8-69A2-71674A6D3289}"/>
              </a:ext>
            </a:extLst>
          </p:cNvPr>
          <p:cNvSpPr/>
          <p:nvPr/>
        </p:nvSpPr>
        <p:spPr>
          <a:xfrm>
            <a:off x="2845100" y="2998257"/>
            <a:ext cx="2037031" cy="52612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Staging</a:t>
            </a:r>
            <a:endParaRPr lang="en-RU" sz="2000" dirty="0">
              <a:solidFill>
                <a:schemeClr val="tx1"/>
              </a:solidFill>
            </a:endParaRPr>
          </a:p>
        </p:txBody>
      </p:sp>
      <p:sp>
        <p:nvSpPr>
          <p:cNvPr id="6" name="Rectangle 5">
            <a:extLst>
              <a:ext uri="{FF2B5EF4-FFF2-40B4-BE49-F238E27FC236}">
                <a16:creationId xmlns:a16="http://schemas.microsoft.com/office/drawing/2014/main" id="{1FC9147A-755D-FC01-ABE8-3DC3E008ABB5}"/>
              </a:ext>
            </a:extLst>
          </p:cNvPr>
          <p:cNvSpPr/>
          <p:nvPr/>
        </p:nvSpPr>
        <p:spPr>
          <a:xfrm>
            <a:off x="2845100" y="4121740"/>
            <a:ext cx="2037031" cy="52612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Commit</a:t>
            </a:r>
            <a:endParaRPr lang="en-RU" sz="2000" dirty="0">
              <a:solidFill>
                <a:schemeClr val="tx1"/>
              </a:solidFill>
            </a:endParaRPr>
          </a:p>
        </p:txBody>
      </p:sp>
      <p:cxnSp>
        <p:nvCxnSpPr>
          <p:cNvPr id="7" name="Curved Connector 6">
            <a:extLst>
              <a:ext uri="{FF2B5EF4-FFF2-40B4-BE49-F238E27FC236}">
                <a16:creationId xmlns:a16="http://schemas.microsoft.com/office/drawing/2014/main" id="{40366D41-F30D-6DA3-894C-AD2EBEAE204D}"/>
              </a:ext>
            </a:extLst>
          </p:cNvPr>
          <p:cNvCxnSpPr>
            <a:stCxn id="4" idx="3"/>
            <a:endCxn id="5" idx="0"/>
          </p:cNvCxnSpPr>
          <p:nvPr/>
        </p:nvCxnSpPr>
        <p:spPr>
          <a:xfrm>
            <a:off x="3278816" y="2187167"/>
            <a:ext cx="584800" cy="81109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0" name="Curved Connector 9">
            <a:extLst>
              <a:ext uri="{FF2B5EF4-FFF2-40B4-BE49-F238E27FC236}">
                <a16:creationId xmlns:a16="http://schemas.microsoft.com/office/drawing/2014/main" id="{2594B3D8-D5DB-C2CC-D9AD-3AB30D496394}"/>
              </a:ext>
            </a:extLst>
          </p:cNvPr>
          <p:cNvCxnSpPr>
            <a:stCxn id="5" idx="2"/>
            <a:endCxn id="6" idx="0"/>
          </p:cNvCxnSpPr>
          <p:nvPr/>
        </p:nvCxnSpPr>
        <p:spPr>
          <a:xfrm rot="5400000">
            <a:off x="3564937" y="3823060"/>
            <a:ext cx="597359" cy="12700"/>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12" name="Curved Connector 11">
            <a:extLst>
              <a:ext uri="{FF2B5EF4-FFF2-40B4-BE49-F238E27FC236}">
                <a16:creationId xmlns:a16="http://schemas.microsoft.com/office/drawing/2014/main" id="{0480D74A-1332-E266-6007-6882C74E1C72}"/>
              </a:ext>
            </a:extLst>
          </p:cNvPr>
          <p:cNvCxnSpPr>
            <a:cxnSpLocks/>
            <a:stCxn id="6" idx="2"/>
            <a:endCxn id="4" idx="1"/>
          </p:cNvCxnSpPr>
          <p:nvPr/>
        </p:nvCxnSpPr>
        <p:spPr>
          <a:xfrm rot="5400000" flipH="1">
            <a:off x="1322352" y="2106601"/>
            <a:ext cx="2460697" cy="2621831"/>
          </a:xfrm>
          <a:prstGeom prst="curvedConnector4">
            <a:avLst>
              <a:gd name="adj1" fmla="val -9290"/>
              <a:gd name="adj2" fmla="val 129948"/>
            </a:avLst>
          </a:prstGeom>
          <a:ln>
            <a:tailEnd type="triangle"/>
          </a:ln>
        </p:spPr>
        <p:style>
          <a:lnRef idx="2">
            <a:schemeClr val="dk1"/>
          </a:lnRef>
          <a:fillRef idx="0">
            <a:schemeClr val="dk1"/>
          </a:fillRef>
          <a:effectRef idx="1">
            <a:schemeClr val="dk1"/>
          </a:effectRef>
          <a:fontRef idx="minor">
            <a:schemeClr val="tx1"/>
          </a:fontRef>
        </p:style>
      </p:cxnSp>
      <p:pic>
        <p:nvPicPr>
          <p:cNvPr id="13" name="Picture 12">
            <a:extLst>
              <a:ext uri="{FF2B5EF4-FFF2-40B4-BE49-F238E27FC236}">
                <a16:creationId xmlns:a16="http://schemas.microsoft.com/office/drawing/2014/main" id="{16125DD1-B995-C632-05ED-17DD618C7D01}"/>
              </a:ext>
            </a:extLst>
          </p:cNvPr>
          <p:cNvPicPr>
            <a:picLocks noChangeAspect="1"/>
          </p:cNvPicPr>
          <p:nvPr/>
        </p:nvPicPr>
        <p:blipFill>
          <a:blip r:embed="rId2"/>
          <a:srcRect/>
          <a:stretch/>
        </p:blipFill>
        <p:spPr>
          <a:xfrm>
            <a:off x="6282266" y="1795865"/>
            <a:ext cx="5332263" cy="3075047"/>
          </a:xfrm>
          <a:prstGeom prst="rect">
            <a:avLst/>
          </a:prstGeom>
          <a:effectLst>
            <a:glow rad="317500">
              <a:schemeClr val="bg1">
                <a:lumMod val="50000"/>
                <a:alpha val="3000"/>
              </a:schemeClr>
            </a:glow>
          </a:effectLst>
        </p:spPr>
      </p:pic>
    </p:spTree>
    <p:extLst>
      <p:ext uri="{BB962C8B-B14F-4D97-AF65-F5344CB8AC3E}">
        <p14:creationId xmlns:p14="http://schemas.microsoft.com/office/powerpoint/2010/main" val="3318830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E5105-516C-42DA-C0DB-F473CA9A39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7ECE7-B1A4-F360-AC6F-4A5A37B5F0FF}"/>
              </a:ext>
            </a:extLst>
          </p:cNvPr>
          <p:cNvSpPr>
            <a:spLocks noGrp="1"/>
          </p:cNvSpPr>
          <p:nvPr>
            <p:ph type="title"/>
          </p:nvPr>
        </p:nvSpPr>
        <p:spPr/>
        <p:txBody>
          <a:bodyPr/>
          <a:lstStyle/>
          <a:p>
            <a:r>
              <a:rPr lang="ru-RU" dirty="0"/>
              <a:t>Итеративный процесс работы</a:t>
            </a:r>
            <a:endParaRPr lang="en-RU" dirty="0"/>
          </a:p>
        </p:txBody>
      </p:sp>
      <p:sp>
        <p:nvSpPr>
          <p:cNvPr id="4" name="Rectangle 3">
            <a:extLst>
              <a:ext uri="{FF2B5EF4-FFF2-40B4-BE49-F238E27FC236}">
                <a16:creationId xmlns:a16="http://schemas.microsoft.com/office/drawing/2014/main" id="{37025819-38E1-2C15-CC59-D3CCBAFD7226}"/>
              </a:ext>
            </a:extLst>
          </p:cNvPr>
          <p:cNvSpPr/>
          <p:nvPr/>
        </p:nvSpPr>
        <p:spPr>
          <a:xfrm>
            <a:off x="1241785" y="1924105"/>
            <a:ext cx="2037031" cy="52612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solidFill>
              </a:rPr>
              <a:t>Рабочая область</a:t>
            </a:r>
            <a:endParaRPr lang="en-RU" sz="2000" dirty="0">
              <a:solidFill>
                <a:schemeClr val="tx1"/>
              </a:solidFill>
            </a:endParaRPr>
          </a:p>
        </p:txBody>
      </p:sp>
      <p:sp>
        <p:nvSpPr>
          <p:cNvPr id="6" name="Rectangle 5">
            <a:extLst>
              <a:ext uri="{FF2B5EF4-FFF2-40B4-BE49-F238E27FC236}">
                <a16:creationId xmlns:a16="http://schemas.microsoft.com/office/drawing/2014/main" id="{A8AD99F3-DC8B-6E91-2FD7-C6B136FAAB36}"/>
              </a:ext>
            </a:extLst>
          </p:cNvPr>
          <p:cNvSpPr/>
          <p:nvPr/>
        </p:nvSpPr>
        <p:spPr>
          <a:xfrm>
            <a:off x="2845100" y="4121740"/>
            <a:ext cx="2037031" cy="52612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Commit</a:t>
            </a:r>
            <a:endParaRPr lang="en-RU" sz="2000" dirty="0">
              <a:solidFill>
                <a:schemeClr val="tx1"/>
              </a:solidFill>
            </a:endParaRPr>
          </a:p>
        </p:txBody>
      </p:sp>
      <p:cxnSp>
        <p:nvCxnSpPr>
          <p:cNvPr id="12" name="Curved Connector 11">
            <a:extLst>
              <a:ext uri="{FF2B5EF4-FFF2-40B4-BE49-F238E27FC236}">
                <a16:creationId xmlns:a16="http://schemas.microsoft.com/office/drawing/2014/main" id="{996B3E39-1F58-1DD3-5D29-7F66D301D40B}"/>
              </a:ext>
            </a:extLst>
          </p:cNvPr>
          <p:cNvCxnSpPr>
            <a:cxnSpLocks/>
            <a:stCxn id="6" idx="1"/>
            <a:endCxn id="4" idx="1"/>
          </p:cNvCxnSpPr>
          <p:nvPr/>
        </p:nvCxnSpPr>
        <p:spPr>
          <a:xfrm rot="10800000">
            <a:off x="1241786" y="2187168"/>
            <a:ext cx="1603315" cy="2197635"/>
          </a:xfrm>
          <a:prstGeom prst="curvedConnector3">
            <a:avLst>
              <a:gd name="adj1" fmla="val 136638"/>
            </a:avLst>
          </a:prstGeom>
          <a:ln>
            <a:headEnd type="arrow" w="med" len="med"/>
            <a:tailEnd type="none" w="med" len="med"/>
          </a:ln>
        </p:spPr>
        <p:style>
          <a:lnRef idx="2">
            <a:schemeClr val="dk1"/>
          </a:lnRef>
          <a:fillRef idx="0">
            <a:schemeClr val="dk1"/>
          </a:fillRef>
          <a:effectRef idx="1">
            <a:schemeClr val="dk1"/>
          </a:effectRef>
          <a:fontRef idx="minor">
            <a:schemeClr val="tx1"/>
          </a:fontRef>
        </p:style>
      </p:cxnSp>
      <p:pic>
        <p:nvPicPr>
          <p:cNvPr id="13" name="Picture 12">
            <a:extLst>
              <a:ext uri="{FF2B5EF4-FFF2-40B4-BE49-F238E27FC236}">
                <a16:creationId xmlns:a16="http://schemas.microsoft.com/office/drawing/2014/main" id="{6CA578E2-295A-1A27-0F03-7045E6FBE4BF}"/>
              </a:ext>
            </a:extLst>
          </p:cNvPr>
          <p:cNvPicPr>
            <a:picLocks noChangeAspect="1"/>
          </p:cNvPicPr>
          <p:nvPr/>
        </p:nvPicPr>
        <p:blipFill>
          <a:blip r:embed="rId2"/>
          <a:srcRect/>
          <a:stretch/>
        </p:blipFill>
        <p:spPr>
          <a:xfrm>
            <a:off x="6291128" y="1695873"/>
            <a:ext cx="5279529" cy="3180224"/>
          </a:xfrm>
          <a:prstGeom prst="rect">
            <a:avLst/>
          </a:prstGeom>
          <a:effectLst>
            <a:glow rad="317500">
              <a:schemeClr val="bg1">
                <a:lumMod val="50000"/>
                <a:alpha val="3000"/>
              </a:schemeClr>
            </a:glow>
          </a:effectLst>
        </p:spPr>
      </p:pic>
      <p:sp>
        <p:nvSpPr>
          <p:cNvPr id="16" name="TextBox 15">
            <a:extLst>
              <a:ext uri="{FF2B5EF4-FFF2-40B4-BE49-F238E27FC236}">
                <a16:creationId xmlns:a16="http://schemas.microsoft.com/office/drawing/2014/main" id="{74FAF965-80BA-FC18-0797-08FC0D5BB8BB}"/>
              </a:ext>
            </a:extLst>
          </p:cNvPr>
          <p:cNvSpPr txBox="1"/>
          <p:nvPr/>
        </p:nvSpPr>
        <p:spPr>
          <a:xfrm>
            <a:off x="838200" y="6015636"/>
            <a:ext cx="10776329" cy="800219"/>
          </a:xfrm>
          <a:prstGeom prst="rect">
            <a:avLst/>
          </a:prstGeom>
          <a:noFill/>
        </p:spPr>
        <p:txBody>
          <a:bodyPr wrap="square" rtlCol="0">
            <a:spAutoFit/>
          </a:bodyPr>
          <a:lstStyle/>
          <a:p>
            <a:pPr>
              <a:lnSpc>
                <a:spcPct val="150000"/>
              </a:lnSpc>
            </a:pPr>
            <a:r>
              <a:rPr lang="en-US" sz="1600" dirty="0">
                <a:latin typeface="Fira Code" pitchFamily="49" charset="0"/>
                <a:ea typeface="Fira Code" pitchFamily="49" charset="0"/>
                <a:cs typeface="Fira Code" pitchFamily="49" charset="0"/>
              </a:rPr>
              <a:t>$ git diff 01-hello.Rmd</a:t>
            </a:r>
          </a:p>
          <a:p>
            <a:pPr>
              <a:lnSpc>
                <a:spcPct val="150000"/>
              </a:lnSpc>
            </a:pPr>
            <a:r>
              <a:rPr lang="en-US" sz="1600" dirty="0">
                <a:latin typeface="Fira Code" pitchFamily="49" charset="0"/>
                <a:ea typeface="Fira Code" pitchFamily="49" charset="0"/>
                <a:cs typeface="Fira Code" pitchFamily="49" charset="0"/>
              </a:rPr>
              <a:t>$ git restore 01-hello.Rmd</a:t>
            </a:r>
            <a:endParaRPr lang="ru-RU" sz="1600" dirty="0">
              <a:latin typeface="Fira Code" pitchFamily="49" charset="0"/>
              <a:ea typeface="Fira Code" pitchFamily="49" charset="0"/>
              <a:cs typeface="Fira Code" pitchFamily="49" charset="0"/>
            </a:endParaRPr>
          </a:p>
        </p:txBody>
      </p:sp>
    </p:spTree>
    <p:extLst>
      <p:ext uri="{BB962C8B-B14F-4D97-AF65-F5344CB8AC3E}">
        <p14:creationId xmlns:p14="http://schemas.microsoft.com/office/powerpoint/2010/main" val="37241746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3CB84-AA3A-13BC-2411-6FC11AA59A81}"/>
              </a:ext>
            </a:extLst>
          </p:cNvPr>
          <p:cNvSpPr>
            <a:spLocks noGrp="1"/>
          </p:cNvSpPr>
          <p:nvPr>
            <p:ph type="title"/>
          </p:nvPr>
        </p:nvSpPr>
        <p:spPr/>
        <p:txBody>
          <a:bodyPr/>
          <a:lstStyle/>
          <a:p>
            <a:r>
              <a:rPr lang="ru-RU" dirty="0"/>
              <a:t>Журнал изменений </a:t>
            </a:r>
            <a:r>
              <a:rPr lang="ru-RU" dirty="0">
                <a:latin typeface="Fira Code" pitchFamily="49" charset="0"/>
                <a:ea typeface="Fira Code" pitchFamily="49" charset="0"/>
                <a:cs typeface="Fira Code" pitchFamily="49" charset="0"/>
              </a:rPr>
              <a:t>(</a:t>
            </a:r>
            <a:r>
              <a:rPr lang="en-RU" dirty="0">
                <a:latin typeface="Fira Code" pitchFamily="49" charset="0"/>
                <a:ea typeface="Fira Code" pitchFamily="49" charset="0"/>
                <a:cs typeface="Fira Code" pitchFamily="49" charset="0"/>
              </a:rPr>
              <a:t>log</a:t>
            </a:r>
            <a:r>
              <a:rPr lang="ru-RU" dirty="0">
                <a:latin typeface="Fira Code" pitchFamily="49" charset="0"/>
                <a:ea typeface="Fira Code" pitchFamily="49" charset="0"/>
                <a:cs typeface="Fira Code" pitchFamily="49" charset="0"/>
              </a:rPr>
              <a:t>)</a:t>
            </a:r>
            <a:endParaRPr lang="en-RU" dirty="0">
              <a:latin typeface="Fira Code" pitchFamily="49" charset="0"/>
              <a:ea typeface="Fira Code" pitchFamily="49" charset="0"/>
              <a:cs typeface="Fira Code" pitchFamily="49" charset="0"/>
            </a:endParaRPr>
          </a:p>
        </p:txBody>
      </p:sp>
      <p:pic>
        <p:nvPicPr>
          <p:cNvPr id="7" name="Picture 6">
            <a:extLst>
              <a:ext uri="{FF2B5EF4-FFF2-40B4-BE49-F238E27FC236}">
                <a16:creationId xmlns:a16="http://schemas.microsoft.com/office/drawing/2014/main" id="{966E7BC2-C6D5-3A99-7219-ACD8BE864D26}"/>
              </a:ext>
            </a:extLst>
          </p:cNvPr>
          <p:cNvPicPr>
            <a:picLocks noChangeAspect="1"/>
          </p:cNvPicPr>
          <p:nvPr/>
        </p:nvPicPr>
        <p:blipFill>
          <a:blip r:embed="rId2"/>
          <a:stretch>
            <a:fillRect/>
          </a:stretch>
        </p:blipFill>
        <p:spPr>
          <a:xfrm>
            <a:off x="477146" y="1356862"/>
            <a:ext cx="5888930" cy="5359350"/>
          </a:xfrm>
          <a:prstGeom prst="rect">
            <a:avLst/>
          </a:prstGeom>
        </p:spPr>
      </p:pic>
      <p:sp>
        <p:nvSpPr>
          <p:cNvPr id="3" name="TextBox 2">
            <a:extLst>
              <a:ext uri="{FF2B5EF4-FFF2-40B4-BE49-F238E27FC236}">
                <a16:creationId xmlns:a16="http://schemas.microsoft.com/office/drawing/2014/main" id="{EB7CCC74-BECD-8F2B-8700-CBD99B87CAD0}"/>
              </a:ext>
            </a:extLst>
          </p:cNvPr>
          <p:cNvSpPr txBox="1"/>
          <p:nvPr/>
        </p:nvSpPr>
        <p:spPr>
          <a:xfrm>
            <a:off x="838200" y="6477406"/>
            <a:ext cx="10776329" cy="338554"/>
          </a:xfrm>
          <a:prstGeom prst="rect">
            <a:avLst/>
          </a:prstGeom>
          <a:noFill/>
        </p:spPr>
        <p:txBody>
          <a:bodyPr wrap="square" rtlCol="0">
            <a:spAutoFit/>
          </a:bodyPr>
          <a:lstStyle/>
          <a:p>
            <a:r>
              <a:rPr lang="en-US" sz="1600" dirty="0">
                <a:latin typeface="Fira Code" pitchFamily="49" charset="0"/>
                <a:ea typeface="Fira Code" pitchFamily="49" charset="0"/>
                <a:cs typeface="Fira Code" pitchFamily="49" charset="0"/>
              </a:rPr>
              <a:t>$ git log</a:t>
            </a:r>
          </a:p>
        </p:txBody>
      </p:sp>
    </p:spTree>
    <p:extLst>
      <p:ext uri="{BB962C8B-B14F-4D97-AF65-F5344CB8AC3E}">
        <p14:creationId xmlns:p14="http://schemas.microsoft.com/office/powerpoint/2010/main" val="6705212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1D676-DD90-5E11-C7C0-87D2060D8E19}"/>
              </a:ext>
            </a:extLst>
          </p:cNvPr>
          <p:cNvSpPr>
            <a:spLocks noGrp="1"/>
          </p:cNvSpPr>
          <p:nvPr>
            <p:ph type="title"/>
          </p:nvPr>
        </p:nvSpPr>
        <p:spPr/>
        <p:txBody>
          <a:bodyPr/>
          <a:lstStyle/>
          <a:p>
            <a:r>
              <a:rPr lang="ru-RU" dirty="0"/>
              <a:t>Ветви </a:t>
            </a:r>
            <a:r>
              <a:rPr lang="ru-RU" dirty="0">
                <a:latin typeface="Fira Code" pitchFamily="49" charset="0"/>
                <a:ea typeface="Fira Code" pitchFamily="49" charset="0"/>
                <a:cs typeface="Fira Code" pitchFamily="49" charset="0"/>
              </a:rPr>
              <a:t>(</a:t>
            </a:r>
            <a:r>
              <a:rPr lang="en-RU" dirty="0">
                <a:latin typeface="Fira Code" pitchFamily="49" charset="0"/>
                <a:ea typeface="Fira Code" pitchFamily="49" charset="0"/>
                <a:cs typeface="Fira Code" pitchFamily="49" charset="0"/>
              </a:rPr>
              <a:t>branch</a:t>
            </a:r>
            <a:r>
              <a:rPr lang="ru-RU" dirty="0">
                <a:latin typeface="Fira Code" pitchFamily="49" charset="0"/>
                <a:ea typeface="Fira Code" pitchFamily="49" charset="0"/>
                <a:cs typeface="Fira Code" pitchFamily="49" charset="0"/>
              </a:rPr>
              <a:t>)</a:t>
            </a:r>
            <a:endParaRPr lang="en-RU" dirty="0">
              <a:latin typeface="Fira Code" pitchFamily="49" charset="0"/>
              <a:ea typeface="Fira Code" pitchFamily="49" charset="0"/>
              <a:cs typeface="Fira Code" pitchFamily="49" charset="0"/>
            </a:endParaRPr>
          </a:p>
        </p:txBody>
      </p:sp>
      <p:pic>
        <p:nvPicPr>
          <p:cNvPr id="3" name="Picture 2">
            <a:extLst>
              <a:ext uri="{FF2B5EF4-FFF2-40B4-BE49-F238E27FC236}">
                <a16:creationId xmlns:a16="http://schemas.microsoft.com/office/drawing/2014/main" id="{3AB352A6-FD26-A623-2F64-FE6E6A26B268}"/>
              </a:ext>
            </a:extLst>
          </p:cNvPr>
          <p:cNvPicPr>
            <a:picLocks noChangeAspect="1"/>
          </p:cNvPicPr>
          <p:nvPr/>
        </p:nvPicPr>
        <p:blipFill>
          <a:blip r:embed="rId3"/>
          <a:srcRect/>
          <a:stretch/>
        </p:blipFill>
        <p:spPr>
          <a:xfrm>
            <a:off x="494743" y="1690688"/>
            <a:ext cx="6502212" cy="4069729"/>
          </a:xfrm>
          <a:prstGeom prst="rect">
            <a:avLst/>
          </a:prstGeom>
        </p:spPr>
      </p:pic>
      <p:sp>
        <p:nvSpPr>
          <p:cNvPr id="4" name="TextBox 3">
            <a:extLst>
              <a:ext uri="{FF2B5EF4-FFF2-40B4-BE49-F238E27FC236}">
                <a16:creationId xmlns:a16="http://schemas.microsoft.com/office/drawing/2014/main" id="{DC951B6D-B13F-71CF-715E-CE1BD9D67241}"/>
              </a:ext>
            </a:extLst>
          </p:cNvPr>
          <p:cNvSpPr txBox="1"/>
          <p:nvPr/>
        </p:nvSpPr>
        <p:spPr>
          <a:xfrm>
            <a:off x="838200" y="6477406"/>
            <a:ext cx="10776329" cy="338554"/>
          </a:xfrm>
          <a:prstGeom prst="rect">
            <a:avLst/>
          </a:prstGeom>
          <a:noFill/>
        </p:spPr>
        <p:txBody>
          <a:bodyPr wrap="square" rtlCol="0">
            <a:spAutoFit/>
          </a:bodyPr>
          <a:lstStyle/>
          <a:p>
            <a:r>
              <a:rPr lang="en-US" sz="1600" dirty="0">
                <a:latin typeface="Fira Code" pitchFamily="49" charset="0"/>
                <a:ea typeface="Fira Code" pitchFamily="49" charset="0"/>
                <a:cs typeface="Fira Code" pitchFamily="49" charset="0"/>
              </a:rPr>
              <a:t>$ git branch</a:t>
            </a:r>
          </a:p>
        </p:txBody>
      </p:sp>
    </p:spTree>
    <p:extLst>
      <p:ext uri="{BB962C8B-B14F-4D97-AF65-F5344CB8AC3E}">
        <p14:creationId xmlns:p14="http://schemas.microsoft.com/office/powerpoint/2010/main" val="39121927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DA874-BCA9-79CF-A581-393EC5AB3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98C51-B2C6-9200-D2B2-D085A6539265}"/>
              </a:ext>
            </a:extLst>
          </p:cNvPr>
          <p:cNvSpPr>
            <a:spLocks noGrp="1"/>
          </p:cNvSpPr>
          <p:nvPr>
            <p:ph type="title"/>
          </p:nvPr>
        </p:nvSpPr>
        <p:spPr/>
        <p:txBody>
          <a:bodyPr/>
          <a:lstStyle/>
          <a:p>
            <a:r>
              <a:rPr lang="ru-RU" dirty="0"/>
              <a:t>Ветви </a:t>
            </a:r>
            <a:r>
              <a:rPr lang="ru-RU" dirty="0">
                <a:latin typeface="Fira Code" pitchFamily="49" charset="0"/>
                <a:ea typeface="Fira Code" pitchFamily="49" charset="0"/>
                <a:cs typeface="Fira Code" pitchFamily="49" charset="0"/>
              </a:rPr>
              <a:t>(</a:t>
            </a:r>
            <a:r>
              <a:rPr lang="en-RU" dirty="0">
                <a:latin typeface="Fira Code" pitchFamily="49" charset="0"/>
                <a:ea typeface="Fira Code" pitchFamily="49" charset="0"/>
                <a:cs typeface="Fira Code" pitchFamily="49" charset="0"/>
              </a:rPr>
              <a:t>branch</a:t>
            </a:r>
            <a:r>
              <a:rPr lang="ru-RU" dirty="0">
                <a:latin typeface="Fira Code" pitchFamily="49" charset="0"/>
                <a:ea typeface="Fira Code" pitchFamily="49" charset="0"/>
                <a:cs typeface="Fira Code" pitchFamily="49" charset="0"/>
              </a:rPr>
              <a:t>)</a:t>
            </a:r>
            <a:endParaRPr lang="en-RU" dirty="0">
              <a:latin typeface="Fira Code" pitchFamily="49" charset="0"/>
              <a:ea typeface="Fira Code" pitchFamily="49" charset="0"/>
              <a:cs typeface="Fira Code" pitchFamily="49" charset="0"/>
            </a:endParaRPr>
          </a:p>
        </p:txBody>
      </p:sp>
      <p:pic>
        <p:nvPicPr>
          <p:cNvPr id="3" name="Picture 2">
            <a:extLst>
              <a:ext uri="{FF2B5EF4-FFF2-40B4-BE49-F238E27FC236}">
                <a16:creationId xmlns:a16="http://schemas.microsoft.com/office/drawing/2014/main" id="{245332E5-CE7E-DA48-2248-42135ED14C52}"/>
              </a:ext>
            </a:extLst>
          </p:cNvPr>
          <p:cNvPicPr>
            <a:picLocks noChangeAspect="1"/>
          </p:cNvPicPr>
          <p:nvPr/>
        </p:nvPicPr>
        <p:blipFill>
          <a:blip r:embed="rId3"/>
          <a:srcRect/>
          <a:stretch/>
        </p:blipFill>
        <p:spPr>
          <a:xfrm>
            <a:off x="494743" y="1690688"/>
            <a:ext cx="6502212" cy="4069729"/>
          </a:xfrm>
          <a:prstGeom prst="rect">
            <a:avLst/>
          </a:prstGeom>
        </p:spPr>
      </p:pic>
      <p:pic>
        <p:nvPicPr>
          <p:cNvPr id="2050" name="Picture 2" descr="Nate Bunney on LinkedIn: #programmerhumor #programmingmemes">
            <a:extLst>
              <a:ext uri="{FF2B5EF4-FFF2-40B4-BE49-F238E27FC236}">
                <a16:creationId xmlns:a16="http://schemas.microsoft.com/office/drawing/2014/main" id="{827DE531-7F4C-A2F0-18CA-E0DD04B95F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57514" y="1572701"/>
            <a:ext cx="3179477" cy="4069730"/>
          </a:xfrm>
          <a:prstGeom prst="rect">
            <a:avLst/>
          </a:prstGeom>
          <a:noFill/>
          <a:effectLst>
            <a:glow rad="317500">
              <a:schemeClr val="bg1">
                <a:lumMod val="50000"/>
                <a:alpha val="3000"/>
              </a:schemeClr>
            </a:glow>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B967D88-0690-B4EF-7D6D-D84E59816659}"/>
              </a:ext>
            </a:extLst>
          </p:cNvPr>
          <p:cNvSpPr txBox="1"/>
          <p:nvPr/>
        </p:nvSpPr>
        <p:spPr>
          <a:xfrm>
            <a:off x="838200" y="6477406"/>
            <a:ext cx="10776329" cy="338554"/>
          </a:xfrm>
          <a:prstGeom prst="rect">
            <a:avLst/>
          </a:prstGeom>
          <a:noFill/>
        </p:spPr>
        <p:txBody>
          <a:bodyPr wrap="square" rtlCol="0">
            <a:spAutoFit/>
          </a:bodyPr>
          <a:lstStyle/>
          <a:p>
            <a:r>
              <a:rPr lang="en-US" sz="1600" dirty="0">
                <a:latin typeface="Fira Code" pitchFamily="49" charset="0"/>
                <a:ea typeface="Fira Code" pitchFamily="49" charset="0"/>
                <a:cs typeface="Fira Code" pitchFamily="49" charset="0"/>
              </a:rPr>
              <a:t>$ git branch</a:t>
            </a:r>
          </a:p>
        </p:txBody>
      </p:sp>
    </p:spTree>
    <p:extLst>
      <p:ext uri="{BB962C8B-B14F-4D97-AF65-F5344CB8AC3E}">
        <p14:creationId xmlns:p14="http://schemas.microsoft.com/office/powerpoint/2010/main" val="30338412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02AF9-7623-84CD-4463-1D593E31206D}"/>
            </a:ext>
          </a:extLst>
        </p:cNvPr>
        <p:cNvGrpSpPr/>
        <p:nvPr/>
      </p:nvGrpSpPr>
      <p:grpSpPr>
        <a:xfrm>
          <a:off x="0" y="0"/>
          <a:ext cx="0" cy="0"/>
          <a:chOff x="0" y="0"/>
          <a:chExt cx="0" cy="0"/>
        </a:xfrm>
      </p:grpSpPr>
      <p:pic>
        <p:nvPicPr>
          <p:cNvPr id="5" name="Picture 2" descr="Git vs Github – Cosa sono e quali le differenze - Tech Generation">
            <a:extLst>
              <a:ext uri="{FF2B5EF4-FFF2-40B4-BE49-F238E27FC236}">
                <a16:creationId xmlns:a16="http://schemas.microsoft.com/office/drawing/2014/main" id="{AB186E53-328E-8372-49DD-152198E0D14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1" t="49934" r="66862" b="-1335"/>
          <a:stretch/>
        </p:blipFill>
        <p:spPr bwMode="auto">
          <a:xfrm>
            <a:off x="1853018" y="3615267"/>
            <a:ext cx="2651249" cy="2208143"/>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97AE5B28-D6F1-748C-780A-768B0FF1DEB1}"/>
              </a:ext>
            </a:extLst>
          </p:cNvPr>
          <p:cNvCxnSpPr>
            <a:cxnSpLocks/>
          </p:cNvCxnSpPr>
          <p:nvPr/>
        </p:nvCxnSpPr>
        <p:spPr>
          <a:xfrm>
            <a:off x="7516096" y="2043646"/>
            <a:ext cx="704105" cy="1330524"/>
          </a:xfrm>
          <a:prstGeom prst="straightConnector1">
            <a:avLst/>
          </a:prstGeom>
          <a:ln w="152400">
            <a:solidFill>
              <a:schemeClr val="accent4"/>
            </a:solidFill>
            <a:tailEnd type="triangle"/>
          </a:ln>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49493DD2-E0C4-A290-8DAE-89EEACFDA360}"/>
              </a:ext>
            </a:extLst>
          </p:cNvPr>
          <p:cNvSpPr txBox="1"/>
          <p:nvPr/>
        </p:nvSpPr>
        <p:spPr>
          <a:xfrm>
            <a:off x="8471696" y="2129207"/>
            <a:ext cx="1225015" cy="707886"/>
          </a:xfrm>
          <a:prstGeom prst="rect">
            <a:avLst/>
          </a:prstGeom>
          <a:noFill/>
        </p:spPr>
        <p:txBody>
          <a:bodyPr wrap="none" rtlCol="0">
            <a:spAutoFit/>
          </a:bodyPr>
          <a:lstStyle/>
          <a:p>
            <a:r>
              <a:rPr lang="en-RU" sz="4000" dirty="0"/>
              <a:t>PULL</a:t>
            </a:r>
          </a:p>
        </p:txBody>
      </p:sp>
      <p:sp>
        <p:nvSpPr>
          <p:cNvPr id="2" name="TextBox 1">
            <a:extLst>
              <a:ext uri="{FF2B5EF4-FFF2-40B4-BE49-F238E27FC236}">
                <a16:creationId xmlns:a16="http://schemas.microsoft.com/office/drawing/2014/main" id="{0F4D9F04-A5FB-9547-C3AF-B68D032B3D82}"/>
              </a:ext>
            </a:extLst>
          </p:cNvPr>
          <p:cNvSpPr txBox="1"/>
          <p:nvPr/>
        </p:nvSpPr>
        <p:spPr>
          <a:xfrm>
            <a:off x="1560019" y="2129207"/>
            <a:ext cx="1472949" cy="707886"/>
          </a:xfrm>
          <a:prstGeom prst="rect">
            <a:avLst/>
          </a:prstGeom>
          <a:noFill/>
        </p:spPr>
        <p:txBody>
          <a:bodyPr wrap="square" rtlCol="0">
            <a:spAutoFit/>
          </a:bodyPr>
          <a:lstStyle/>
          <a:p>
            <a:r>
              <a:rPr lang="en-RU" sz="4000" dirty="0"/>
              <a:t>PUSH</a:t>
            </a:r>
          </a:p>
        </p:txBody>
      </p:sp>
      <p:cxnSp>
        <p:nvCxnSpPr>
          <p:cNvPr id="4" name="Straight Arrow Connector 3">
            <a:extLst>
              <a:ext uri="{FF2B5EF4-FFF2-40B4-BE49-F238E27FC236}">
                <a16:creationId xmlns:a16="http://schemas.microsoft.com/office/drawing/2014/main" id="{A938C671-C9B3-68B4-B86C-9AEC4CD4E72D}"/>
              </a:ext>
            </a:extLst>
          </p:cNvPr>
          <p:cNvCxnSpPr>
            <a:cxnSpLocks/>
          </p:cNvCxnSpPr>
          <p:nvPr/>
        </p:nvCxnSpPr>
        <p:spPr>
          <a:xfrm flipV="1">
            <a:off x="3264378" y="2043646"/>
            <a:ext cx="698022" cy="1385354"/>
          </a:xfrm>
          <a:prstGeom prst="straightConnector1">
            <a:avLst/>
          </a:prstGeom>
          <a:ln w="152400">
            <a:solidFill>
              <a:schemeClr val="accent6"/>
            </a:solidFill>
            <a:tailEnd type="triangle"/>
          </a:ln>
        </p:spPr>
        <p:style>
          <a:lnRef idx="2">
            <a:schemeClr val="dk1"/>
          </a:lnRef>
          <a:fillRef idx="0">
            <a:schemeClr val="dk1"/>
          </a:fillRef>
          <a:effectRef idx="1">
            <a:schemeClr val="dk1"/>
          </a:effectRef>
          <a:fontRef idx="minor">
            <a:schemeClr val="tx1"/>
          </a:fontRef>
        </p:style>
      </p:cxnSp>
      <p:pic>
        <p:nvPicPr>
          <p:cNvPr id="8" name="Picture 2" descr="Git vs Github – Cosa sono e quali le differenze - Tech Generation">
            <a:extLst>
              <a:ext uri="{FF2B5EF4-FFF2-40B4-BE49-F238E27FC236}">
                <a16:creationId xmlns:a16="http://schemas.microsoft.com/office/drawing/2014/main" id="{ECF54532-2AA3-B0ED-289D-BD409D2DEE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1" t="-995" r="-3" b="72928"/>
          <a:stretch/>
        </p:blipFill>
        <p:spPr bwMode="auto">
          <a:xfrm>
            <a:off x="1742524" y="761045"/>
            <a:ext cx="7954187" cy="120576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Git vs Github – Cosa sono e quali le differenze - Tech Generation">
            <a:extLst>
              <a:ext uri="{FF2B5EF4-FFF2-40B4-BE49-F238E27FC236}">
                <a16:creationId xmlns:a16="http://schemas.microsoft.com/office/drawing/2014/main" id="{A80742D1-0EA3-E609-CE4D-E21BD1E894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1877" t="49934" r="33428" b="-1335"/>
          <a:stretch/>
        </p:blipFill>
        <p:spPr bwMode="auto">
          <a:xfrm>
            <a:off x="6918875" y="3615266"/>
            <a:ext cx="2751668" cy="220814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3F37756-271B-305D-2463-07C68E962FDC}"/>
              </a:ext>
            </a:extLst>
          </p:cNvPr>
          <p:cNvSpPr txBox="1"/>
          <p:nvPr/>
        </p:nvSpPr>
        <p:spPr>
          <a:xfrm>
            <a:off x="838200" y="6057781"/>
            <a:ext cx="10776329" cy="800219"/>
          </a:xfrm>
          <a:prstGeom prst="rect">
            <a:avLst/>
          </a:prstGeom>
          <a:noFill/>
        </p:spPr>
        <p:txBody>
          <a:bodyPr wrap="square" rtlCol="0">
            <a:spAutoFit/>
          </a:bodyPr>
          <a:lstStyle/>
          <a:p>
            <a:pPr>
              <a:lnSpc>
                <a:spcPct val="150000"/>
              </a:lnSpc>
            </a:pPr>
            <a:r>
              <a:rPr lang="en-US" sz="1600" dirty="0">
                <a:latin typeface="Fira Code" pitchFamily="49" charset="0"/>
                <a:ea typeface="Fira Code" pitchFamily="49" charset="0"/>
                <a:cs typeface="Fira Code" pitchFamily="49" charset="0"/>
              </a:rPr>
              <a:t>$ git push</a:t>
            </a:r>
          </a:p>
          <a:p>
            <a:pPr>
              <a:lnSpc>
                <a:spcPct val="150000"/>
              </a:lnSpc>
            </a:pPr>
            <a:r>
              <a:rPr lang="en-US" sz="1600" dirty="0">
                <a:latin typeface="Fira Code" pitchFamily="49" charset="0"/>
                <a:ea typeface="Fira Code" pitchFamily="49" charset="0"/>
                <a:cs typeface="Fira Code" pitchFamily="49" charset="0"/>
              </a:rPr>
              <a:t>$ git pull</a:t>
            </a:r>
          </a:p>
        </p:txBody>
      </p:sp>
    </p:spTree>
    <p:extLst>
      <p:ext uri="{BB962C8B-B14F-4D97-AF65-F5344CB8AC3E}">
        <p14:creationId xmlns:p14="http://schemas.microsoft.com/office/powerpoint/2010/main" val="25955595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04100-C308-D5A6-8824-FEA19F21A4F7}"/>
              </a:ext>
            </a:extLst>
          </p:cNvPr>
          <p:cNvSpPr>
            <a:spLocks noGrp="1"/>
          </p:cNvSpPr>
          <p:nvPr>
            <p:ph type="title"/>
          </p:nvPr>
        </p:nvSpPr>
        <p:spPr/>
        <p:txBody>
          <a:bodyPr/>
          <a:lstStyle/>
          <a:p>
            <a:r>
              <a:rPr lang="en-GB" dirty="0"/>
              <a:t>P</a:t>
            </a:r>
            <a:r>
              <a:rPr lang="en-RU" dirty="0"/>
              <a:t>ull Request (PR)</a:t>
            </a:r>
          </a:p>
        </p:txBody>
      </p:sp>
      <p:pic>
        <p:nvPicPr>
          <p:cNvPr id="6" name="Content Placeholder 3">
            <a:extLst>
              <a:ext uri="{FF2B5EF4-FFF2-40B4-BE49-F238E27FC236}">
                <a16:creationId xmlns:a16="http://schemas.microsoft.com/office/drawing/2014/main" id="{8F4169A7-874A-F452-18C2-3FF86F994E96}"/>
              </a:ext>
            </a:extLst>
          </p:cNvPr>
          <p:cNvPicPr>
            <a:picLocks noChangeAspect="1"/>
          </p:cNvPicPr>
          <p:nvPr/>
        </p:nvPicPr>
        <p:blipFill>
          <a:blip r:embed="rId2"/>
          <a:srcRect/>
          <a:stretch/>
        </p:blipFill>
        <p:spPr>
          <a:xfrm>
            <a:off x="859973" y="1517195"/>
            <a:ext cx="8232667" cy="5120640"/>
          </a:xfrm>
          <a:prstGeom prst="rect">
            <a:avLst/>
          </a:prstGeom>
          <a:effectLst>
            <a:glow rad="317500">
              <a:schemeClr val="bg1">
                <a:lumMod val="50000"/>
                <a:alpha val="3000"/>
              </a:schemeClr>
            </a:glow>
          </a:effectLst>
        </p:spPr>
      </p:pic>
    </p:spTree>
    <p:extLst>
      <p:ext uri="{BB962C8B-B14F-4D97-AF65-F5344CB8AC3E}">
        <p14:creationId xmlns:p14="http://schemas.microsoft.com/office/powerpoint/2010/main" val="27167884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7702F-B6FE-A5D2-6513-B4C8D7D9B7FA}"/>
              </a:ext>
            </a:extLst>
          </p:cNvPr>
          <p:cNvSpPr>
            <a:spLocks noGrp="1"/>
          </p:cNvSpPr>
          <p:nvPr>
            <p:ph type="title"/>
          </p:nvPr>
        </p:nvSpPr>
        <p:spPr/>
        <p:txBody>
          <a:bodyPr/>
          <a:lstStyle/>
          <a:p>
            <a:r>
              <a:rPr lang="ru-RU" dirty="0"/>
              <a:t>Не копите изменения в рабочей области</a:t>
            </a:r>
            <a:endParaRPr lang="en-RU" dirty="0"/>
          </a:p>
        </p:txBody>
      </p:sp>
      <p:pic>
        <p:nvPicPr>
          <p:cNvPr id="6" name="Picture 5">
            <a:extLst>
              <a:ext uri="{FF2B5EF4-FFF2-40B4-BE49-F238E27FC236}">
                <a16:creationId xmlns:a16="http://schemas.microsoft.com/office/drawing/2014/main" id="{12DD07E9-924E-F9E6-82D5-9390EA15305C}"/>
              </a:ext>
            </a:extLst>
          </p:cNvPr>
          <p:cNvPicPr>
            <a:picLocks noChangeAspect="1"/>
          </p:cNvPicPr>
          <p:nvPr/>
        </p:nvPicPr>
        <p:blipFill>
          <a:blip r:embed="rId3"/>
          <a:srcRect/>
          <a:stretch/>
        </p:blipFill>
        <p:spPr>
          <a:xfrm>
            <a:off x="776908" y="1775355"/>
            <a:ext cx="5388033" cy="3307289"/>
          </a:xfrm>
          <a:prstGeom prst="rect">
            <a:avLst/>
          </a:prstGeom>
          <a:effectLst>
            <a:glow rad="254000">
              <a:schemeClr val="bg1">
                <a:lumMod val="50000"/>
                <a:alpha val="5000"/>
              </a:schemeClr>
            </a:glow>
          </a:effectLst>
        </p:spPr>
      </p:pic>
    </p:spTree>
    <p:extLst>
      <p:ext uri="{BB962C8B-B14F-4D97-AF65-F5344CB8AC3E}">
        <p14:creationId xmlns:p14="http://schemas.microsoft.com/office/powerpoint/2010/main" val="33525649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76FD1-41BE-B9B0-FE66-EE258AAAD411}"/>
              </a:ext>
            </a:extLst>
          </p:cNvPr>
          <p:cNvSpPr>
            <a:spLocks noGrp="1"/>
          </p:cNvSpPr>
          <p:nvPr>
            <p:ph type="title"/>
          </p:nvPr>
        </p:nvSpPr>
        <p:spPr/>
        <p:txBody>
          <a:bodyPr/>
          <a:lstStyle/>
          <a:p>
            <a:r>
              <a:rPr lang="en-GB" dirty="0">
                <a:latin typeface="Fira Code" pitchFamily="49" charset="0"/>
                <a:ea typeface="Fira Code" pitchFamily="49" charset="0"/>
                <a:cs typeface="Fira Code" pitchFamily="49" charset="0"/>
              </a:rPr>
              <a:t>g</a:t>
            </a:r>
            <a:r>
              <a:rPr lang="en-RU" dirty="0">
                <a:latin typeface="Fira Code" pitchFamily="49" charset="0"/>
                <a:ea typeface="Fira Code" pitchFamily="49" charset="0"/>
                <a:cs typeface="Fira Code" pitchFamily="49" charset="0"/>
              </a:rPr>
              <a:t>it push --force</a:t>
            </a:r>
          </a:p>
        </p:txBody>
      </p:sp>
      <p:sp>
        <p:nvSpPr>
          <p:cNvPr id="3" name="Content Placeholder 2">
            <a:extLst>
              <a:ext uri="{FF2B5EF4-FFF2-40B4-BE49-F238E27FC236}">
                <a16:creationId xmlns:a16="http://schemas.microsoft.com/office/drawing/2014/main" id="{D818BC96-DFC9-0CF9-9C70-3F4CC1A4D8BE}"/>
              </a:ext>
            </a:extLst>
          </p:cNvPr>
          <p:cNvSpPr>
            <a:spLocks noGrp="1"/>
          </p:cNvSpPr>
          <p:nvPr>
            <p:ph idx="1"/>
          </p:nvPr>
        </p:nvSpPr>
        <p:spPr/>
        <p:txBody>
          <a:bodyPr>
            <a:normAutofit/>
          </a:bodyPr>
          <a:lstStyle/>
          <a:p>
            <a:pPr marL="0" indent="0">
              <a:buNone/>
            </a:pPr>
            <a:r>
              <a:rPr lang="ru-RU" dirty="0"/>
              <a:t>Вы пытаетесь переписать чужие изменения.</a:t>
            </a:r>
          </a:p>
          <a:p>
            <a:pPr marL="0" indent="0">
              <a:buNone/>
            </a:pPr>
            <a:endParaRPr lang="ru-RU" dirty="0"/>
          </a:p>
          <a:p>
            <a:pPr marL="0" indent="0">
              <a:buNone/>
            </a:pPr>
            <a:r>
              <a:rPr lang="ru-RU" dirty="0"/>
              <a:t>Вы пытаетесь переписать</a:t>
            </a:r>
            <a:r>
              <a:rPr lang="en-US" dirty="0"/>
              <a:t> </a:t>
            </a:r>
            <a:r>
              <a:rPr lang="ru-RU" dirty="0"/>
              <a:t>свои изменения,</a:t>
            </a:r>
          </a:p>
          <a:p>
            <a:pPr marL="0" indent="0">
              <a:buNone/>
            </a:pPr>
            <a:r>
              <a:rPr lang="ru-RU" dirty="0"/>
              <a:t>но если их уже кто-то запулил –</a:t>
            </a:r>
          </a:p>
          <a:p>
            <a:pPr marL="0" indent="0">
              <a:buNone/>
            </a:pPr>
            <a:r>
              <a:rPr lang="ru-RU" dirty="0"/>
              <a:t>все сгорит </a:t>
            </a:r>
            <a:r>
              <a:rPr lang="en-US" dirty="0"/>
              <a:t>💀</a:t>
            </a:r>
          </a:p>
        </p:txBody>
      </p:sp>
      <p:pic>
        <p:nvPicPr>
          <p:cNvPr id="1026" name="Picture 2" descr="Square peg in a round hole Meme Generator - Imgflip">
            <a:extLst>
              <a:ext uri="{FF2B5EF4-FFF2-40B4-BE49-F238E27FC236}">
                <a16:creationId xmlns:a16="http://schemas.microsoft.com/office/drawing/2014/main" id="{F055E44F-7979-76D0-502A-DE29B7E7B2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62813" y="1690688"/>
            <a:ext cx="2693031" cy="4053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99234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ires - How They Start and How They Spread - FireArrest">
            <a:extLst>
              <a:ext uri="{FF2B5EF4-FFF2-40B4-BE49-F238E27FC236}">
                <a16:creationId xmlns:a16="http://schemas.microsoft.com/office/drawing/2014/main" id="{8C7769C0-8BE6-1A55-6707-4906321E1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9590" y="2476442"/>
            <a:ext cx="8372820" cy="438155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0EA1B44-CC1D-A22F-4E0A-47164F10C1C3}"/>
              </a:ext>
            </a:extLst>
          </p:cNvPr>
          <p:cNvSpPr>
            <a:spLocks noGrp="1"/>
          </p:cNvSpPr>
          <p:nvPr>
            <p:ph type="title"/>
          </p:nvPr>
        </p:nvSpPr>
        <p:spPr/>
        <p:txBody>
          <a:bodyPr/>
          <a:lstStyle/>
          <a:p>
            <a:r>
              <a:rPr lang="ru-RU" dirty="0"/>
              <a:t>Все сломалось</a:t>
            </a:r>
            <a:endParaRPr lang="en-RU" dirty="0"/>
          </a:p>
        </p:txBody>
      </p:sp>
      <p:sp>
        <p:nvSpPr>
          <p:cNvPr id="3" name="Content Placeholder 2">
            <a:extLst>
              <a:ext uri="{FF2B5EF4-FFF2-40B4-BE49-F238E27FC236}">
                <a16:creationId xmlns:a16="http://schemas.microsoft.com/office/drawing/2014/main" id="{0BB182F4-433F-BAF1-82A3-F96319783B8B}"/>
              </a:ext>
            </a:extLst>
          </p:cNvPr>
          <p:cNvSpPr>
            <a:spLocks noGrp="1"/>
          </p:cNvSpPr>
          <p:nvPr>
            <p:ph idx="1"/>
          </p:nvPr>
        </p:nvSpPr>
        <p:spPr>
          <a:xfrm>
            <a:off x="838200" y="1690688"/>
            <a:ext cx="10515600" cy="4351338"/>
          </a:xfrm>
        </p:spPr>
        <p:txBody>
          <a:bodyPr/>
          <a:lstStyle/>
          <a:p>
            <a:r>
              <a:rPr lang="ru-RU" dirty="0"/>
              <a:t>Закройте </a:t>
            </a:r>
            <a:r>
              <a:rPr lang="en-US" dirty="0"/>
              <a:t>RStudio </a:t>
            </a:r>
            <a:r>
              <a:rPr lang="ru-RU" dirty="0"/>
              <a:t>и переименуйте папку</a:t>
            </a:r>
            <a:endParaRPr lang="en-US" dirty="0"/>
          </a:p>
          <a:p>
            <a:r>
              <a:rPr lang="ru-RU" dirty="0" err="1"/>
              <a:t>Склонируйте</a:t>
            </a:r>
            <a:r>
              <a:rPr lang="ru-RU" dirty="0"/>
              <a:t> репозиторий заново</a:t>
            </a:r>
          </a:p>
          <a:p>
            <a:r>
              <a:rPr lang="ru-RU" dirty="0"/>
              <a:t>Внесите изменения из старой папки</a:t>
            </a:r>
            <a:endParaRPr lang="en-US" dirty="0"/>
          </a:p>
          <a:p>
            <a:r>
              <a:rPr lang="ru-RU" dirty="0"/>
              <a:t>Удалите старую папку</a:t>
            </a:r>
          </a:p>
        </p:txBody>
      </p:sp>
    </p:spTree>
    <p:extLst>
      <p:ext uri="{BB962C8B-B14F-4D97-AF65-F5344CB8AC3E}">
        <p14:creationId xmlns:p14="http://schemas.microsoft.com/office/powerpoint/2010/main" val="37293883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A29EC-CE8B-8355-6C31-01E45E80FB23}"/>
              </a:ext>
            </a:extLst>
          </p:cNvPr>
          <p:cNvSpPr>
            <a:spLocks noGrp="1"/>
          </p:cNvSpPr>
          <p:nvPr>
            <p:ph type="title"/>
          </p:nvPr>
        </p:nvSpPr>
        <p:spPr/>
        <p:txBody>
          <a:bodyPr/>
          <a:lstStyle/>
          <a:p>
            <a:r>
              <a:rPr lang="ru-RU" dirty="0"/>
              <a:t>Структура репозитория</a:t>
            </a:r>
            <a:endParaRPr lang="en-RU" dirty="0"/>
          </a:p>
        </p:txBody>
      </p:sp>
      <p:sp>
        <p:nvSpPr>
          <p:cNvPr id="3" name="Content Placeholder 2">
            <a:extLst>
              <a:ext uri="{FF2B5EF4-FFF2-40B4-BE49-F238E27FC236}">
                <a16:creationId xmlns:a16="http://schemas.microsoft.com/office/drawing/2014/main" id="{29C99E7B-80DA-6AFC-E994-8420FF877179}"/>
              </a:ext>
            </a:extLst>
          </p:cNvPr>
          <p:cNvSpPr>
            <a:spLocks noGrp="1"/>
          </p:cNvSpPr>
          <p:nvPr>
            <p:ph idx="1"/>
          </p:nvPr>
        </p:nvSpPr>
        <p:spPr>
          <a:xfrm>
            <a:off x="838200" y="2429821"/>
            <a:ext cx="5470003" cy="3747142"/>
          </a:xfrm>
        </p:spPr>
        <p:txBody>
          <a:bodyPr>
            <a:normAutofit fontScale="70000" lnSpcReduction="20000"/>
          </a:bodyPr>
          <a:lstStyle/>
          <a:p>
            <a:r>
              <a:rPr lang="en-RU" dirty="0">
                <a:latin typeface="Fira Code" pitchFamily="49" charset="0"/>
                <a:ea typeface="Fira Code" pitchFamily="49" charset="0"/>
                <a:cs typeface="Fira Code" pitchFamily="49" charset="0"/>
              </a:rPr>
              <a:t>data/surgery</a:t>
            </a:r>
            <a:r>
              <a:rPr lang="en-RU">
                <a:latin typeface="Fira Code" pitchFamily="49" charset="0"/>
                <a:ea typeface="Fira Code" pitchFamily="49" charset="0"/>
                <a:cs typeface="Fira Code" pitchFamily="49" charset="0"/>
              </a:rPr>
              <a:t>.csv</a:t>
            </a:r>
            <a:endParaRPr lang="en-US" dirty="0">
              <a:latin typeface="Fira Code" pitchFamily="49" charset="0"/>
              <a:ea typeface="Fira Code" pitchFamily="49" charset="0"/>
              <a:cs typeface="Fira Code" pitchFamily="49" charset="0"/>
            </a:endParaRPr>
          </a:p>
          <a:p>
            <a:r>
              <a:rPr lang="en-US" dirty="0">
                <a:latin typeface="Fira Code" pitchFamily="49" charset="0"/>
                <a:ea typeface="Fira Code" pitchFamily="49" charset="0"/>
                <a:cs typeface="Fira Code" pitchFamily="49" charset="0"/>
              </a:rPr>
              <a:t>data/</a:t>
            </a:r>
            <a:r>
              <a:rPr lang="en-US" dirty="0" err="1">
                <a:latin typeface="Fira Code" pitchFamily="49" charset="0"/>
                <a:ea typeface="Fira Code" pitchFamily="49" charset="0"/>
                <a:cs typeface="Fira Code" pitchFamily="49" charset="0"/>
              </a:rPr>
              <a:t>chemo.csv</a:t>
            </a:r>
            <a:endParaRPr lang="en-RU" dirty="0">
              <a:latin typeface="Fira Code" pitchFamily="49" charset="0"/>
              <a:ea typeface="Fira Code" pitchFamily="49" charset="0"/>
              <a:cs typeface="Fira Code" pitchFamily="49" charset="0"/>
            </a:endParaRPr>
          </a:p>
          <a:p>
            <a:r>
              <a:rPr lang="en-RU" dirty="0">
                <a:latin typeface="Fira Code" pitchFamily="49" charset="0"/>
                <a:ea typeface="Fira Code" pitchFamily="49" charset="0"/>
                <a:cs typeface="Fira Code" pitchFamily="49" charset="0"/>
              </a:rPr>
              <a:t>data</a:t>
            </a:r>
            <a:r>
              <a:rPr lang="en-RU">
                <a:latin typeface="Fira Code" pitchFamily="49" charset="0"/>
                <a:ea typeface="Fira Code" pitchFamily="49" charset="0"/>
                <a:cs typeface="Fira Code" pitchFamily="49" charset="0"/>
              </a:rPr>
              <a:t>.R</a:t>
            </a:r>
            <a:endParaRPr lang="ru-RU" dirty="0">
              <a:latin typeface="Fira Code" pitchFamily="49" charset="0"/>
              <a:ea typeface="Fira Code" pitchFamily="49" charset="0"/>
              <a:cs typeface="Fira Code" pitchFamily="49" charset="0"/>
            </a:endParaRPr>
          </a:p>
          <a:p>
            <a:r>
              <a:rPr lang="en-US" dirty="0">
                <a:latin typeface="Fira Code" pitchFamily="49" charset="0"/>
                <a:ea typeface="Fira Code" pitchFamily="49" charset="0"/>
                <a:cs typeface="Fira Code" pitchFamily="49" charset="0"/>
              </a:rPr>
              <a:t>fig/02-os.pdf</a:t>
            </a:r>
          </a:p>
          <a:p>
            <a:r>
              <a:rPr lang="en-US" dirty="0">
                <a:latin typeface="Fira Code" pitchFamily="49" charset="0"/>
                <a:ea typeface="Fira Code" pitchFamily="49" charset="0"/>
                <a:cs typeface="Fira Code" pitchFamily="49" charset="0"/>
              </a:rPr>
              <a:t>fig/03-os-cox-forestplot.pdf</a:t>
            </a:r>
          </a:p>
          <a:p>
            <a:r>
              <a:rPr lang="en-US" dirty="0" err="1">
                <a:latin typeface="Fira Code" pitchFamily="49" charset="0"/>
                <a:ea typeface="Fira Code" pitchFamily="49" charset="0"/>
                <a:cs typeface="Fira Code" pitchFamily="49" charset="0"/>
              </a:rPr>
              <a:t>misc.R</a:t>
            </a:r>
            <a:endParaRPr lang="en-RU" dirty="0">
              <a:latin typeface="Fira Code" pitchFamily="49" charset="0"/>
              <a:ea typeface="Fira Code" pitchFamily="49" charset="0"/>
              <a:cs typeface="Fira Code" pitchFamily="49" charset="0"/>
            </a:endParaRPr>
          </a:p>
          <a:p>
            <a:r>
              <a:rPr lang="en-RU">
                <a:latin typeface="Fira Code" pitchFamily="49" charset="0"/>
                <a:ea typeface="Fira Code" pitchFamily="49" charset="0"/>
                <a:cs typeface="Fira Code" pitchFamily="49" charset="0"/>
              </a:rPr>
              <a:t>01-EDA.Rmd</a:t>
            </a:r>
            <a:r>
              <a:rPr lang="en-US" dirty="0">
                <a:latin typeface="Fira Code" pitchFamily="49" charset="0"/>
                <a:ea typeface="Fira Code" pitchFamily="49" charset="0"/>
                <a:cs typeface="Fira Code" pitchFamily="49" charset="0"/>
              </a:rPr>
              <a:t>		</a:t>
            </a:r>
            <a:r>
              <a:rPr lang="en-RU">
                <a:solidFill>
                  <a:schemeClr val="bg1">
                    <a:lumMod val="75000"/>
                  </a:schemeClr>
                </a:solidFill>
                <a:latin typeface="Fira Code" pitchFamily="49" charset="0"/>
                <a:ea typeface="Fira Code" pitchFamily="49" charset="0"/>
                <a:cs typeface="Fira Code" pitchFamily="49" charset="0"/>
              </a:rPr>
              <a:t>(</a:t>
            </a:r>
            <a:r>
              <a:rPr lang="en-RU" dirty="0">
                <a:solidFill>
                  <a:schemeClr val="bg1">
                    <a:lumMod val="75000"/>
                  </a:schemeClr>
                </a:solidFill>
                <a:latin typeface="Fira Code" pitchFamily="49" charset="0"/>
                <a:ea typeface="Fira Code" pitchFamily="49" charset="0"/>
                <a:cs typeface="Fira Code" pitchFamily="49" charset="0"/>
              </a:rPr>
              <a:t>01-EDA.html)</a:t>
            </a:r>
          </a:p>
          <a:p>
            <a:r>
              <a:rPr lang="en-RU">
                <a:latin typeface="Fira Code" pitchFamily="49" charset="0"/>
                <a:ea typeface="Fira Code" pitchFamily="49" charset="0"/>
                <a:cs typeface="Fira Code" pitchFamily="49" charset="0"/>
              </a:rPr>
              <a:t>02-plot.Rmd</a:t>
            </a:r>
            <a:r>
              <a:rPr lang="en-US" dirty="0">
                <a:latin typeface="Fira Code" pitchFamily="49" charset="0"/>
                <a:ea typeface="Fira Code" pitchFamily="49" charset="0"/>
                <a:cs typeface="Fira Code" pitchFamily="49" charset="0"/>
              </a:rPr>
              <a:t>	</a:t>
            </a:r>
            <a:r>
              <a:rPr lang="en-RU">
                <a:solidFill>
                  <a:schemeClr val="bg1">
                    <a:lumMod val="75000"/>
                  </a:schemeClr>
                </a:solidFill>
                <a:latin typeface="Fira Code" pitchFamily="49" charset="0"/>
                <a:ea typeface="Fira Code" pitchFamily="49" charset="0"/>
                <a:cs typeface="Fira Code" pitchFamily="49" charset="0"/>
              </a:rPr>
              <a:t>(</a:t>
            </a:r>
            <a:r>
              <a:rPr lang="en-RU" dirty="0">
                <a:solidFill>
                  <a:schemeClr val="bg1">
                    <a:lumMod val="75000"/>
                  </a:schemeClr>
                </a:solidFill>
                <a:latin typeface="Fira Code" pitchFamily="49" charset="0"/>
                <a:ea typeface="Fira Code" pitchFamily="49" charset="0"/>
                <a:cs typeface="Fira Code" pitchFamily="49" charset="0"/>
              </a:rPr>
              <a:t>02-plot.html)</a:t>
            </a:r>
          </a:p>
          <a:p>
            <a:r>
              <a:rPr lang="en-RU" dirty="0">
                <a:latin typeface="Fira Code" pitchFamily="49" charset="0"/>
                <a:ea typeface="Fira Code" pitchFamily="49" charset="0"/>
                <a:cs typeface="Fira Code" pitchFamily="49" charset="0"/>
              </a:rPr>
              <a:t>03-model</a:t>
            </a:r>
            <a:r>
              <a:rPr lang="en-RU">
                <a:latin typeface="Fira Code" pitchFamily="49" charset="0"/>
                <a:ea typeface="Fira Code" pitchFamily="49" charset="0"/>
                <a:cs typeface="Fira Code" pitchFamily="49" charset="0"/>
              </a:rPr>
              <a:t>.Rmd</a:t>
            </a:r>
            <a:r>
              <a:rPr lang="en-US" dirty="0">
                <a:latin typeface="Fira Code" pitchFamily="49" charset="0"/>
                <a:ea typeface="Fira Code" pitchFamily="49" charset="0"/>
                <a:cs typeface="Fira Code" pitchFamily="49" charset="0"/>
              </a:rPr>
              <a:t>	</a:t>
            </a:r>
            <a:r>
              <a:rPr lang="en-RU">
                <a:solidFill>
                  <a:schemeClr val="bg1">
                    <a:lumMod val="75000"/>
                  </a:schemeClr>
                </a:solidFill>
                <a:latin typeface="Fira Code" pitchFamily="49" charset="0"/>
                <a:ea typeface="Fira Code" pitchFamily="49" charset="0"/>
                <a:cs typeface="Fira Code" pitchFamily="49" charset="0"/>
              </a:rPr>
              <a:t>(</a:t>
            </a:r>
            <a:r>
              <a:rPr lang="en-RU" dirty="0">
                <a:solidFill>
                  <a:schemeClr val="bg1">
                    <a:lumMod val="75000"/>
                  </a:schemeClr>
                </a:solidFill>
                <a:latin typeface="Fira Code" pitchFamily="49" charset="0"/>
                <a:ea typeface="Fira Code" pitchFamily="49" charset="0"/>
                <a:cs typeface="Fira Code" pitchFamily="49" charset="0"/>
              </a:rPr>
              <a:t>03-model.</a:t>
            </a:r>
            <a:r>
              <a:rPr lang="en-RU">
                <a:solidFill>
                  <a:schemeClr val="bg1">
                    <a:lumMod val="75000"/>
                  </a:schemeClr>
                </a:solidFill>
                <a:latin typeface="Fira Code" pitchFamily="49" charset="0"/>
                <a:ea typeface="Fira Code" pitchFamily="49" charset="0"/>
                <a:cs typeface="Fira Code" pitchFamily="49" charset="0"/>
              </a:rPr>
              <a:t>html)</a:t>
            </a:r>
            <a:endParaRPr lang="en-US" dirty="0">
              <a:solidFill>
                <a:schemeClr val="bg1">
                  <a:lumMod val="75000"/>
                </a:schemeClr>
              </a:solidFill>
              <a:latin typeface="Fira Code" pitchFamily="49" charset="0"/>
              <a:ea typeface="Fira Code" pitchFamily="49" charset="0"/>
              <a:cs typeface="Fira Code" pitchFamily="49" charset="0"/>
            </a:endParaRPr>
          </a:p>
          <a:p>
            <a:r>
              <a:rPr lang="en-US" dirty="0" err="1">
                <a:latin typeface="Fira Code" pitchFamily="49" charset="0"/>
                <a:ea typeface="Fira Code" pitchFamily="49" charset="0"/>
                <a:cs typeface="Fira Code" pitchFamily="49" charset="0"/>
              </a:rPr>
              <a:t>renv.lock</a:t>
            </a:r>
            <a:endParaRPr lang="en-RU" dirty="0">
              <a:solidFill>
                <a:schemeClr val="bg1">
                  <a:lumMod val="75000"/>
                </a:schemeClr>
              </a:solidFill>
              <a:latin typeface="Fira Code" pitchFamily="49" charset="0"/>
              <a:ea typeface="Fira Code" pitchFamily="49" charset="0"/>
              <a:cs typeface="Fira Code" pitchFamily="49" charset="0"/>
            </a:endParaRPr>
          </a:p>
          <a:p>
            <a:r>
              <a:rPr lang="en-RU" dirty="0">
                <a:latin typeface="Fira Code" pitchFamily="49" charset="0"/>
                <a:ea typeface="Fira Code" pitchFamily="49" charset="0"/>
                <a:cs typeface="Fira Code" pitchFamily="49" charset="0"/>
              </a:rPr>
              <a:t>README</a:t>
            </a:r>
            <a:r>
              <a:rPr lang="en-RU">
                <a:latin typeface="Fira Code" pitchFamily="49" charset="0"/>
                <a:ea typeface="Fira Code" pitchFamily="49" charset="0"/>
                <a:cs typeface="Fira Code" pitchFamily="49" charset="0"/>
              </a:rPr>
              <a:t>.md</a:t>
            </a:r>
            <a:endParaRPr lang="en-US" dirty="0">
              <a:latin typeface="Fira Code" pitchFamily="49" charset="0"/>
              <a:ea typeface="Fira Code" pitchFamily="49" charset="0"/>
              <a:cs typeface="Fira Code" pitchFamily="49" charset="0"/>
            </a:endParaRPr>
          </a:p>
        </p:txBody>
      </p:sp>
      <p:cxnSp>
        <p:nvCxnSpPr>
          <p:cNvPr id="4" name="Straight Connector 3">
            <a:extLst>
              <a:ext uri="{FF2B5EF4-FFF2-40B4-BE49-F238E27FC236}">
                <a16:creationId xmlns:a16="http://schemas.microsoft.com/office/drawing/2014/main" id="{735BA49F-8C8A-F0A6-61BE-5E81F61E7EAA}"/>
              </a:ext>
            </a:extLst>
          </p:cNvPr>
          <p:cNvCxnSpPr>
            <a:cxnSpLocks/>
            <a:endCxn id="7" idx="1"/>
          </p:cNvCxnSpPr>
          <p:nvPr/>
        </p:nvCxnSpPr>
        <p:spPr>
          <a:xfrm flipV="1">
            <a:off x="3692324" y="1829539"/>
            <a:ext cx="3229337" cy="803681"/>
          </a:xfrm>
          <a:prstGeom prst="line">
            <a:avLst/>
          </a:prstGeom>
          <a:ln w="28575">
            <a:solidFill>
              <a:srgbClr val="C00000"/>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D00C720-E741-4FB5-7F3D-7A22D8CBCDFA}"/>
              </a:ext>
            </a:extLst>
          </p:cNvPr>
          <p:cNvSpPr txBox="1"/>
          <p:nvPr/>
        </p:nvSpPr>
        <p:spPr>
          <a:xfrm>
            <a:off x="6921661" y="1414040"/>
            <a:ext cx="5045598" cy="830997"/>
          </a:xfrm>
          <a:prstGeom prst="rect">
            <a:avLst/>
          </a:prstGeom>
          <a:noFill/>
        </p:spPr>
        <p:txBody>
          <a:bodyPr wrap="square" rtlCol="0">
            <a:spAutoFit/>
          </a:bodyPr>
          <a:lstStyle/>
          <a:p>
            <a:r>
              <a:rPr lang="ru-RU" sz="2400" dirty="0">
                <a:solidFill>
                  <a:srgbClr val="C00000"/>
                </a:solidFill>
              </a:rPr>
              <a:t>Данные тоже </a:t>
            </a:r>
            <a:r>
              <a:rPr lang="ru-RU" sz="2400" dirty="0" err="1">
                <a:solidFill>
                  <a:srgbClr val="C00000"/>
                </a:solidFill>
              </a:rPr>
              <a:t>версионируются</a:t>
            </a:r>
            <a:r>
              <a:rPr lang="ru-RU" sz="2400" dirty="0">
                <a:solidFill>
                  <a:srgbClr val="C00000"/>
                </a:solidFill>
              </a:rPr>
              <a:t>.</a:t>
            </a:r>
          </a:p>
          <a:p>
            <a:r>
              <a:rPr lang="ru-RU" sz="2400" dirty="0">
                <a:solidFill>
                  <a:srgbClr val="C00000"/>
                </a:solidFill>
              </a:rPr>
              <a:t>Есть история изменений.</a:t>
            </a:r>
            <a:endParaRPr lang="en-US" sz="2400" dirty="0">
              <a:solidFill>
                <a:srgbClr val="C00000"/>
              </a:solidFill>
            </a:endParaRPr>
          </a:p>
        </p:txBody>
      </p:sp>
      <p:sp>
        <p:nvSpPr>
          <p:cNvPr id="6" name="TextBox 5">
            <a:extLst>
              <a:ext uri="{FF2B5EF4-FFF2-40B4-BE49-F238E27FC236}">
                <a16:creationId xmlns:a16="http://schemas.microsoft.com/office/drawing/2014/main" id="{C99753F4-5F5E-ECA0-0392-3075BD5CF153}"/>
              </a:ext>
            </a:extLst>
          </p:cNvPr>
          <p:cNvSpPr txBox="1"/>
          <p:nvPr/>
        </p:nvSpPr>
        <p:spPr>
          <a:xfrm>
            <a:off x="6921660" y="2772071"/>
            <a:ext cx="5045598" cy="461665"/>
          </a:xfrm>
          <a:prstGeom prst="rect">
            <a:avLst/>
          </a:prstGeom>
          <a:noFill/>
        </p:spPr>
        <p:txBody>
          <a:bodyPr wrap="square" rtlCol="0">
            <a:spAutoFit/>
          </a:bodyPr>
          <a:lstStyle/>
          <a:p>
            <a:r>
              <a:rPr lang="ru-RU" sz="2400" dirty="0">
                <a:solidFill>
                  <a:srgbClr val="C00000"/>
                </a:solidFill>
              </a:rPr>
              <a:t>Результат тоже.</a:t>
            </a:r>
            <a:endParaRPr lang="en-US" sz="2400" dirty="0">
              <a:solidFill>
                <a:srgbClr val="C00000"/>
              </a:solidFill>
            </a:endParaRPr>
          </a:p>
        </p:txBody>
      </p:sp>
      <p:cxnSp>
        <p:nvCxnSpPr>
          <p:cNvPr id="9" name="Straight Connector 8">
            <a:extLst>
              <a:ext uri="{FF2B5EF4-FFF2-40B4-BE49-F238E27FC236}">
                <a16:creationId xmlns:a16="http://schemas.microsoft.com/office/drawing/2014/main" id="{602E5CA2-4283-A721-D8A3-51B5B9DBAC48}"/>
              </a:ext>
            </a:extLst>
          </p:cNvPr>
          <p:cNvCxnSpPr>
            <a:cxnSpLocks/>
          </p:cNvCxnSpPr>
          <p:nvPr/>
        </p:nvCxnSpPr>
        <p:spPr>
          <a:xfrm flipV="1">
            <a:off x="5960962" y="3233502"/>
            <a:ext cx="1273215" cy="1273675"/>
          </a:xfrm>
          <a:prstGeom prst="line">
            <a:avLst/>
          </a:prstGeom>
          <a:ln w="28575">
            <a:solidFill>
              <a:srgbClr val="C00000"/>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04887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98E0B-A6DF-9B21-267F-546742694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DCCBA3-38B5-2C45-FAB7-845187D24139}"/>
              </a:ext>
            </a:extLst>
          </p:cNvPr>
          <p:cNvSpPr>
            <a:spLocks noGrp="1"/>
          </p:cNvSpPr>
          <p:nvPr>
            <p:ph type="title"/>
          </p:nvPr>
        </p:nvSpPr>
        <p:spPr/>
        <p:txBody>
          <a:bodyPr/>
          <a:lstStyle/>
          <a:p>
            <a:r>
              <a:rPr lang="ru-RU" dirty="0"/>
              <a:t>Структура репозитория</a:t>
            </a:r>
            <a:endParaRPr lang="en-RU" dirty="0"/>
          </a:p>
        </p:txBody>
      </p:sp>
      <p:sp>
        <p:nvSpPr>
          <p:cNvPr id="3" name="Content Placeholder 2">
            <a:extLst>
              <a:ext uri="{FF2B5EF4-FFF2-40B4-BE49-F238E27FC236}">
                <a16:creationId xmlns:a16="http://schemas.microsoft.com/office/drawing/2014/main" id="{F418F701-AB23-4961-FA8C-3C538357FADD}"/>
              </a:ext>
            </a:extLst>
          </p:cNvPr>
          <p:cNvSpPr>
            <a:spLocks noGrp="1"/>
          </p:cNvSpPr>
          <p:nvPr>
            <p:ph idx="1"/>
          </p:nvPr>
        </p:nvSpPr>
        <p:spPr>
          <a:xfrm>
            <a:off x="838200" y="2429821"/>
            <a:ext cx="5470003" cy="3747142"/>
          </a:xfrm>
        </p:spPr>
        <p:txBody>
          <a:bodyPr>
            <a:normAutofit fontScale="55000" lnSpcReduction="20000"/>
          </a:bodyPr>
          <a:lstStyle/>
          <a:p>
            <a:r>
              <a:rPr lang="en-RU" dirty="0">
                <a:latin typeface="Fira Code" pitchFamily="49" charset="0"/>
                <a:ea typeface="Fira Code" pitchFamily="49" charset="0"/>
                <a:cs typeface="Fira Code" pitchFamily="49" charset="0"/>
              </a:rPr>
              <a:t>data/surgery</a:t>
            </a:r>
            <a:r>
              <a:rPr lang="en-RU">
                <a:latin typeface="Fira Code" pitchFamily="49" charset="0"/>
                <a:ea typeface="Fira Code" pitchFamily="49" charset="0"/>
                <a:cs typeface="Fira Code" pitchFamily="49" charset="0"/>
              </a:rPr>
              <a:t>.csv</a:t>
            </a:r>
            <a:endParaRPr lang="en-US" dirty="0">
              <a:latin typeface="Fira Code" pitchFamily="49" charset="0"/>
              <a:ea typeface="Fira Code" pitchFamily="49" charset="0"/>
              <a:cs typeface="Fira Code" pitchFamily="49" charset="0"/>
            </a:endParaRPr>
          </a:p>
          <a:p>
            <a:r>
              <a:rPr lang="en-US" dirty="0">
                <a:latin typeface="Fira Code" pitchFamily="49" charset="0"/>
                <a:ea typeface="Fira Code" pitchFamily="49" charset="0"/>
                <a:cs typeface="Fira Code" pitchFamily="49" charset="0"/>
              </a:rPr>
              <a:t>data/</a:t>
            </a:r>
            <a:r>
              <a:rPr lang="en-US" dirty="0" err="1">
                <a:latin typeface="Fira Code" pitchFamily="49" charset="0"/>
                <a:ea typeface="Fira Code" pitchFamily="49" charset="0"/>
                <a:cs typeface="Fira Code" pitchFamily="49" charset="0"/>
              </a:rPr>
              <a:t>chemo.csv</a:t>
            </a:r>
            <a:endParaRPr lang="en-RU" dirty="0">
              <a:latin typeface="Fira Code" pitchFamily="49" charset="0"/>
              <a:ea typeface="Fira Code" pitchFamily="49" charset="0"/>
              <a:cs typeface="Fira Code" pitchFamily="49" charset="0"/>
            </a:endParaRPr>
          </a:p>
          <a:p>
            <a:r>
              <a:rPr lang="en-RU" dirty="0">
                <a:latin typeface="Fira Code" pitchFamily="49" charset="0"/>
                <a:ea typeface="Fira Code" pitchFamily="49" charset="0"/>
                <a:cs typeface="Fira Code" pitchFamily="49" charset="0"/>
              </a:rPr>
              <a:t>data</a:t>
            </a:r>
            <a:r>
              <a:rPr lang="en-RU">
                <a:latin typeface="Fira Code" pitchFamily="49" charset="0"/>
                <a:ea typeface="Fira Code" pitchFamily="49" charset="0"/>
                <a:cs typeface="Fira Code" pitchFamily="49" charset="0"/>
              </a:rPr>
              <a:t>.R</a:t>
            </a:r>
            <a:endParaRPr lang="ru-RU" dirty="0">
              <a:latin typeface="Fira Code" pitchFamily="49" charset="0"/>
              <a:ea typeface="Fira Code" pitchFamily="49" charset="0"/>
              <a:cs typeface="Fira Code" pitchFamily="49" charset="0"/>
            </a:endParaRPr>
          </a:p>
          <a:p>
            <a:r>
              <a:rPr lang="en-US" dirty="0">
                <a:latin typeface="Fira Code" pitchFamily="49" charset="0"/>
                <a:ea typeface="Fira Code" pitchFamily="49" charset="0"/>
                <a:cs typeface="Fira Code" pitchFamily="49" charset="0"/>
              </a:rPr>
              <a:t>fig/02-os.pdf</a:t>
            </a:r>
          </a:p>
          <a:p>
            <a:r>
              <a:rPr lang="en-US" dirty="0">
                <a:latin typeface="Fira Code" pitchFamily="49" charset="0"/>
                <a:ea typeface="Fira Code" pitchFamily="49" charset="0"/>
                <a:cs typeface="Fira Code" pitchFamily="49" charset="0"/>
              </a:rPr>
              <a:t>fig/03-os-cox-forestplot.pdf</a:t>
            </a:r>
          </a:p>
          <a:p>
            <a:r>
              <a:rPr lang="en-US" dirty="0" err="1">
                <a:latin typeface="Fira Code" pitchFamily="49" charset="0"/>
                <a:ea typeface="Fira Code" pitchFamily="49" charset="0"/>
                <a:cs typeface="Fira Code" pitchFamily="49" charset="0"/>
              </a:rPr>
              <a:t>misc.R</a:t>
            </a:r>
            <a:endParaRPr lang="en-US" dirty="0">
              <a:latin typeface="Fira Code" pitchFamily="49" charset="0"/>
              <a:ea typeface="Fira Code" pitchFamily="49" charset="0"/>
              <a:cs typeface="Fira Code" pitchFamily="49" charset="0"/>
            </a:endParaRPr>
          </a:p>
          <a:p>
            <a:r>
              <a:rPr lang="en-US" dirty="0" err="1">
                <a:latin typeface="Fira Code" pitchFamily="49" charset="0"/>
                <a:ea typeface="Fira Code" pitchFamily="49" charset="0"/>
                <a:cs typeface="Fira Code" pitchFamily="49" charset="0"/>
              </a:rPr>
              <a:t>stat_stepribbon.R</a:t>
            </a:r>
            <a:endParaRPr lang="en-RU" dirty="0">
              <a:latin typeface="Fira Code" pitchFamily="49" charset="0"/>
              <a:ea typeface="Fira Code" pitchFamily="49" charset="0"/>
              <a:cs typeface="Fira Code" pitchFamily="49" charset="0"/>
            </a:endParaRPr>
          </a:p>
          <a:p>
            <a:r>
              <a:rPr lang="en-RU">
                <a:latin typeface="Fira Code" pitchFamily="49" charset="0"/>
                <a:ea typeface="Fira Code" pitchFamily="49" charset="0"/>
                <a:cs typeface="Fira Code" pitchFamily="49" charset="0"/>
              </a:rPr>
              <a:t>01-EDA.Rmd</a:t>
            </a:r>
            <a:r>
              <a:rPr lang="en-US" dirty="0">
                <a:latin typeface="Fira Code" pitchFamily="49" charset="0"/>
                <a:ea typeface="Fira Code" pitchFamily="49" charset="0"/>
                <a:cs typeface="Fira Code" pitchFamily="49" charset="0"/>
              </a:rPr>
              <a:t>	</a:t>
            </a:r>
            <a:r>
              <a:rPr lang="en-RU">
                <a:solidFill>
                  <a:schemeClr val="bg1">
                    <a:lumMod val="75000"/>
                  </a:schemeClr>
                </a:solidFill>
                <a:latin typeface="Fira Code" pitchFamily="49" charset="0"/>
                <a:ea typeface="Fira Code" pitchFamily="49" charset="0"/>
                <a:cs typeface="Fira Code" pitchFamily="49" charset="0"/>
              </a:rPr>
              <a:t>(</a:t>
            </a:r>
            <a:r>
              <a:rPr lang="en-RU" dirty="0">
                <a:solidFill>
                  <a:schemeClr val="bg1">
                    <a:lumMod val="75000"/>
                  </a:schemeClr>
                </a:solidFill>
                <a:latin typeface="Fira Code" pitchFamily="49" charset="0"/>
                <a:ea typeface="Fira Code" pitchFamily="49" charset="0"/>
                <a:cs typeface="Fira Code" pitchFamily="49" charset="0"/>
              </a:rPr>
              <a:t>01-EDA.html)</a:t>
            </a:r>
          </a:p>
          <a:p>
            <a:r>
              <a:rPr lang="en-RU">
                <a:latin typeface="Fira Code" pitchFamily="49" charset="0"/>
                <a:ea typeface="Fira Code" pitchFamily="49" charset="0"/>
                <a:cs typeface="Fira Code" pitchFamily="49" charset="0"/>
              </a:rPr>
              <a:t>02-plot.Rmd</a:t>
            </a:r>
            <a:r>
              <a:rPr lang="en-US" dirty="0">
                <a:latin typeface="Fira Code" pitchFamily="49" charset="0"/>
                <a:ea typeface="Fira Code" pitchFamily="49" charset="0"/>
                <a:cs typeface="Fira Code" pitchFamily="49" charset="0"/>
              </a:rPr>
              <a:t>	</a:t>
            </a:r>
            <a:r>
              <a:rPr lang="en-RU">
                <a:solidFill>
                  <a:schemeClr val="bg1">
                    <a:lumMod val="75000"/>
                  </a:schemeClr>
                </a:solidFill>
                <a:latin typeface="Fira Code" pitchFamily="49" charset="0"/>
                <a:ea typeface="Fira Code" pitchFamily="49" charset="0"/>
                <a:cs typeface="Fira Code" pitchFamily="49" charset="0"/>
              </a:rPr>
              <a:t>(</a:t>
            </a:r>
            <a:r>
              <a:rPr lang="en-RU" dirty="0">
                <a:solidFill>
                  <a:schemeClr val="bg1">
                    <a:lumMod val="75000"/>
                  </a:schemeClr>
                </a:solidFill>
                <a:latin typeface="Fira Code" pitchFamily="49" charset="0"/>
                <a:ea typeface="Fira Code" pitchFamily="49" charset="0"/>
                <a:cs typeface="Fira Code" pitchFamily="49" charset="0"/>
              </a:rPr>
              <a:t>02-plot.html)</a:t>
            </a:r>
          </a:p>
          <a:p>
            <a:r>
              <a:rPr lang="en-RU" dirty="0">
                <a:latin typeface="Fira Code" pitchFamily="49" charset="0"/>
                <a:ea typeface="Fira Code" pitchFamily="49" charset="0"/>
                <a:cs typeface="Fira Code" pitchFamily="49" charset="0"/>
              </a:rPr>
              <a:t>03-model</a:t>
            </a:r>
            <a:r>
              <a:rPr lang="en-RU">
                <a:latin typeface="Fira Code" pitchFamily="49" charset="0"/>
                <a:ea typeface="Fira Code" pitchFamily="49" charset="0"/>
                <a:cs typeface="Fira Code" pitchFamily="49" charset="0"/>
              </a:rPr>
              <a:t>.Rmd</a:t>
            </a:r>
            <a:r>
              <a:rPr lang="en-US" dirty="0">
                <a:latin typeface="Fira Code" pitchFamily="49" charset="0"/>
                <a:ea typeface="Fira Code" pitchFamily="49" charset="0"/>
                <a:cs typeface="Fira Code" pitchFamily="49" charset="0"/>
              </a:rPr>
              <a:t>	</a:t>
            </a:r>
            <a:r>
              <a:rPr lang="en-RU">
                <a:solidFill>
                  <a:schemeClr val="bg1">
                    <a:lumMod val="75000"/>
                  </a:schemeClr>
                </a:solidFill>
                <a:latin typeface="Fira Code" pitchFamily="49" charset="0"/>
                <a:ea typeface="Fira Code" pitchFamily="49" charset="0"/>
                <a:cs typeface="Fira Code" pitchFamily="49" charset="0"/>
              </a:rPr>
              <a:t>(</a:t>
            </a:r>
            <a:r>
              <a:rPr lang="en-RU" dirty="0">
                <a:solidFill>
                  <a:schemeClr val="bg1">
                    <a:lumMod val="75000"/>
                  </a:schemeClr>
                </a:solidFill>
                <a:latin typeface="Fira Code" pitchFamily="49" charset="0"/>
                <a:ea typeface="Fira Code" pitchFamily="49" charset="0"/>
                <a:cs typeface="Fira Code" pitchFamily="49" charset="0"/>
              </a:rPr>
              <a:t>03-model.</a:t>
            </a:r>
            <a:r>
              <a:rPr lang="en-RU">
                <a:solidFill>
                  <a:schemeClr val="bg1">
                    <a:lumMod val="75000"/>
                  </a:schemeClr>
                </a:solidFill>
                <a:latin typeface="Fira Code" pitchFamily="49" charset="0"/>
                <a:ea typeface="Fira Code" pitchFamily="49" charset="0"/>
                <a:cs typeface="Fira Code" pitchFamily="49" charset="0"/>
              </a:rPr>
              <a:t>html)</a:t>
            </a:r>
            <a:endParaRPr lang="en-US" dirty="0">
              <a:solidFill>
                <a:schemeClr val="bg1">
                  <a:lumMod val="75000"/>
                </a:schemeClr>
              </a:solidFill>
              <a:latin typeface="Fira Code" pitchFamily="49" charset="0"/>
              <a:ea typeface="Fira Code" pitchFamily="49" charset="0"/>
              <a:cs typeface="Fira Code" pitchFamily="49" charset="0"/>
            </a:endParaRPr>
          </a:p>
          <a:p>
            <a:r>
              <a:rPr lang="en-US" dirty="0" err="1">
                <a:latin typeface="Fira Code" pitchFamily="49" charset="0"/>
                <a:ea typeface="Fira Code" pitchFamily="49" charset="0"/>
                <a:cs typeface="Fira Code" pitchFamily="49" charset="0"/>
              </a:rPr>
              <a:t>renv.lock</a:t>
            </a:r>
            <a:endParaRPr lang="en-RU" dirty="0">
              <a:solidFill>
                <a:schemeClr val="bg1">
                  <a:lumMod val="75000"/>
                </a:schemeClr>
              </a:solidFill>
              <a:latin typeface="Fira Code" pitchFamily="49" charset="0"/>
              <a:ea typeface="Fira Code" pitchFamily="49" charset="0"/>
              <a:cs typeface="Fira Code" pitchFamily="49" charset="0"/>
            </a:endParaRPr>
          </a:p>
          <a:p>
            <a:r>
              <a:rPr lang="en-RU" dirty="0">
                <a:latin typeface="Fira Code" pitchFamily="49" charset="0"/>
                <a:ea typeface="Fira Code" pitchFamily="49" charset="0"/>
                <a:cs typeface="Fira Code" pitchFamily="49" charset="0"/>
              </a:rPr>
              <a:t>README</a:t>
            </a:r>
            <a:r>
              <a:rPr lang="en-RU">
                <a:latin typeface="Fira Code" pitchFamily="49" charset="0"/>
                <a:ea typeface="Fira Code" pitchFamily="49" charset="0"/>
                <a:cs typeface="Fira Code" pitchFamily="49" charset="0"/>
              </a:rPr>
              <a:t>.md</a:t>
            </a:r>
            <a:endParaRPr lang="en-US" dirty="0">
              <a:latin typeface="Fira Code" pitchFamily="49" charset="0"/>
              <a:ea typeface="Fira Code" pitchFamily="49" charset="0"/>
              <a:cs typeface="Fira Code" pitchFamily="49" charset="0"/>
            </a:endParaRPr>
          </a:p>
        </p:txBody>
      </p:sp>
      <p:cxnSp>
        <p:nvCxnSpPr>
          <p:cNvPr id="4" name="Straight Connector 3">
            <a:extLst>
              <a:ext uri="{FF2B5EF4-FFF2-40B4-BE49-F238E27FC236}">
                <a16:creationId xmlns:a16="http://schemas.microsoft.com/office/drawing/2014/main" id="{157463F1-06B5-F7AA-E4EF-145DD57FB2D2}"/>
              </a:ext>
            </a:extLst>
          </p:cNvPr>
          <p:cNvCxnSpPr>
            <a:cxnSpLocks/>
            <a:endCxn id="7" idx="1"/>
          </p:cNvCxnSpPr>
          <p:nvPr/>
        </p:nvCxnSpPr>
        <p:spPr>
          <a:xfrm flipV="1">
            <a:off x="3692324" y="1829539"/>
            <a:ext cx="3229337" cy="803681"/>
          </a:xfrm>
          <a:prstGeom prst="line">
            <a:avLst/>
          </a:prstGeom>
          <a:ln w="28575">
            <a:solidFill>
              <a:srgbClr val="C00000"/>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315D12D-6BDB-3B13-C3EE-2ACE1F54DE0F}"/>
              </a:ext>
            </a:extLst>
          </p:cNvPr>
          <p:cNvSpPr txBox="1"/>
          <p:nvPr/>
        </p:nvSpPr>
        <p:spPr>
          <a:xfrm>
            <a:off x="6921661" y="1414040"/>
            <a:ext cx="5045598" cy="830997"/>
          </a:xfrm>
          <a:prstGeom prst="rect">
            <a:avLst/>
          </a:prstGeom>
          <a:noFill/>
        </p:spPr>
        <p:txBody>
          <a:bodyPr wrap="square" rtlCol="0">
            <a:spAutoFit/>
          </a:bodyPr>
          <a:lstStyle/>
          <a:p>
            <a:r>
              <a:rPr lang="ru-RU" sz="2400" dirty="0">
                <a:solidFill>
                  <a:srgbClr val="C00000"/>
                </a:solidFill>
              </a:rPr>
              <a:t>Данные тоже </a:t>
            </a:r>
            <a:r>
              <a:rPr lang="ru-RU" sz="2400" dirty="0" err="1">
                <a:solidFill>
                  <a:srgbClr val="C00000"/>
                </a:solidFill>
              </a:rPr>
              <a:t>версионируются</a:t>
            </a:r>
            <a:r>
              <a:rPr lang="ru-RU" sz="2400" dirty="0">
                <a:solidFill>
                  <a:srgbClr val="C00000"/>
                </a:solidFill>
              </a:rPr>
              <a:t>.</a:t>
            </a:r>
          </a:p>
          <a:p>
            <a:r>
              <a:rPr lang="ru-RU" sz="2400" dirty="0">
                <a:solidFill>
                  <a:srgbClr val="C00000"/>
                </a:solidFill>
              </a:rPr>
              <a:t>Есть история изменений.</a:t>
            </a:r>
            <a:endParaRPr lang="en-US" sz="2400" dirty="0">
              <a:solidFill>
                <a:srgbClr val="C00000"/>
              </a:solidFill>
            </a:endParaRPr>
          </a:p>
        </p:txBody>
      </p:sp>
      <p:sp>
        <p:nvSpPr>
          <p:cNvPr id="5" name="TextBox 4">
            <a:extLst>
              <a:ext uri="{FF2B5EF4-FFF2-40B4-BE49-F238E27FC236}">
                <a16:creationId xmlns:a16="http://schemas.microsoft.com/office/drawing/2014/main" id="{5E589BCC-A8B2-ACFC-AEB1-A4071CAF3CC8}"/>
              </a:ext>
            </a:extLst>
          </p:cNvPr>
          <p:cNvSpPr txBox="1"/>
          <p:nvPr/>
        </p:nvSpPr>
        <p:spPr>
          <a:xfrm>
            <a:off x="8095372" y="4507177"/>
            <a:ext cx="2698175" cy="707886"/>
          </a:xfrm>
          <a:prstGeom prst="rect">
            <a:avLst/>
          </a:prstGeom>
          <a:noFill/>
        </p:spPr>
        <p:txBody>
          <a:bodyPr wrap="none" rtlCol="0">
            <a:spAutoFit/>
          </a:bodyPr>
          <a:lstStyle/>
          <a:p>
            <a:r>
              <a:rPr lang="en-US" sz="2000" dirty="0">
                <a:solidFill>
                  <a:srgbClr val="C00000"/>
                </a:solidFill>
                <a:latin typeface="Fira Code" pitchFamily="49" charset="0"/>
                <a:ea typeface="Fira Code" pitchFamily="49" charset="0"/>
                <a:cs typeface="Fira Code" pitchFamily="49" charset="0"/>
              </a:rPr>
              <a:t>source("</a:t>
            </a:r>
            <a:r>
              <a:rPr lang="en-US" sz="2000" dirty="0" err="1">
                <a:solidFill>
                  <a:srgbClr val="C00000"/>
                </a:solidFill>
                <a:latin typeface="Fira Code" pitchFamily="49" charset="0"/>
                <a:ea typeface="Fira Code" pitchFamily="49" charset="0"/>
                <a:cs typeface="Fira Code" pitchFamily="49" charset="0"/>
              </a:rPr>
              <a:t>data.R</a:t>
            </a:r>
            <a:r>
              <a:rPr lang="en-US" sz="2000" dirty="0">
                <a:solidFill>
                  <a:srgbClr val="C00000"/>
                </a:solidFill>
                <a:latin typeface="Fira Code" pitchFamily="49" charset="0"/>
                <a:ea typeface="Fira Code" pitchFamily="49" charset="0"/>
                <a:cs typeface="Fira Code" pitchFamily="49" charset="0"/>
              </a:rPr>
              <a:t>")</a:t>
            </a:r>
          </a:p>
          <a:p>
            <a:r>
              <a:rPr lang="en-US" sz="2000" dirty="0">
                <a:solidFill>
                  <a:srgbClr val="C00000"/>
                </a:solidFill>
                <a:latin typeface="Fira Code" pitchFamily="49" charset="0"/>
                <a:ea typeface="Fira Code" pitchFamily="49" charset="0"/>
                <a:cs typeface="Fira Code" pitchFamily="49" charset="0"/>
              </a:rPr>
              <a:t>source("</a:t>
            </a:r>
            <a:r>
              <a:rPr lang="en-US" sz="2000" dirty="0" err="1">
                <a:solidFill>
                  <a:srgbClr val="C00000"/>
                </a:solidFill>
                <a:latin typeface="Fira Code" pitchFamily="49" charset="0"/>
                <a:ea typeface="Fira Code" pitchFamily="49" charset="0"/>
                <a:cs typeface="Fira Code" pitchFamily="49" charset="0"/>
              </a:rPr>
              <a:t>misc.R</a:t>
            </a:r>
            <a:r>
              <a:rPr lang="en-US" sz="2000" dirty="0">
                <a:solidFill>
                  <a:srgbClr val="C00000"/>
                </a:solidFill>
                <a:latin typeface="Fira Code" pitchFamily="49" charset="0"/>
                <a:ea typeface="Fira Code" pitchFamily="49" charset="0"/>
                <a:cs typeface="Fira Code" pitchFamily="49" charset="0"/>
              </a:rPr>
              <a:t>")</a:t>
            </a:r>
          </a:p>
        </p:txBody>
      </p:sp>
      <p:sp>
        <p:nvSpPr>
          <p:cNvPr id="6" name="TextBox 5">
            <a:extLst>
              <a:ext uri="{FF2B5EF4-FFF2-40B4-BE49-F238E27FC236}">
                <a16:creationId xmlns:a16="http://schemas.microsoft.com/office/drawing/2014/main" id="{256D045F-430B-D969-8A88-827CE5102ECF}"/>
              </a:ext>
            </a:extLst>
          </p:cNvPr>
          <p:cNvSpPr txBox="1"/>
          <p:nvPr/>
        </p:nvSpPr>
        <p:spPr>
          <a:xfrm>
            <a:off x="6921660" y="2772071"/>
            <a:ext cx="5045598" cy="461665"/>
          </a:xfrm>
          <a:prstGeom prst="rect">
            <a:avLst/>
          </a:prstGeom>
          <a:noFill/>
        </p:spPr>
        <p:txBody>
          <a:bodyPr wrap="square" rtlCol="0">
            <a:spAutoFit/>
          </a:bodyPr>
          <a:lstStyle/>
          <a:p>
            <a:r>
              <a:rPr lang="ru-RU" sz="2400" dirty="0">
                <a:solidFill>
                  <a:srgbClr val="C00000"/>
                </a:solidFill>
              </a:rPr>
              <a:t>Результат тоже.</a:t>
            </a:r>
            <a:endParaRPr lang="en-US" sz="2400" dirty="0">
              <a:solidFill>
                <a:srgbClr val="C00000"/>
              </a:solidFill>
            </a:endParaRPr>
          </a:p>
        </p:txBody>
      </p:sp>
      <p:cxnSp>
        <p:nvCxnSpPr>
          <p:cNvPr id="9" name="Straight Connector 8">
            <a:extLst>
              <a:ext uri="{FF2B5EF4-FFF2-40B4-BE49-F238E27FC236}">
                <a16:creationId xmlns:a16="http://schemas.microsoft.com/office/drawing/2014/main" id="{C1AD9E3D-B0A1-2DA1-D260-A1D0E5A74B73}"/>
              </a:ext>
            </a:extLst>
          </p:cNvPr>
          <p:cNvCxnSpPr>
            <a:cxnSpLocks/>
          </p:cNvCxnSpPr>
          <p:nvPr/>
        </p:nvCxnSpPr>
        <p:spPr>
          <a:xfrm flipV="1">
            <a:off x="5960962" y="3233502"/>
            <a:ext cx="1273215" cy="1273675"/>
          </a:xfrm>
          <a:prstGeom prst="line">
            <a:avLst/>
          </a:prstGeom>
          <a:ln w="28575">
            <a:solidFill>
              <a:srgbClr val="C00000"/>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16422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5E438-3A65-83E7-4ACF-CFE5E8F5CB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735B18-E23E-3821-0957-435CC3C1632C}"/>
              </a:ext>
            </a:extLst>
          </p:cNvPr>
          <p:cNvSpPr>
            <a:spLocks noGrp="1"/>
          </p:cNvSpPr>
          <p:nvPr>
            <p:ph type="title"/>
          </p:nvPr>
        </p:nvSpPr>
        <p:spPr/>
        <p:txBody>
          <a:bodyPr/>
          <a:lstStyle/>
          <a:p>
            <a:r>
              <a:rPr lang="en-US" dirty="0" err="1"/>
              <a:t>README.md</a:t>
            </a:r>
            <a:endParaRPr lang="en-RU" dirty="0"/>
          </a:p>
        </p:txBody>
      </p:sp>
      <p:sp>
        <p:nvSpPr>
          <p:cNvPr id="3" name="Content Placeholder 2">
            <a:extLst>
              <a:ext uri="{FF2B5EF4-FFF2-40B4-BE49-F238E27FC236}">
                <a16:creationId xmlns:a16="http://schemas.microsoft.com/office/drawing/2014/main" id="{AB314DBE-70D9-6823-0B2A-511C69ABD7F8}"/>
              </a:ext>
            </a:extLst>
          </p:cNvPr>
          <p:cNvSpPr>
            <a:spLocks noGrp="1"/>
          </p:cNvSpPr>
          <p:nvPr>
            <p:ph idx="1"/>
          </p:nvPr>
        </p:nvSpPr>
        <p:spPr>
          <a:xfrm>
            <a:off x="838200" y="1466327"/>
            <a:ext cx="10515600" cy="4351338"/>
          </a:xfrm>
        </p:spPr>
        <p:txBody>
          <a:bodyPr>
            <a:noAutofit/>
          </a:bodyPr>
          <a:lstStyle/>
          <a:p>
            <a:pPr marL="0" indent="0">
              <a:lnSpc>
                <a:spcPct val="100000"/>
              </a:lnSpc>
              <a:spcBef>
                <a:spcPts val="400"/>
              </a:spcBef>
              <a:buNone/>
            </a:pPr>
            <a:r>
              <a:rPr lang="en-US" sz="1600" b="1" dirty="0">
                <a:latin typeface="Fira Code" pitchFamily="49" charset="0"/>
                <a:ea typeface="Fira Code" pitchFamily="49" charset="0"/>
                <a:cs typeface="Fira Code" pitchFamily="49" charset="0"/>
              </a:rPr>
              <a:t># </a:t>
            </a:r>
            <a:r>
              <a:rPr lang="ru-RU" sz="1600" b="1" dirty="0">
                <a:latin typeface="Fira Code" pitchFamily="49" charset="0"/>
                <a:ea typeface="Fira Code" pitchFamily="49" charset="0"/>
                <a:cs typeface="Fira Code" pitchFamily="49" charset="0"/>
              </a:rPr>
              <a:t>Название проекта</a:t>
            </a:r>
            <a:endParaRPr lang="en-US" sz="1600" b="1" dirty="0">
              <a:latin typeface="Fira Code" pitchFamily="49" charset="0"/>
              <a:ea typeface="Fira Code" pitchFamily="49" charset="0"/>
              <a:cs typeface="Fira Code" pitchFamily="49" charset="0"/>
            </a:endParaRPr>
          </a:p>
          <a:p>
            <a:pPr marL="0" indent="0">
              <a:lnSpc>
                <a:spcPct val="100000"/>
              </a:lnSpc>
              <a:spcBef>
                <a:spcPts val="400"/>
              </a:spcBef>
              <a:buNone/>
            </a:pPr>
            <a:endParaRPr lang="ru-RU" sz="1600" dirty="0">
              <a:latin typeface="Fira Code" pitchFamily="49" charset="0"/>
              <a:ea typeface="Fira Code" pitchFamily="49" charset="0"/>
              <a:cs typeface="Fira Code" pitchFamily="49" charset="0"/>
            </a:endParaRPr>
          </a:p>
          <a:p>
            <a:pPr marL="0" indent="0">
              <a:lnSpc>
                <a:spcPct val="100000"/>
              </a:lnSpc>
              <a:spcBef>
                <a:spcPts val="400"/>
              </a:spcBef>
              <a:buNone/>
            </a:pPr>
            <a:r>
              <a:rPr lang="ru-RU" sz="1600" dirty="0">
                <a:latin typeface="Fira Code" pitchFamily="49" charset="0"/>
                <a:ea typeface="Fira Code" pitchFamily="49" charset="0"/>
                <a:cs typeface="Fira Code" pitchFamily="49" charset="0"/>
              </a:rPr>
              <a:t>Краткое описание</a:t>
            </a:r>
          </a:p>
          <a:p>
            <a:pPr marL="0" indent="0">
              <a:lnSpc>
                <a:spcPct val="100000"/>
              </a:lnSpc>
              <a:spcBef>
                <a:spcPts val="400"/>
              </a:spcBef>
              <a:buNone/>
            </a:pPr>
            <a:endParaRPr lang="en-US" sz="1600" dirty="0">
              <a:latin typeface="Fira Code" pitchFamily="49" charset="0"/>
              <a:ea typeface="Fira Code" pitchFamily="49" charset="0"/>
              <a:cs typeface="Fira Code" pitchFamily="49" charset="0"/>
            </a:endParaRPr>
          </a:p>
          <a:p>
            <a:pPr marL="0" indent="0">
              <a:lnSpc>
                <a:spcPct val="100000"/>
              </a:lnSpc>
              <a:spcBef>
                <a:spcPts val="400"/>
              </a:spcBef>
              <a:buNone/>
            </a:pPr>
            <a:r>
              <a:rPr lang="en-US" sz="1600" b="1" dirty="0">
                <a:latin typeface="Fira Code" pitchFamily="49" charset="0"/>
                <a:ea typeface="Fira Code" pitchFamily="49" charset="0"/>
                <a:cs typeface="Fira Code" pitchFamily="49" charset="0"/>
              </a:rPr>
              <a:t>## </a:t>
            </a:r>
            <a:r>
              <a:rPr lang="ru-RU" sz="1600" b="1" dirty="0">
                <a:latin typeface="Fira Code" pitchFamily="49" charset="0"/>
                <a:ea typeface="Fira Code" pitchFamily="49" charset="0"/>
                <a:cs typeface="Fira Code" pitchFamily="49" charset="0"/>
              </a:rPr>
              <a:t>Данные</a:t>
            </a:r>
          </a:p>
          <a:p>
            <a:pPr marL="0" indent="0">
              <a:lnSpc>
                <a:spcPct val="100000"/>
              </a:lnSpc>
              <a:spcBef>
                <a:spcPts val="400"/>
              </a:spcBef>
              <a:buNone/>
            </a:pPr>
            <a:endParaRPr lang="ru-RU" sz="1600" dirty="0">
              <a:latin typeface="Fira Code" pitchFamily="49" charset="0"/>
              <a:ea typeface="Fira Code" pitchFamily="49" charset="0"/>
              <a:cs typeface="Fira Code" pitchFamily="49" charset="0"/>
            </a:endParaRPr>
          </a:p>
          <a:p>
            <a:pPr marL="0" indent="0">
              <a:lnSpc>
                <a:spcPct val="100000"/>
              </a:lnSpc>
              <a:spcBef>
                <a:spcPts val="400"/>
              </a:spcBef>
              <a:buNone/>
            </a:pPr>
            <a:r>
              <a:rPr lang="ru-RU" sz="1600" dirty="0">
                <a:latin typeface="Fira Code" pitchFamily="49" charset="0"/>
                <a:ea typeface="Fira Code" pitchFamily="49" charset="0"/>
                <a:cs typeface="Fira Code" pitchFamily="49" charset="0"/>
              </a:rPr>
              <a:t>В файле </a:t>
            </a:r>
            <a:r>
              <a:rPr lang="en-US" sz="1600" dirty="0">
                <a:solidFill>
                  <a:srgbClr val="0070C0"/>
                </a:solidFill>
                <a:latin typeface="Fira Code" pitchFamily="49" charset="0"/>
                <a:ea typeface="Fira Code" pitchFamily="49" charset="0"/>
                <a:cs typeface="Fira Code" pitchFamily="49" charset="0"/>
              </a:rPr>
              <a:t>[imdb250.csv](imdb250.csv)</a:t>
            </a:r>
            <a:r>
              <a:rPr lang="en-US" sz="1600" dirty="0">
                <a:latin typeface="Fira Code" pitchFamily="49" charset="0"/>
                <a:ea typeface="Fira Code" pitchFamily="49" charset="0"/>
                <a:cs typeface="Fira Code" pitchFamily="49" charset="0"/>
              </a:rPr>
              <a:t> </a:t>
            </a:r>
            <a:r>
              <a:rPr lang="ru-RU" sz="1600" dirty="0">
                <a:latin typeface="Fira Code" pitchFamily="49" charset="0"/>
                <a:ea typeface="Fira Code" pitchFamily="49" charset="0"/>
                <a:cs typeface="Fira Code" pitchFamily="49" charset="0"/>
              </a:rPr>
              <a:t>содержится</a:t>
            </a:r>
            <a:endParaRPr lang="en-US" sz="1600" dirty="0">
              <a:latin typeface="Fira Code" pitchFamily="49" charset="0"/>
              <a:ea typeface="Fira Code" pitchFamily="49" charset="0"/>
              <a:cs typeface="Fira Code" pitchFamily="49" charset="0"/>
            </a:endParaRPr>
          </a:p>
          <a:p>
            <a:pPr marL="0" indent="0">
              <a:lnSpc>
                <a:spcPct val="100000"/>
              </a:lnSpc>
              <a:spcBef>
                <a:spcPts val="400"/>
              </a:spcBef>
              <a:buNone/>
            </a:pPr>
            <a:r>
              <a:rPr lang="ru-RU" sz="1600" dirty="0">
                <a:latin typeface="Fira Code" pitchFamily="49" charset="0"/>
                <a:ea typeface="Fira Code" pitchFamily="49" charset="0"/>
                <a:cs typeface="Fira Code" pitchFamily="49" charset="0"/>
              </a:rPr>
              <a:t>250 самых оцениваемых фильмов с 1980 по 2024 год.</a:t>
            </a:r>
          </a:p>
          <a:p>
            <a:pPr marL="0" indent="0">
              <a:lnSpc>
                <a:spcPct val="100000"/>
              </a:lnSpc>
              <a:spcBef>
                <a:spcPts val="400"/>
              </a:spcBef>
              <a:buNone/>
            </a:pPr>
            <a:endParaRPr lang="en-US" sz="1600" dirty="0">
              <a:latin typeface="Fira Code" pitchFamily="49" charset="0"/>
              <a:ea typeface="Fira Code" pitchFamily="49" charset="0"/>
              <a:cs typeface="Fira Code" pitchFamily="49" charset="0"/>
            </a:endParaRPr>
          </a:p>
          <a:p>
            <a:pPr marL="0" indent="0">
              <a:lnSpc>
                <a:spcPct val="100000"/>
              </a:lnSpc>
              <a:spcBef>
                <a:spcPts val="400"/>
              </a:spcBef>
              <a:buNone/>
            </a:pPr>
            <a:r>
              <a:rPr lang="en-US" sz="1600" b="1" dirty="0">
                <a:latin typeface="Fira Code" pitchFamily="49" charset="0"/>
                <a:ea typeface="Fira Code" pitchFamily="49" charset="0"/>
                <a:cs typeface="Fira Code" pitchFamily="49" charset="0"/>
              </a:rPr>
              <a:t>##</a:t>
            </a:r>
            <a:r>
              <a:rPr lang="ru-RU" sz="1600" b="1" dirty="0">
                <a:latin typeface="Fira Code" pitchFamily="49" charset="0"/>
                <a:ea typeface="Fira Code" pitchFamily="49" charset="0"/>
                <a:cs typeface="Fira Code" pitchFamily="49" charset="0"/>
              </a:rPr>
              <a:t> Анализ выживаемости</a:t>
            </a:r>
          </a:p>
          <a:p>
            <a:pPr marL="0" indent="0">
              <a:lnSpc>
                <a:spcPct val="100000"/>
              </a:lnSpc>
              <a:spcBef>
                <a:spcPts val="400"/>
              </a:spcBef>
              <a:buNone/>
            </a:pPr>
            <a:endParaRPr lang="ru-RU" sz="1600" b="1" dirty="0">
              <a:latin typeface="Fira Code" pitchFamily="49" charset="0"/>
              <a:ea typeface="Fira Code" pitchFamily="49" charset="0"/>
              <a:cs typeface="Fira Code" pitchFamily="49" charset="0"/>
            </a:endParaRPr>
          </a:p>
          <a:p>
            <a:pPr marL="0" indent="0">
              <a:lnSpc>
                <a:spcPct val="100000"/>
              </a:lnSpc>
              <a:spcBef>
                <a:spcPts val="400"/>
              </a:spcBef>
              <a:buNone/>
            </a:pPr>
            <a:r>
              <a:rPr lang="ru-RU" sz="1600" dirty="0">
                <a:latin typeface="Fira Code" pitchFamily="49" charset="0"/>
                <a:ea typeface="Fira Code" pitchFamily="49" charset="0"/>
                <a:cs typeface="Fira Code" pitchFamily="49" charset="0"/>
              </a:rPr>
              <a:t>Краткое описание и ссылка на файл с анализом. Общая выживаемость проанализирована при помощи </a:t>
            </a:r>
            <a:r>
              <a:rPr lang="en-US" sz="1600" dirty="0">
                <a:solidFill>
                  <a:srgbClr val="0070C0"/>
                </a:solidFill>
                <a:latin typeface="Fira Code" pitchFamily="49" charset="0"/>
                <a:ea typeface="Fira Code" pitchFamily="49" charset="0"/>
                <a:cs typeface="Fira Code" pitchFamily="49" charset="0"/>
              </a:rPr>
              <a:t>[</a:t>
            </a:r>
            <a:r>
              <a:rPr lang="ru-RU" sz="1600" dirty="0">
                <a:solidFill>
                  <a:srgbClr val="0070C0"/>
                </a:solidFill>
                <a:latin typeface="Fira Code" pitchFamily="49" charset="0"/>
                <a:ea typeface="Fira Code" pitchFamily="49" charset="0"/>
                <a:cs typeface="Fira Code" pitchFamily="49" charset="0"/>
              </a:rPr>
              <a:t>регрессии Кокса, построены скорректированные (</a:t>
            </a:r>
            <a:r>
              <a:rPr lang="en-US" sz="1600" dirty="0">
                <a:solidFill>
                  <a:srgbClr val="0070C0"/>
                </a:solidFill>
                <a:latin typeface="Fira Code" pitchFamily="49" charset="0"/>
                <a:ea typeface="Fira Code" pitchFamily="49" charset="0"/>
                <a:cs typeface="Fira Code" pitchFamily="49" charset="0"/>
              </a:rPr>
              <a:t>adjusted) </a:t>
            </a:r>
            <a:r>
              <a:rPr lang="ru-RU" sz="1600" dirty="0">
                <a:solidFill>
                  <a:srgbClr val="0070C0"/>
                </a:solidFill>
                <a:latin typeface="Fira Code" pitchFamily="49" charset="0"/>
                <a:ea typeface="Fira Code" pitchFamily="49" charset="0"/>
                <a:cs typeface="Fira Code" pitchFamily="49" charset="0"/>
              </a:rPr>
              <a:t>кривые выживаемости</a:t>
            </a:r>
            <a:r>
              <a:rPr lang="en-US" sz="1600" dirty="0">
                <a:solidFill>
                  <a:srgbClr val="0070C0"/>
                </a:solidFill>
                <a:latin typeface="Fira Code" pitchFamily="49" charset="0"/>
                <a:ea typeface="Fira Code" pitchFamily="49" charset="0"/>
                <a:cs typeface="Fira Code" pitchFamily="49" charset="0"/>
              </a:rPr>
              <a:t>](03-mod.Rmd)</a:t>
            </a:r>
            <a:r>
              <a:rPr lang="ru-RU" sz="1600" dirty="0">
                <a:latin typeface="Fira Code" pitchFamily="49" charset="0"/>
                <a:ea typeface="Fira Code" pitchFamily="49" charset="0"/>
                <a:cs typeface="Fira Code" pitchFamily="49" charset="0"/>
              </a:rPr>
              <a:t> при помощи </a:t>
            </a:r>
            <a:r>
              <a:rPr lang="en-US" sz="1600" dirty="0" err="1">
                <a:latin typeface="Fira Code" pitchFamily="49" charset="0"/>
                <a:ea typeface="Fira Code" pitchFamily="49" charset="0"/>
                <a:cs typeface="Fira Code" pitchFamily="49" charset="0"/>
              </a:rPr>
              <a:t>survexp</a:t>
            </a:r>
            <a:r>
              <a:rPr lang="en-US" sz="1600" dirty="0">
                <a:latin typeface="Fira Code" pitchFamily="49" charset="0"/>
                <a:ea typeface="Fira Code" pitchFamily="49" charset="0"/>
                <a:cs typeface="Fira Code" pitchFamily="49" charset="0"/>
              </a:rPr>
              <a:t>[^1]</a:t>
            </a:r>
            <a:r>
              <a:rPr lang="ru-RU" sz="1600" dirty="0">
                <a:latin typeface="Fira Code" pitchFamily="49" charset="0"/>
                <a:ea typeface="Fira Code" pitchFamily="49" charset="0"/>
                <a:cs typeface="Fira Code" pitchFamily="49" charset="0"/>
              </a:rPr>
              <a:t>.</a:t>
            </a:r>
            <a:endParaRPr lang="en-US" sz="1600" dirty="0">
              <a:latin typeface="Fira Code" pitchFamily="49" charset="0"/>
              <a:ea typeface="Fira Code" pitchFamily="49" charset="0"/>
              <a:cs typeface="Fira Code" pitchFamily="49" charset="0"/>
            </a:endParaRPr>
          </a:p>
          <a:p>
            <a:pPr marL="0" indent="0">
              <a:lnSpc>
                <a:spcPct val="100000"/>
              </a:lnSpc>
              <a:spcBef>
                <a:spcPts val="400"/>
              </a:spcBef>
              <a:buNone/>
            </a:pPr>
            <a:endParaRPr lang="en-US" sz="1600" dirty="0">
              <a:latin typeface="Fira Code" pitchFamily="49" charset="0"/>
              <a:ea typeface="Fira Code" pitchFamily="49" charset="0"/>
              <a:cs typeface="Fira Code" pitchFamily="49" charset="0"/>
            </a:endParaRPr>
          </a:p>
          <a:p>
            <a:pPr marL="0" indent="0">
              <a:lnSpc>
                <a:spcPct val="100000"/>
              </a:lnSpc>
              <a:spcBef>
                <a:spcPts val="400"/>
              </a:spcBef>
              <a:buNone/>
            </a:pPr>
            <a:r>
              <a:rPr lang="en-US" sz="1600" b="1" dirty="0">
                <a:latin typeface="Fira Code" pitchFamily="49" charset="0"/>
                <a:ea typeface="Fira Code" pitchFamily="49" charset="0"/>
                <a:cs typeface="Fira Code" pitchFamily="49" charset="0"/>
              </a:rPr>
              <a:t>## </a:t>
            </a:r>
            <a:r>
              <a:rPr lang="ru-RU" sz="1600" b="1" dirty="0">
                <a:latin typeface="Fira Code" pitchFamily="49" charset="0"/>
                <a:ea typeface="Fira Code" pitchFamily="49" charset="0"/>
                <a:cs typeface="Fira Code" pitchFamily="49" charset="0"/>
              </a:rPr>
              <a:t>Ссылки</a:t>
            </a:r>
            <a:endParaRPr lang="en-US" sz="1600" b="1" dirty="0">
              <a:latin typeface="Fira Code" pitchFamily="49" charset="0"/>
              <a:ea typeface="Fira Code" pitchFamily="49" charset="0"/>
              <a:cs typeface="Fira Code" pitchFamily="49" charset="0"/>
            </a:endParaRPr>
          </a:p>
          <a:p>
            <a:pPr marL="0" indent="0">
              <a:lnSpc>
                <a:spcPct val="100000"/>
              </a:lnSpc>
              <a:spcBef>
                <a:spcPts val="400"/>
              </a:spcBef>
              <a:buNone/>
            </a:pPr>
            <a:endParaRPr lang="en-US" sz="1600" dirty="0">
              <a:latin typeface="Fira Code" pitchFamily="49" charset="0"/>
              <a:ea typeface="Fira Code" pitchFamily="49" charset="0"/>
              <a:cs typeface="Fira Code" pitchFamily="49" charset="0"/>
            </a:endParaRPr>
          </a:p>
          <a:p>
            <a:pPr marL="0" indent="0">
              <a:lnSpc>
                <a:spcPct val="100000"/>
              </a:lnSpc>
              <a:spcBef>
                <a:spcPts val="400"/>
              </a:spcBef>
              <a:buNone/>
            </a:pPr>
            <a:r>
              <a:rPr lang="en-US" sz="1600" dirty="0">
                <a:latin typeface="Fira Code" pitchFamily="49" charset="0"/>
                <a:ea typeface="Fira Code" pitchFamily="49" charset="0"/>
                <a:cs typeface="Fira Code" pitchFamily="49" charset="0"/>
              </a:rPr>
              <a:t>[^1]: Adjusted Survival Curves. </a:t>
            </a:r>
            <a:r>
              <a:rPr lang="en-US" sz="1600" dirty="0" err="1">
                <a:latin typeface="Fira Code" pitchFamily="49" charset="0"/>
                <a:ea typeface="Fira Code" pitchFamily="49" charset="0"/>
                <a:cs typeface="Fira Code" pitchFamily="49" charset="0"/>
              </a:rPr>
              <a:t>Therneau</a:t>
            </a:r>
            <a:r>
              <a:rPr lang="en-US" sz="1600" dirty="0">
                <a:latin typeface="Fira Code" pitchFamily="49" charset="0"/>
                <a:ea typeface="Fira Code" pitchFamily="49" charset="0"/>
                <a:cs typeface="Fira Code" pitchFamily="49" charset="0"/>
              </a:rPr>
              <a:t>, Crowson, Atkinson, 2015</a:t>
            </a:r>
            <a:endParaRPr lang="ru-RU" sz="1600" dirty="0">
              <a:latin typeface="Fira Code" pitchFamily="49" charset="0"/>
              <a:ea typeface="Fira Code" pitchFamily="49" charset="0"/>
              <a:cs typeface="Fira Code" pitchFamily="49" charset="0"/>
            </a:endParaRPr>
          </a:p>
        </p:txBody>
      </p:sp>
    </p:spTree>
    <p:extLst>
      <p:ext uri="{BB962C8B-B14F-4D97-AF65-F5344CB8AC3E}">
        <p14:creationId xmlns:p14="http://schemas.microsoft.com/office/powerpoint/2010/main" val="33599034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71CE8-3C87-81B9-ABF2-CB68AC35DF17}"/>
              </a:ext>
            </a:extLst>
          </p:cNvPr>
          <p:cNvSpPr>
            <a:spLocks noGrp="1"/>
          </p:cNvSpPr>
          <p:nvPr>
            <p:ph type="title"/>
          </p:nvPr>
        </p:nvSpPr>
        <p:spPr/>
        <p:txBody>
          <a:bodyPr/>
          <a:lstStyle/>
          <a:p>
            <a:r>
              <a:rPr lang="ru-RU" dirty="0"/>
              <a:t>Клиенты</a:t>
            </a:r>
            <a:endParaRPr lang="en-RU" dirty="0"/>
          </a:p>
        </p:txBody>
      </p:sp>
      <p:sp>
        <p:nvSpPr>
          <p:cNvPr id="3" name="Content Placeholder 2">
            <a:extLst>
              <a:ext uri="{FF2B5EF4-FFF2-40B4-BE49-F238E27FC236}">
                <a16:creationId xmlns:a16="http://schemas.microsoft.com/office/drawing/2014/main" id="{F10D368C-6B70-4CB9-E26F-0DC9F6E68EA3}"/>
              </a:ext>
            </a:extLst>
          </p:cNvPr>
          <p:cNvSpPr>
            <a:spLocks noGrp="1"/>
          </p:cNvSpPr>
          <p:nvPr>
            <p:ph idx="1"/>
          </p:nvPr>
        </p:nvSpPr>
        <p:spPr/>
        <p:txBody>
          <a:bodyPr/>
          <a:lstStyle/>
          <a:p>
            <a:r>
              <a:rPr lang="en-US" dirty="0"/>
              <a:t>git (</a:t>
            </a:r>
            <a:r>
              <a:rPr lang="ru-RU" dirty="0"/>
              <a:t>терминал)</a:t>
            </a:r>
            <a:endParaRPr lang="en-US" dirty="0"/>
          </a:p>
        </p:txBody>
      </p:sp>
      <p:pic>
        <p:nvPicPr>
          <p:cNvPr id="4" name="Picture 3">
            <a:extLst>
              <a:ext uri="{FF2B5EF4-FFF2-40B4-BE49-F238E27FC236}">
                <a16:creationId xmlns:a16="http://schemas.microsoft.com/office/drawing/2014/main" id="{8D73D148-6D0B-6C93-A194-1EAA028AA648}"/>
              </a:ext>
            </a:extLst>
          </p:cNvPr>
          <p:cNvPicPr>
            <a:picLocks noChangeAspect="1"/>
          </p:cNvPicPr>
          <p:nvPr/>
        </p:nvPicPr>
        <p:blipFill>
          <a:blip r:embed="rId2"/>
          <a:stretch>
            <a:fillRect/>
          </a:stretch>
        </p:blipFill>
        <p:spPr>
          <a:xfrm>
            <a:off x="3983933" y="902481"/>
            <a:ext cx="7772400" cy="5590394"/>
          </a:xfrm>
          <a:prstGeom prst="rect">
            <a:avLst/>
          </a:prstGeom>
        </p:spPr>
      </p:pic>
    </p:spTree>
    <p:extLst>
      <p:ext uri="{BB962C8B-B14F-4D97-AF65-F5344CB8AC3E}">
        <p14:creationId xmlns:p14="http://schemas.microsoft.com/office/powerpoint/2010/main" val="11990809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9A5E1AD-0FC2-77E8-04F3-BEEB9D58F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6430C-C9F5-DDD8-FF4E-310960B5006E}"/>
              </a:ext>
            </a:extLst>
          </p:cNvPr>
          <p:cNvSpPr>
            <a:spLocks noGrp="1"/>
          </p:cNvSpPr>
          <p:nvPr>
            <p:ph type="title"/>
          </p:nvPr>
        </p:nvSpPr>
        <p:spPr/>
        <p:txBody>
          <a:bodyPr/>
          <a:lstStyle/>
          <a:p>
            <a:r>
              <a:rPr lang="ru-RU" dirty="0"/>
              <a:t>Клиенты</a:t>
            </a:r>
            <a:endParaRPr lang="en-RU" dirty="0"/>
          </a:p>
        </p:txBody>
      </p:sp>
      <p:sp>
        <p:nvSpPr>
          <p:cNvPr id="3" name="Content Placeholder 2">
            <a:extLst>
              <a:ext uri="{FF2B5EF4-FFF2-40B4-BE49-F238E27FC236}">
                <a16:creationId xmlns:a16="http://schemas.microsoft.com/office/drawing/2014/main" id="{89C0C008-BD21-05D1-5884-AF8F89C7C3AE}"/>
              </a:ext>
            </a:extLst>
          </p:cNvPr>
          <p:cNvSpPr>
            <a:spLocks noGrp="1"/>
          </p:cNvSpPr>
          <p:nvPr>
            <p:ph idx="1"/>
          </p:nvPr>
        </p:nvSpPr>
        <p:spPr/>
        <p:txBody>
          <a:bodyPr/>
          <a:lstStyle/>
          <a:p>
            <a:r>
              <a:rPr lang="en-US" dirty="0"/>
              <a:t>git (</a:t>
            </a:r>
            <a:r>
              <a:rPr lang="ru-RU" dirty="0"/>
              <a:t>терминал)</a:t>
            </a:r>
            <a:endParaRPr lang="en-US" dirty="0"/>
          </a:p>
          <a:p>
            <a:r>
              <a:rPr lang="en-US" dirty="0"/>
              <a:t>RStudio</a:t>
            </a:r>
            <a:endParaRPr lang="en-RU" dirty="0"/>
          </a:p>
        </p:txBody>
      </p:sp>
      <p:pic>
        <p:nvPicPr>
          <p:cNvPr id="4" name="Picture 3">
            <a:extLst>
              <a:ext uri="{FF2B5EF4-FFF2-40B4-BE49-F238E27FC236}">
                <a16:creationId xmlns:a16="http://schemas.microsoft.com/office/drawing/2014/main" id="{064EB943-059E-045C-127E-FF4E6C0F8A54}"/>
              </a:ext>
            </a:extLst>
          </p:cNvPr>
          <p:cNvPicPr>
            <a:picLocks noChangeAspect="1"/>
          </p:cNvPicPr>
          <p:nvPr/>
        </p:nvPicPr>
        <p:blipFill>
          <a:blip r:embed="rId2"/>
          <a:stretch>
            <a:fillRect/>
          </a:stretch>
        </p:blipFill>
        <p:spPr>
          <a:xfrm>
            <a:off x="4481022" y="681037"/>
            <a:ext cx="6872778" cy="6254722"/>
          </a:xfrm>
          <a:prstGeom prst="rect">
            <a:avLst/>
          </a:prstGeom>
        </p:spPr>
      </p:pic>
    </p:spTree>
    <p:extLst>
      <p:ext uri="{BB962C8B-B14F-4D97-AF65-F5344CB8AC3E}">
        <p14:creationId xmlns:p14="http://schemas.microsoft.com/office/powerpoint/2010/main" val="38692104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0F128C8-2791-6C7D-E429-25F4D0923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FA1F8C-C662-F0F1-EFB7-0E2B959904E6}"/>
              </a:ext>
            </a:extLst>
          </p:cNvPr>
          <p:cNvSpPr>
            <a:spLocks noGrp="1"/>
          </p:cNvSpPr>
          <p:nvPr>
            <p:ph type="title"/>
          </p:nvPr>
        </p:nvSpPr>
        <p:spPr/>
        <p:txBody>
          <a:bodyPr/>
          <a:lstStyle/>
          <a:p>
            <a:r>
              <a:rPr lang="ru-RU" dirty="0"/>
              <a:t>Клиенты</a:t>
            </a:r>
            <a:endParaRPr lang="en-RU" dirty="0"/>
          </a:p>
        </p:txBody>
      </p:sp>
      <p:sp>
        <p:nvSpPr>
          <p:cNvPr id="3" name="Content Placeholder 2">
            <a:extLst>
              <a:ext uri="{FF2B5EF4-FFF2-40B4-BE49-F238E27FC236}">
                <a16:creationId xmlns:a16="http://schemas.microsoft.com/office/drawing/2014/main" id="{36D7C937-AAB7-6881-345C-22F7F8D1086D}"/>
              </a:ext>
            </a:extLst>
          </p:cNvPr>
          <p:cNvSpPr>
            <a:spLocks noGrp="1"/>
          </p:cNvSpPr>
          <p:nvPr>
            <p:ph idx="1"/>
          </p:nvPr>
        </p:nvSpPr>
        <p:spPr/>
        <p:txBody>
          <a:bodyPr/>
          <a:lstStyle/>
          <a:p>
            <a:r>
              <a:rPr lang="en-US" dirty="0"/>
              <a:t>git (</a:t>
            </a:r>
            <a:r>
              <a:rPr lang="ru-RU" dirty="0"/>
              <a:t>терминал)</a:t>
            </a:r>
            <a:endParaRPr lang="en-US" dirty="0"/>
          </a:p>
          <a:p>
            <a:r>
              <a:rPr lang="en-US" dirty="0"/>
              <a:t>RStudio</a:t>
            </a:r>
            <a:endParaRPr lang="en-RU" dirty="0"/>
          </a:p>
          <a:p>
            <a:r>
              <a:rPr lang="en-RU" dirty="0"/>
              <a:t>GitKraken</a:t>
            </a:r>
          </a:p>
        </p:txBody>
      </p:sp>
      <p:pic>
        <p:nvPicPr>
          <p:cNvPr id="5" name="Picture 4">
            <a:extLst>
              <a:ext uri="{FF2B5EF4-FFF2-40B4-BE49-F238E27FC236}">
                <a16:creationId xmlns:a16="http://schemas.microsoft.com/office/drawing/2014/main" id="{350D0C87-A039-492E-C3EA-09607BDD5B86}"/>
              </a:ext>
            </a:extLst>
          </p:cNvPr>
          <p:cNvPicPr>
            <a:picLocks noChangeAspect="1"/>
          </p:cNvPicPr>
          <p:nvPr/>
        </p:nvPicPr>
        <p:blipFill>
          <a:blip r:embed="rId2"/>
          <a:stretch>
            <a:fillRect/>
          </a:stretch>
        </p:blipFill>
        <p:spPr>
          <a:xfrm>
            <a:off x="3742980" y="822954"/>
            <a:ext cx="8305800" cy="6158375"/>
          </a:xfrm>
          <a:prstGeom prst="rect">
            <a:avLst/>
          </a:prstGeom>
        </p:spPr>
      </p:pic>
    </p:spTree>
    <p:extLst>
      <p:ext uri="{BB962C8B-B14F-4D97-AF65-F5344CB8AC3E}">
        <p14:creationId xmlns:p14="http://schemas.microsoft.com/office/powerpoint/2010/main" val="33518081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1EFA10-A66F-AC97-406A-AE204F1C1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B7FCE-DAD2-A4D1-5193-574A02ED6805}"/>
              </a:ext>
            </a:extLst>
          </p:cNvPr>
          <p:cNvSpPr>
            <a:spLocks noGrp="1"/>
          </p:cNvSpPr>
          <p:nvPr>
            <p:ph type="title"/>
          </p:nvPr>
        </p:nvSpPr>
        <p:spPr/>
        <p:txBody>
          <a:bodyPr/>
          <a:lstStyle/>
          <a:p>
            <a:r>
              <a:rPr lang="ru-RU" dirty="0"/>
              <a:t>Клиенты</a:t>
            </a:r>
            <a:endParaRPr lang="en-RU" dirty="0"/>
          </a:p>
        </p:txBody>
      </p:sp>
      <p:sp>
        <p:nvSpPr>
          <p:cNvPr id="3" name="Content Placeholder 2">
            <a:extLst>
              <a:ext uri="{FF2B5EF4-FFF2-40B4-BE49-F238E27FC236}">
                <a16:creationId xmlns:a16="http://schemas.microsoft.com/office/drawing/2014/main" id="{FBB5486C-2654-C44B-CAA2-91A88AF03F80}"/>
              </a:ext>
            </a:extLst>
          </p:cNvPr>
          <p:cNvSpPr>
            <a:spLocks noGrp="1"/>
          </p:cNvSpPr>
          <p:nvPr>
            <p:ph idx="1"/>
          </p:nvPr>
        </p:nvSpPr>
        <p:spPr/>
        <p:txBody>
          <a:bodyPr/>
          <a:lstStyle/>
          <a:p>
            <a:r>
              <a:rPr lang="en-US" dirty="0"/>
              <a:t>git (</a:t>
            </a:r>
            <a:r>
              <a:rPr lang="ru-RU" dirty="0"/>
              <a:t>терминал)</a:t>
            </a:r>
            <a:endParaRPr lang="en-US" dirty="0"/>
          </a:p>
          <a:p>
            <a:r>
              <a:rPr lang="en-US" dirty="0"/>
              <a:t>RStudio</a:t>
            </a:r>
            <a:endParaRPr lang="en-RU" dirty="0"/>
          </a:p>
          <a:p>
            <a:r>
              <a:rPr lang="en-RU" dirty="0"/>
              <a:t>GitKraken</a:t>
            </a:r>
          </a:p>
          <a:p>
            <a:r>
              <a:rPr lang="en-RU" dirty="0"/>
              <a:t>GitHub Desktop</a:t>
            </a:r>
          </a:p>
        </p:txBody>
      </p:sp>
      <p:pic>
        <p:nvPicPr>
          <p:cNvPr id="5" name="Picture 4">
            <a:extLst>
              <a:ext uri="{FF2B5EF4-FFF2-40B4-BE49-F238E27FC236}">
                <a16:creationId xmlns:a16="http://schemas.microsoft.com/office/drawing/2014/main" id="{0FABB3A6-D21F-4EE6-96BA-5541E202088F}"/>
              </a:ext>
            </a:extLst>
          </p:cNvPr>
          <p:cNvPicPr>
            <a:picLocks noChangeAspect="1"/>
          </p:cNvPicPr>
          <p:nvPr/>
        </p:nvPicPr>
        <p:blipFill>
          <a:blip r:embed="rId2"/>
          <a:srcRect/>
          <a:stretch/>
        </p:blipFill>
        <p:spPr>
          <a:xfrm>
            <a:off x="3742980" y="911434"/>
            <a:ext cx="8305800" cy="5981415"/>
          </a:xfrm>
          <a:prstGeom prst="rect">
            <a:avLst/>
          </a:prstGeom>
        </p:spPr>
      </p:pic>
    </p:spTree>
    <p:extLst>
      <p:ext uri="{BB962C8B-B14F-4D97-AF65-F5344CB8AC3E}">
        <p14:creationId xmlns:p14="http://schemas.microsoft.com/office/powerpoint/2010/main" val="21310645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0656A-2274-C281-67C9-6D32607429C5}"/>
              </a:ext>
            </a:extLst>
          </p:cNvPr>
          <p:cNvSpPr>
            <a:spLocks noGrp="1"/>
          </p:cNvSpPr>
          <p:nvPr>
            <p:ph type="title"/>
          </p:nvPr>
        </p:nvSpPr>
        <p:spPr/>
        <p:txBody>
          <a:bodyPr/>
          <a:lstStyle/>
          <a:p>
            <a:r>
              <a:rPr lang="ru-RU" dirty="0"/>
              <a:t>Ссылки</a:t>
            </a:r>
            <a:endParaRPr lang="en-US" dirty="0"/>
          </a:p>
        </p:txBody>
      </p:sp>
      <p:sp>
        <p:nvSpPr>
          <p:cNvPr id="3" name="Content Placeholder 2">
            <a:extLst>
              <a:ext uri="{FF2B5EF4-FFF2-40B4-BE49-F238E27FC236}">
                <a16:creationId xmlns:a16="http://schemas.microsoft.com/office/drawing/2014/main" id="{754E20DD-1403-B2AE-DD41-18971FCD0349}"/>
              </a:ext>
            </a:extLst>
          </p:cNvPr>
          <p:cNvSpPr>
            <a:spLocks noGrp="1"/>
          </p:cNvSpPr>
          <p:nvPr>
            <p:ph idx="1"/>
          </p:nvPr>
        </p:nvSpPr>
        <p:spPr/>
        <p:txBody>
          <a:bodyPr/>
          <a:lstStyle/>
          <a:p>
            <a:pPr marL="0" indent="0">
              <a:buNone/>
            </a:pPr>
            <a:r>
              <a:rPr lang="en-US" dirty="0"/>
              <a:t>- </a:t>
            </a:r>
            <a:r>
              <a:rPr lang="en-US" dirty="0">
                <a:hlinkClick r:id="rId2"/>
              </a:rPr>
              <a:t>Good enough practices in scientific computing, Data Carpentry</a:t>
            </a:r>
            <a:endParaRPr lang="en-US" dirty="0"/>
          </a:p>
          <a:p>
            <a:pPr marL="0" indent="0">
              <a:buNone/>
            </a:pPr>
            <a:r>
              <a:rPr lang="en-US" dirty="0"/>
              <a:t>- </a:t>
            </a:r>
            <a:r>
              <a:rPr lang="en-US" dirty="0">
                <a:hlinkClick r:id="rId3"/>
              </a:rPr>
              <a:t>Best Practices for Scientific Computing, Data Carpentry</a:t>
            </a:r>
            <a:endParaRPr lang="en-US" dirty="0"/>
          </a:p>
          <a:p>
            <a:pPr marL="0" indent="0">
              <a:buNone/>
            </a:pPr>
            <a:r>
              <a:rPr lang="en-US" dirty="0"/>
              <a:t>- </a:t>
            </a:r>
            <a:r>
              <a:rPr lang="en-US" dirty="0">
                <a:hlinkClick r:id="rId4"/>
              </a:rPr>
              <a:t>Happy Git and GitHub for the useR</a:t>
            </a:r>
            <a:r>
              <a:rPr lang="en-US" dirty="0"/>
              <a:t> </a:t>
            </a:r>
          </a:p>
          <a:p>
            <a:pPr marL="0" indent="0">
              <a:buNone/>
            </a:pPr>
            <a:r>
              <a:rPr lang="en-US" dirty="0"/>
              <a:t>- </a:t>
            </a:r>
            <a:r>
              <a:rPr lang="en-US" dirty="0">
                <a:hlinkClick r:id="rId5"/>
              </a:rPr>
              <a:t>What They Forgot to Teach You About R</a:t>
            </a:r>
            <a:endParaRPr lang="en-US" dirty="0"/>
          </a:p>
          <a:p>
            <a:pPr marL="0" indent="0">
              <a:buNone/>
            </a:pPr>
            <a:endParaRPr lang="en-US" dirty="0"/>
          </a:p>
        </p:txBody>
      </p:sp>
    </p:spTree>
    <p:extLst>
      <p:ext uri="{BB962C8B-B14F-4D97-AF65-F5344CB8AC3E}">
        <p14:creationId xmlns:p14="http://schemas.microsoft.com/office/powerpoint/2010/main" val="4778043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AC448-FAA1-17C3-FEBD-8C4E7B24B77C}"/>
              </a:ext>
            </a:extLst>
          </p:cNvPr>
          <p:cNvSpPr>
            <a:spLocks noGrp="1"/>
          </p:cNvSpPr>
          <p:nvPr>
            <p:ph type="title"/>
          </p:nvPr>
        </p:nvSpPr>
        <p:spPr/>
        <p:txBody>
          <a:bodyPr/>
          <a:lstStyle/>
          <a:p>
            <a:r>
              <a:rPr lang="en-RU" dirty="0"/>
              <a:t>Reformat code</a:t>
            </a:r>
          </a:p>
        </p:txBody>
      </p:sp>
      <p:pic>
        <p:nvPicPr>
          <p:cNvPr id="4" name="Content Placeholder 3">
            <a:extLst>
              <a:ext uri="{FF2B5EF4-FFF2-40B4-BE49-F238E27FC236}">
                <a16:creationId xmlns:a16="http://schemas.microsoft.com/office/drawing/2014/main" id="{205F7E08-25B0-D5E0-BE04-25EE3257F45E}"/>
              </a:ext>
            </a:extLst>
          </p:cNvPr>
          <p:cNvPicPr>
            <a:picLocks noGrp="1" noChangeAspect="1"/>
          </p:cNvPicPr>
          <p:nvPr>
            <p:ph idx="1"/>
          </p:nvPr>
        </p:nvPicPr>
        <p:blipFill>
          <a:blip r:embed="rId2"/>
          <a:stretch>
            <a:fillRect/>
          </a:stretch>
        </p:blipFill>
        <p:spPr>
          <a:xfrm>
            <a:off x="838200" y="1813496"/>
            <a:ext cx="2699362" cy="4351338"/>
          </a:xfrm>
          <a:prstGeom prst="rect">
            <a:avLst/>
          </a:prstGeom>
        </p:spPr>
      </p:pic>
      <p:pic>
        <p:nvPicPr>
          <p:cNvPr id="3" name="Picture 2">
            <a:extLst>
              <a:ext uri="{FF2B5EF4-FFF2-40B4-BE49-F238E27FC236}">
                <a16:creationId xmlns:a16="http://schemas.microsoft.com/office/drawing/2014/main" id="{ED3B2E5C-7DA9-3500-9078-1FBEB34E2CF6}"/>
              </a:ext>
            </a:extLst>
          </p:cNvPr>
          <p:cNvPicPr>
            <a:picLocks noChangeAspect="1"/>
          </p:cNvPicPr>
          <p:nvPr/>
        </p:nvPicPr>
        <p:blipFill>
          <a:blip r:embed="rId3"/>
          <a:stretch>
            <a:fillRect/>
          </a:stretch>
        </p:blipFill>
        <p:spPr>
          <a:xfrm>
            <a:off x="4127140" y="1813496"/>
            <a:ext cx="3679766" cy="1626416"/>
          </a:xfrm>
          <a:prstGeom prst="rect">
            <a:avLst/>
          </a:prstGeom>
        </p:spPr>
      </p:pic>
      <p:pic>
        <p:nvPicPr>
          <p:cNvPr id="5" name="Picture 4">
            <a:extLst>
              <a:ext uri="{FF2B5EF4-FFF2-40B4-BE49-F238E27FC236}">
                <a16:creationId xmlns:a16="http://schemas.microsoft.com/office/drawing/2014/main" id="{2F2AF83B-1DA7-19EB-0369-3A9C9000DD80}"/>
              </a:ext>
            </a:extLst>
          </p:cNvPr>
          <p:cNvPicPr>
            <a:picLocks noChangeAspect="1"/>
          </p:cNvPicPr>
          <p:nvPr/>
        </p:nvPicPr>
        <p:blipFill>
          <a:blip r:embed="rId4"/>
          <a:stretch>
            <a:fillRect/>
          </a:stretch>
        </p:blipFill>
        <p:spPr>
          <a:xfrm>
            <a:off x="4127140" y="4476812"/>
            <a:ext cx="4792573" cy="1213570"/>
          </a:xfrm>
          <a:prstGeom prst="rect">
            <a:avLst/>
          </a:prstGeom>
        </p:spPr>
      </p:pic>
    </p:spTree>
    <p:extLst>
      <p:ext uri="{BB962C8B-B14F-4D97-AF65-F5344CB8AC3E}">
        <p14:creationId xmlns:p14="http://schemas.microsoft.com/office/powerpoint/2010/main" val="36559576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6600</TotalTime>
  <Words>2452</Words>
  <Application>Microsoft Macintosh PowerPoint</Application>
  <PresentationFormat>Widescreen</PresentationFormat>
  <Paragraphs>419</Paragraphs>
  <Slides>71</Slides>
  <Notes>26</Notes>
  <HiddenSlides>8</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71</vt:i4>
      </vt:variant>
    </vt:vector>
  </HeadingPairs>
  <TitlesOfParts>
    <vt:vector size="78" baseType="lpstr">
      <vt:lpstr>Aptos</vt:lpstr>
      <vt:lpstr>Arial</vt:lpstr>
      <vt:lpstr>Calibri</vt:lpstr>
      <vt:lpstr>Calibri Light</vt:lpstr>
      <vt:lpstr>Fira Code</vt:lpstr>
      <vt:lpstr>Monaco</vt:lpstr>
      <vt:lpstr>Office Theme</vt:lpstr>
      <vt:lpstr>Принципы воспроизводимого анализа данных</vt:lpstr>
      <vt:lpstr>План</vt:lpstr>
      <vt:lpstr>Воспроизводимость</vt:lpstr>
      <vt:lpstr>Относительные пути</vt:lpstr>
      <vt:lpstr>Проекты в RStudio</vt:lpstr>
      <vt:lpstr>Воспроизводимость</vt:lpstr>
      <vt:lpstr>Перезапускайте сессию</vt:lpstr>
      <vt:lpstr>Перезапускайте сессию</vt:lpstr>
      <vt:lpstr>Чистая сессия</vt:lpstr>
      <vt:lpstr>Сохранение объектов</vt:lpstr>
      <vt:lpstr>Воспроизводимость</vt:lpstr>
      <vt:lpstr>install.packages</vt:lpstr>
      <vt:lpstr>install.packages</vt:lpstr>
      <vt:lpstr>install.packages</vt:lpstr>
      <vt:lpstr>sessionInfo</vt:lpstr>
      <vt:lpstr>renv</vt:lpstr>
      <vt:lpstr>renv</vt:lpstr>
      <vt:lpstr>renv.lock</vt:lpstr>
      <vt:lpstr>renv.lock</vt:lpstr>
      <vt:lpstr>renv</vt:lpstr>
      <vt:lpstr>renv</vt:lpstr>
      <vt:lpstr>stop</vt:lpstr>
      <vt:lpstr>stopifnot</vt:lpstr>
      <vt:lpstr>assertr</vt:lpstr>
      <vt:lpstr>assertr</vt:lpstr>
      <vt:lpstr>assertr</vt:lpstr>
      <vt:lpstr>assertr</vt:lpstr>
      <vt:lpstr>Встроенные предикаты</vt:lpstr>
      <vt:lpstr>assertr</vt:lpstr>
      <vt:lpstr>reprex (Reproducible Example)</vt:lpstr>
      <vt:lpstr>Воспроизводимость</vt:lpstr>
      <vt:lpstr>PowerPoint Presentation</vt:lpstr>
      <vt:lpstr>PowerPoint Presentation</vt:lpstr>
      <vt:lpstr>Зачем</vt:lpstr>
      <vt:lpstr>PowerPoint Presentation</vt:lpstr>
      <vt:lpstr>PowerPoint Presentation</vt:lpstr>
      <vt:lpstr>Для разработки</vt:lpstr>
      <vt:lpstr>Для разработки</vt:lpstr>
      <vt:lpstr>Для резюме</vt:lpstr>
      <vt:lpstr>RStudio</vt:lpstr>
      <vt:lpstr>Терминал</vt:lpstr>
      <vt:lpstr>Рабочая область (Working tree)</vt:lpstr>
      <vt:lpstr>Рабочая область (Working tree)</vt:lpstr>
      <vt:lpstr>Рабочая область</vt:lpstr>
      <vt:lpstr>Рабочая область</vt:lpstr>
      <vt:lpstr>Фиксация изменений (Commit)</vt:lpstr>
      <vt:lpstr>Рабочая область (Working tree)</vt:lpstr>
      <vt:lpstr>Рабочая область (Working tree)</vt:lpstr>
      <vt:lpstr>Фиксация изменений (Commit)</vt:lpstr>
      <vt:lpstr>Итеративный процесс работы</vt:lpstr>
      <vt:lpstr>Итеративный процесс работы</vt:lpstr>
      <vt:lpstr>Итеративный процесс работы</vt:lpstr>
      <vt:lpstr>Итеративный процесс работы</vt:lpstr>
      <vt:lpstr>Итеративный процесс работы</vt:lpstr>
      <vt:lpstr>Журнал изменений (log)</vt:lpstr>
      <vt:lpstr>Ветви (branch)</vt:lpstr>
      <vt:lpstr>Ветви (branch)</vt:lpstr>
      <vt:lpstr>PowerPoint Presentation</vt:lpstr>
      <vt:lpstr>Pull Request (PR)</vt:lpstr>
      <vt:lpstr>Не копите изменения в рабочей области</vt:lpstr>
      <vt:lpstr>git push --force</vt:lpstr>
      <vt:lpstr>Все сломалось</vt:lpstr>
      <vt:lpstr>Структура репозитория</vt:lpstr>
      <vt:lpstr>Структура репозитория</vt:lpstr>
      <vt:lpstr>README.md</vt:lpstr>
      <vt:lpstr>Клиенты</vt:lpstr>
      <vt:lpstr>Клиенты</vt:lpstr>
      <vt:lpstr>Клиенты</vt:lpstr>
      <vt:lpstr>Клиенты</vt:lpstr>
      <vt:lpstr>Ссылки</vt:lpstr>
      <vt:lpstr>Reformat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Kirill Voronin</dc:creator>
  <cp:lastModifiedBy>Kirill Voronin</cp:lastModifiedBy>
  <cp:revision>678</cp:revision>
  <dcterms:created xsi:type="dcterms:W3CDTF">2024-12-01T19:57:34Z</dcterms:created>
  <dcterms:modified xsi:type="dcterms:W3CDTF">2025-04-05T12:36:55Z</dcterms:modified>
</cp:coreProperties>
</file>