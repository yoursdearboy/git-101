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62" r:id="rId2"/>
    <p:sldId id="318" r:id="rId3"/>
    <p:sldId id="349" r:id="rId4"/>
    <p:sldId id="322" r:id="rId5"/>
    <p:sldId id="323" r:id="rId6"/>
    <p:sldId id="369" r:id="rId7"/>
    <p:sldId id="365" r:id="rId8"/>
    <p:sldId id="370" r:id="rId9"/>
    <p:sldId id="3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58"/>
  </p:normalViewPr>
  <p:slideViewPr>
    <p:cSldViewPr snapToGrid="0">
      <p:cViewPr varScale="1">
        <p:scale>
          <a:sx n="120" d="100"/>
          <a:sy n="12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76D30-02C7-8A43-ABF4-24BF6D2082D8}" type="datetimeFigureOut">
              <a:rPr lang="en-US" smtClean="0"/>
              <a:t>4/10/25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0C87C-92E9-6E44-AC7F-D5F4830DC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90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E0D41-93C9-A64D-BD89-67176F36031A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38495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D7776-403A-E021-1091-2D44B0B49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05CC9-543E-2024-2B28-AC804A279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E13F3-004C-E53F-67A5-A37A0DC7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F467-330C-7A49-2FAC-08BB9D6D8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1111A-2851-3C3F-827F-058315FC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19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5E584-2B19-017E-24B2-84482D64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1EF7F-990C-775F-B5DD-5F24EF155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924F-5610-96C3-61F4-816A0689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27FA-4509-FAAC-054F-426F99ED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7C69A-5A60-85AA-3F60-93230A828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8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356D-BD4E-E3D6-C8EF-B8365B6F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5188C-792A-64B0-EB2A-1791C3F8E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A142-87D1-0FBC-3CF7-32078704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8DCA2-50C0-355E-697E-D5951A59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9B421-5B81-CBFB-41A1-38EC824C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64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1271-5CD6-D7F1-9198-7F1F8C73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938D2-03BC-894A-DD5F-2633EEC83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622B9-5DB5-68B0-531F-2D35D169A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5009F-E4D5-EE7A-E9B0-02FB4F494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1E8E5-477C-D72E-DAF2-1DD52A08D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4E7EE-6210-486A-6B12-A77C154B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5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905D-9A69-FA8B-1C98-E5DA508B6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F347D-7E2A-DC1D-0111-2FF3FC7C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75ABF-EC38-B307-4C51-A9B9AA87F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878A92-79D9-4AEA-3730-EEF38C1F3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1BFBD-7C40-CD40-057D-200BDE37E7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740E66-E169-92AE-0DC2-001AED32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AECDC-0B2D-3DF3-373C-F1E25F33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493E2-D461-85A5-DB0C-720B7EB9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31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BE29-C5A9-9604-85DD-04332378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68BADC-8176-BDCC-9E7D-5FE8D41D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D4BE3-2818-4F6C-2AAF-C2ED2925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4352B-5625-96F8-9B0E-C5037FBA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3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ECB359-6B00-552F-2562-9562177B7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421887-C34C-2216-D0D3-4091150D4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4765C-65F0-AC42-C199-2251E137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96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3A4DC-4417-540D-E3C3-E4882447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0690-9135-768D-E629-4A39B3F18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4B34F-51D9-B290-58D7-E0099C0FD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30CD7-1EE4-660D-E640-A6F8F932E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85F89-835D-952C-C382-BC040830C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CCC9B-E1EA-DA32-BE63-E70E06212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82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81127-FD56-322C-5611-EF3467F7F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89DA5-2C14-0593-C773-70B364A7C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F2E92-6347-AFBC-83D0-2F4C68DF6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74055-FCC8-1010-4A19-5797FB0CE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6A040-625B-7A9B-5730-142F5DF16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F6715-D053-6AFA-2E67-DCCC50CC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06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60BD3-AF25-42E9-7D28-8F3F200FA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5CB47-7871-81B5-3B12-A1FB6E8CB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C8A99-FD3A-BAE8-05AD-60ACE6BFB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BF021-A791-C53F-C5C0-7287762C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C8306-EA91-5B10-C89E-065245780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8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B3E7A-F063-D820-6EAD-2F8599B47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56B141-A5C3-1976-52B6-D276A317C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A22840-65D9-F474-6CC1-5CB23D6CC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300BD-F98C-7E86-7EB4-77FDA5B6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CEE4C-5346-EF7B-7D7E-4D720AD8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4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DCAF7-4B93-9C85-EAAF-83CECCF6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3C39E-240A-EF46-8D0F-EB152C4EA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A9399-1767-AA05-177B-EB6CF98E9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67001-07D8-5A43-AC5C-E40BEB75CBD6}" type="datetimeFigureOut">
              <a:rPr lang="en-US" smtClean="0"/>
              <a:t>4/10/25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75A57-5493-50B3-9B79-C973A8F25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AAC3B-F1C0-61C1-1775-14A3C17D2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E820C5-B251-6A4E-8E14-88D240D0E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908E-D53B-E465-491A-4B0FBEACA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5924"/>
            <a:ext cx="10515600" cy="764427"/>
          </a:xfrm>
        </p:spPr>
        <p:txBody>
          <a:bodyPr>
            <a:normAutofit/>
          </a:bodyPr>
          <a:lstStyle/>
          <a:p>
            <a:r>
              <a:rPr lang="ru-RU" dirty="0"/>
              <a:t>Что нужно сделать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1E2E-7E03-C32C-43CC-4F2CD05BE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351"/>
            <a:ext cx="10515600" cy="1711174"/>
          </a:xfrm>
        </p:spPr>
        <p:txBody>
          <a:bodyPr>
            <a:noAutofit/>
          </a:bodyPr>
          <a:lstStyle/>
          <a:p>
            <a:r>
              <a:rPr lang="ru-RU" dirty="0"/>
              <a:t>Создать ветку</a:t>
            </a:r>
          </a:p>
          <a:p>
            <a:r>
              <a:rPr lang="ru-RU" dirty="0"/>
              <a:t>Добавить 5 фильмов в </a:t>
            </a:r>
            <a:r>
              <a:rPr lang="en-US" dirty="0"/>
              <a:t>movies</a:t>
            </a:r>
            <a:r>
              <a:rPr lang="en-RU"/>
              <a:t>.</a:t>
            </a:r>
            <a:r>
              <a:rPr lang="en-US" dirty="0"/>
              <a:t>txt</a:t>
            </a:r>
            <a:endParaRPr lang="en-RU" dirty="0"/>
          </a:p>
          <a:p>
            <a:r>
              <a:rPr lang="ru-RU" dirty="0"/>
              <a:t>Запушить, сделать </a:t>
            </a:r>
            <a:r>
              <a:rPr lang="en-US" dirty="0"/>
              <a:t>PR </a:t>
            </a:r>
            <a:r>
              <a:rPr lang="ru-RU" dirty="0"/>
              <a:t>и попросить его </a:t>
            </a:r>
            <a:r>
              <a:rPr lang="ru-RU" dirty="0" err="1"/>
              <a:t>замержить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E4F484-BBAD-971C-3DDE-CCB252002401}"/>
                  </a:ext>
                </a:extLst>
              </p:cNvPr>
              <p:cNvSpPr txBox="1"/>
              <p:nvPr/>
            </p:nvSpPr>
            <p:spPr>
              <a:xfrm>
                <a:off x="838200" y="3868617"/>
                <a:ext cx="9485225" cy="19366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ru-RU" sz="2800" dirty="0"/>
                  <a:t>Топ фильмов в год вашего рождения или любой другой</a:t>
                </a:r>
                <a:endParaRPr lang="en-US" sz="2800" dirty="0"/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ru-RU" sz="2800" dirty="0"/>
                  <a:t>Кто продержался в топе дольше всего</a:t>
                </a:r>
                <a:endParaRPr lang="en-US" sz="2800" dirty="0"/>
              </a:p>
              <a:p>
                <a:pPr marL="228600" indent="-228600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ru-RU" sz="2800" dirty="0"/>
                  <a:t>Биоразнообразие </a:t>
                </a:r>
                <a:r>
                  <a:rPr lang="en-US" sz="2800" dirty="0"/>
                  <a:t>(</a:t>
                </a:r>
                <a:r>
                  <a:rPr lang="ru-RU" sz="2800" dirty="0"/>
                  <a:t>актеров</a:t>
                </a:r>
                <a:r>
                  <a:rPr lang="en-US" sz="2800" dirty="0"/>
                  <a:t>) </a:t>
                </a:r>
                <a:r>
                  <a:rPr lang="ru-RU" sz="2800" dirty="0"/>
                  <a:t>за каждый год</a:t>
                </a:r>
                <a:endParaRPr lang="en-US" sz="2800" dirty="0"/>
              </a:p>
              <a:p>
                <a:pPr>
                  <a:lnSpc>
                    <a:spcPct val="90000"/>
                  </a:lnSpc>
                  <a:spcBef>
                    <a:spcPts val="1000"/>
                  </a:spcBef>
                </a:pPr>
                <a:r>
                  <a:rPr lang="ru-RU" sz="2000" dirty="0"/>
                  <a:t>	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ru-RU" sz="2000" dirty="0"/>
                  <a:t>   </a:t>
                </a:r>
                <a14:m>
                  <m:oMath xmlns:m="http://schemas.openxmlformats.org/officeDocument/2006/math">
                    <m:r>
                      <a:rPr lang="en-US" sz="2000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</a:t>
                </a:r>
                <a:r>
                  <a:rPr lang="ru-RU" sz="2000" dirty="0"/>
                  <a:t>– кол-во актеров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RU" sz="2000" dirty="0"/>
                  <a:t> </a:t>
                </a:r>
                <a:r>
                  <a:rPr lang="en-RU" sz="2000"/>
                  <a:t>- </a:t>
                </a:r>
                <a:r>
                  <a:rPr lang="ru-RU" sz="2000" dirty="0"/>
                  <a:t>частота попаданий актера в топ</a:t>
                </a:r>
                <a:endParaRPr lang="en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E4F484-BBAD-971C-3DDE-CCB252002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68617"/>
                <a:ext cx="9485225" cy="1936684"/>
              </a:xfrm>
              <a:prstGeom prst="rect">
                <a:avLst/>
              </a:prstGeom>
              <a:blipFill>
                <a:blip r:embed="rId2"/>
                <a:stretch>
                  <a:fillRect l="-1205" t="-5229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74869F14-CCCA-8BE3-8F4D-FBDFDD492998}"/>
              </a:ext>
            </a:extLst>
          </p:cNvPr>
          <p:cNvSpPr txBox="1">
            <a:spLocks/>
          </p:cNvSpPr>
          <p:nvPr/>
        </p:nvSpPr>
        <p:spPr>
          <a:xfrm>
            <a:off x="838200" y="3096089"/>
            <a:ext cx="10515600" cy="772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Что еще можно сделать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029290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F0AB-94F3-85A9-CED7-E3D9B6F47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</a:t>
            </a:r>
            <a:r>
              <a:rPr lang="en-US" dirty="0"/>
              <a:t>: </a:t>
            </a:r>
            <a:r>
              <a:rPr lang="en-RU"/>
              <a:t>https </a:t>
            </a:r>
            <a:r>
              <a:rPr lang="en-RU" dirty="0"/>
              <a:t>vs ssh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9FF9BF-4B11-B384-02E1-0CC6D0AB2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45" t="2757" r="872"/>
          <a:stretch/>
        </p:blipFill>
        <p:spPr>
          <a:xfrm>
            <a:off x="937549" y="1794076"/>
            <a:ext cx="10324618" cy="3646753"/>
          </a:xfrm>
          <a:prstGeom prst="rect">
            <a:avLst/>
          </a:prstGeom>
          <a:effectLst>
            <a:glow rad="317500">
              <a:schemeClr val="bg1">
                <a:lumMod val="50000"/>
                <a:alpha val="3000"/>
              </a:schemeClr>
            </a:glo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947E46-4670-E6ED-B6D8-A137D8DB9C84}"/>
              </a:ext>
            </a:extLst>
          </p:cNvPr>
          <p:cNvSpPr/>
          <p:nvPr/>
        </p:nvSpPr>
        <p:spPr>
          <a:xfrm>
            <a:off x="5263250" y="3429000"/>
            <a:ext cx="1033377" cy="39064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F6FEB4-4D6C-4615-EF83-EE1C09BC32E7}"/>
              </a:ext>
            </a:extLst>
          </p:cNvPr>
          <p:cNvSpPr/>
          <p:nvPr/>
        </p:nvSpPr>
        <p:spPr>
          <a:xfrm>
            <a:off x="6377651" y="3429000"/>
            <a:ext cx="810228" cy="390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B6E763-10FF-8C75-21BD-6519A16655CD}"/>
              </a:ext>
            </a:extLst>
          </p:cNvPr>
          <p:cNvSpPr txBox="1"/>
          <p:nvPr/>
        </p:nvSpPr>
        <p:spPr>
          <a:xfrm>
            <a:off x="838200" y="5661878"/>
            <a:ext cx="9544291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</a:rPr>
              <a:t>HTTPS – </a:t>
            </a:r>
            <a:r>
              <a:rPr lang="ru-RU" sz="2400" dirty="0">
                <a:solidFill>
                  <a:srgbClr val="C00000"/>
                </a:solidFill>
              </a:rPr>
              <a:t>по токену (то что сгенерировали перед занятием)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</a:rPr>
              <a:t>SSH – </a:t>
            </a:r>
            <a:r>
              <a:rPr lang="ru-RU" sz="2400" dirty="0">
                <a:solidFill>
                  <a:srgbClr val="C00000"/>
                </a:solidFill>
              </a:rPr>
              <a:t>по </a:t>
            </a:r>
            <a:r>
              <a:rPr lang="en-US" sz="2400" dirty="0">
                <a:solidFill>
                  <a:srgbClr val="C00000"/>
                </a:solidFill>
              </a:rPr>
              <a:t>SSH </a:t>
            </a:r>
            <a:r>
              <a:rPr lang="ru-RU" sz="2400" dirty="0">
                <a:solidFill>
                  <a:srgbClr val="C00000"/>
                </a:solidFill>
              </a:rPr>
              <a:t>ключам (нужно генерировать)</a:t>
            </a:r>
          </a:p>
        </p:txBody>
      </p:sp>
    </p:spTree>
    <p:extLst>
      <p:ext uri="{BB962C8B-B14F-4D97-AF65-F5344CB8AC3E}">
        <p14:creationId xmlns:p14="http://schemas.microsoft.com/office/powerpoint/2010/main" val="398647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5D943-8A13-B19C-FCC0-644543AE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amend</a:t>
            </a:r>
            <a:r>
              <a:rPr lang="ru-RU" dirty="0"/>
              <a:t> – редактирует последний коммит</a:t>
            </a:r>
            <a:endParaRPr lang="en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F15D14-4655-2BE1-1231-1AD99FCB6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8062" y="1341465"/>
            <a:ext cx="7531439" cy="58797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AD60D9-282F-D9EF-7D82-99465C546615}"/>
              </a:ext>
            </a:extLst>
          </p:cNvPr>
          <p:cNvSpPr txBox="1"/>
          <p:nvPr/>
        </p:nvSpPr>
        <p:spPr>
          <a:xfrm>
            <a:off x="7834513" y="1690688"/>
            <a:ext cx="3179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Только последний</a:t>
            </a:r>
          </a:p>
          <a:p>
            <a:r>
              <a:rPr lang="ru-RU" sz="2400" dirty="0">
                <a:solidFill>
                  <a:srgbClr val="C00000"/>
                </a:solidFill>
              </a:rPr>
              <a:t>Только не запушенный</a:t>
            </a:r>
            <a:endParaRPr lang="en-RU" sz="2400" dirty="0">
              <a:solidFill>
                <a:srgbClr val="C0000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BDB109-286B-ED3A-752B-6D53470ABAE1}"/>
              </a:ext>
            </a:extLst>
          </p:cNvPr>
          <p:cNvCxnSpPr>
            <a:cxnSpLocks/>
          </p:cNvCxnSpPr>
          <p:nvPr/>
        </p:nvCxnSpPr>
        <p:spPr>
          <a:xfrm>
            <a:off x="4877781" y="3345045"/>
            <a:ext cx="190930" cy="470599"/>
          </a:xfrm>
          <a:prstGeom prst="line">
            <a:avLst/>
          </a:prstGeom>
          <a:ln w="38100">
            <a:solidFill>
              <a:srgbClr val="C0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70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A1E1-486C-1938-B1D2-950B3C27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</a:t>
            </a:r>
            <a:r>
              <a:rPr lang="en-RU" dirty="0"/>
              <a:t>ush rejection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591A46-F613-4477-3D5D-3EDD28D1C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1" t="1537" r="1002" b="1482"/>
          <a:stretch/>
        </p:blipFill>
        <p:spPr>
          <a:xfrm>
            <a:off x="888881" y="1748221"/>
            <a:ext cx="7527851" cy="3627600"/>
          </a:xfrm>
          <a:prstGeom prst="rect">
            <a:avLst/>
          </a:prstGeom>
          <a:effectLst>
            <a:glow rad="317500">
              <a:schemeClr val="bg1">
                <a:lumMod val="50000"/>
                <a:alpha val="5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73461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12F7-1D96-5978-D4B2-235938B5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F717B-92A2-F928-CEDA-FAD7A59F8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9223"/>
            <a:ext cx="34051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800" dirty="0">
              <a:solidFill>
                <a:schemeClr val="accent6"/>
              </a:solidFill>
              <a:latin typeface="Monaco" pitchFamily="2" charset="77"/>
            </a:endParaRPr>
          </a:p>
          <a:p>
            <a:pPr marL="0" indent="0">
              <a:buNone/>
            </a:pPr>
            <a:r>
              <a:rPr lang="en-RU" sz="1800">
                <a:solidFill>
                  <a:schemeClr val="accent6"/>
                </a:solidFill>
                <a:latin typeface="Monaco" pitchFamily="2" charset="77"/>
              </a:rPr>
              <a:t>&lt;&lt;&lt;&lt;&lt;&lt;&lt;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feature-a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accent6"/>
                </a:solidFill>
                <a:latin typeface="Monaco" pitchFamily="2" charset="77"/>
              </a:rPr>
              <a:t>Изменения из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feature-a</a:t>
            </a:r>
          </a:p>
          <a:p>
            <a:pPr marL="0" indent="0">
              <a:buNone/>
            </a:pPr>
            <a:r>
              <a:rPr lang="en-RU" sz="1800" dirty="0">
                <a:latin typeface="Monaco" pitchFamily="2" charset="77"/>
              </a:rPr>
              <a:t>=======</a:t>
            </a:r>
            <a:endParaRPr lang="en-US" sz="18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accent4"/>
                </a:solidFill>
                <a:latin typeface="Monaco" pitchFamily="2" charset="77"/>
              </a:rPr>
              <a:t>Изменения из </a:t>
            </a: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main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4"/>
                </a:solidFill>
                <a:latin typeface="Monaco" pitchFamily="2" charset="77"/>
              </a:rPr>
              <a:t>&gt;&gt;&gt;&gt;&gt;&gt;&gt; main</a:t>
            </a:r>
            <a:endParaRPr lang="en-RU" sz="1800" dirty="0">
              <a:solidFill>
                <a:schemeClr val="accent4"/>
              </a:solidFill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0826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B7B14-0157-0670-79E1-DC4BDE0A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F33F6-8473-2959-B4B1-2FEB0697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57383-88F9-498C-99C0-DE476CAE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9223"/>
            <a:ext cx="340518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1800" dirty="0">
              <a:solidFill>
                <a:schemeClr val="accent6"/>
              </a:solidFill>
              <a:latin typeface="Monaco" pitchFamily="2" charset="77"/>
            </a:endParaRPr>
          </a:p>
          <a:p>
            <a:pPr marL="0" indent="0">
              <a:buNone/>
            </a:pPr>
            <a:r>
              <a:rPr lang="en-RU" sz="1800">
                <a:solidFill>
                  <a:schemeClr val="accent6"/>
                </a:solidFill>
                <a:latin typeface="Monaco" pitchFamily="2" charset="77"/>
              </a:rPr>
              <a:t>&lt;&lt;&lt;&lt;&lt;&lt;&lt;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feature-a</a:t>
            </a:r>
          </a:p>
          <a:p>
            <a:pPr marL="0" indent="0">
              <a:buNone/>
            </a:pPr>
            <a:r>
              <a:rPr lang="ru-RU" sz="1800" dirty="0">
                <a:solidFill>
                  <a:schemeClr val="accent6"/>
                </a:solidFill>
                <a:latin typeface="Monaco" pitchFamily="2" charset="77"/>
              </a:rPr>
              <a:t>Изменения из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feature-a</a:t>
            </a:r>
          </a:p>
          <a:p>
            <a:pPr marL="0" indent="0">
              <a:buNone/>
            </a:pPr>
            <a:r>
              <a:rPr lang="en-RU" sz="1800" dirty="0">
                <a:latin typeface="Monaco" pitchFamily="2" charset="77"/>
              </a:rPr>
              <a:t>=======</a:t>
            </a:r>
            <a:endParaRPr lang="en-US" sz="1800" dirty="0">
              <a:latin typeface="Monaco" pitchFamily="2" charset="77"/>
            </a:endParaRPr>
          </a:p>
          <a:p>
            <a:pPr marL="0" indent="0">
              <a:buNone/>
            </a:pPr>
            <a:r>
              <a:rPr lang="ru-RU" sz="1800" dirty="0">
                <a:solidFill>
                  <a:schemeClr val="accent4"/>
                </a:solidFill>
                <a:latin typeface="Monaco" pitchFamily="2" charset="77"/>
              </a:rPr>
              <a:t>Изменения из </a:t>
            </a: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main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accent4"/>
                </a:solidFill>
                <a:latin typeface="Monaco" pitchFamily="2" charset="77"/>
              </a:rPr>
              <a:t>&gt;&gt;&gt;&gt;&gt;&gt;&gt; main</a:t>
            </a:r>
            <a:endParaRPr lang="en-RU" sz="1800" dirty="0">
              <a:solidFill>
                <a:schemeClr val="accent4"/>
              </a:solidFill>
              <a:latin typeface="Monaco" pitchFamily="2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D8D110-248A-BE83-1356-B445BAE00F9A}"/>
              </a:ext>
            </a:extLst>
          </p:cNvPr>
          <p:cNvSpPr txBox="1">
            <a:spLocks/>
          </p:cNvSpPr>
          <p:nvPr/>
        </p:nvSpPr>
        <p:spPr>
          <a:xfrm>
            <a:off x="6515099" y="2379223"/>
            <a:ext cx="48387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latin typeface="Monaco" pitchFamily="2" charset="77"/>
              </a:rPr>
              <a:t>Убираем вспомогательные символы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latin typeface="Monaco" pitchFamily="2" charset="77"/>
              </a:rPr>
              <a:t>Согласуем между собой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>
              <a:latin typeface="Monaco" pitchFamily="2" charset="7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latin typeface="Monaco" pitchFamily="2" charset="77"/>
              </a:rPr>
              <a:t>Изменения из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feature-a</a:t>
            </a:r>
            <a:r>
              <a:rPr lang="en-US" sz="1800" dirty="0">
                <a:latin typeface="Monaco" pitchFamily="2" charset="77"/>
              </a:rPr>
              <a:t> </a:t>
            </a:r>
            <a:r>
              <a:rPr lang="ru-RU" sz="1800" dirty="0">
                <a:latin typeface="Monaco" pitchFamily="2" charset="77"/>
              </a:rPr>
              <a:t>и </a:t>
            </a: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main</a:t>
            </a:r>
            <a:endParaRPr lang="ru-RU" sz="1800" dirty="0">
              <a:solidFill>
                <a:schemeClr val="accent4"/>
              </a:solidFill>
              <a:latin typeface="Monaco" pitchFamily="2" charset="77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sz="1800" dirty="0">
              <a:solidFill>
                <a:schemeClr val="accent4"/>
              </a:solidFill>
              <a:latin typeface="Monaco" pitchFamily="2" charset="7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800" dirty="0">
                <a:latin typeface="Monaco" pitchFamily="2" charset="77"/>
              </a:rPr>
              <a:t>Чтобы был обычный запускаемый код</a:t>
            </a:r>
            <a:endParaRPr lang="en-US" sz="1800" dirty="0">
              <a:latin typeface="Monaco" pitchFamily="2" charset="77"/>
            </a:endParaRP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DDABC1B-B1B3-ADF0-FE61-6E56213340D2}"/>
              </a:ext>
            </a:extLst>
          </p:cNvPr>
          <p:cNvSpPr/>
          <p:nvPr/>
        </p:nvSpPr>
        <p:spPr>
          <a:xfrm>
            <a:off x="4243388" y="3429000"/>
            <a:ext cx="2097098" cy="55359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25441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C7616-9946-C373-3082-8810738E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2D04-727D-B478-6470-9F9F9CD8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0A95C-C09B-3EA8-AE18-8DB55E39B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821935" cy="490378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latin typeface="Monaco" pitchFamily="2" charset="77"/>
              </a:rPr>
              <a:t>l</a:t>
            </a:r>
            <a:r>
              <a:rPr lang="en-RU" sz="1800" dirty="0">
                <a:latin typeface="Monaco" pitchFamily="2" charset="77"/>
              </a:rPr>
              <a:t>ibrary(tidyverse)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GB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latin typeface="Monaco" pitchFamily="2" charset="77"/>
              </a:rPr>
              <a:t>s</a:t>
            </a:r>
            <a:r>
              <a:rPr lang="en-RU" sz="1800" dirty="0">
                <a:latin typeface="Monaco" pitchFamily="2" charset="77"/>
              </a:rPr>
              <a:t>ource("data.R")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RU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>
                <a:solidFill>
                  <a:schemeClr val="accent6"/>
                </a:solidFill>
                <a:latin typeface="Monaco" pitchFamily="2" charset="77"/>
              </a:rPr>
              <a:t>&lt;&lt;&lt;&lt;&lt;&lt;&lt;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advanced-plots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solidFill>
                  <a:schemeClr val="accent6"/>
                </a:solidFill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plot(density(top$x))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=======</a:t>
            </a:r>
            <a:endParaRPr lang="en-US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solidFill>
                  <a:schemeClr val="accent4"/>
                </a:solidFill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ggplot(top, aes(x)) +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  geom_histogram()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solidFill>
                  <a:schemeClr val="accent4"/>
                </a:solidFill>
                <a:latin typeface="Monaco" pitchFamily="2" charset="77"/>
              </a:rPr>
              <a:t>&gt;&gt;&gt;&gt;&gt;&gt;&gt; main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RU" sz="1800" dirty="0">
              <a:latin typeface="Monac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1073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01449-DDC5-1683-7115-0CDD4B4A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372E-CE7E-B2EF-4829-EC4FE4BA9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D9AD5-3406-BC0E-2008-55917CA86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821935" cy="490378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latin typeface="Monaco" pitchFamily="2" charset="77"/>
              </a:rPr>
              <a:t>l</a:t>
            </a:r>
            <a:r>
              <a:rPr lang="en-RU" sz="1800" dirty="0">
                <a:latin typeface="Monaco" pitchFamily="2" charset="77"/>
              </a:rPr>
              <a:t>ibrary(tidyverse)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GB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latin typeface="Monaco" pitchFamily="2" charset="77"/>
              </a:rPr>
              <a:t>s</a:t>
            </a:r>
            <a:r>
              <a:rPr lang="en-RU" sz="1800" dirty="0">
                <a:latin typeface="Monaco" pitchFamily="2" charset="77"/>
              </a:rPr>
              <a:t>ource("data.R")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RU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>
                <a:solidFill>
                  <a:schemeClr val="accent6"/>
                </a:solidFill>
                <a:latin typeface="Monaco" pitchFamily="2" charset="77"/>
              </a:rPr>
              <a:t>&lt;&lt;&lt;&lt;&lt;&lt;&lt;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advanced-plots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solidFill>
                  <a:schemeClr val="accent6"/>
                </a:solidFill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plot(density(top$x))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=======</a:t>
            </a:r>
            <a:endParaRPr lang="en-US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solidFill>
                  <a:schemeClr val="accent4"/>
                </a:solidFill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ggplot(top, aes(x)) +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  geom_histogram()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solidFill>
                  <a:schemeClr val="accent4"/>
                </a:solidFill>
                <a:latin typeface="Monaco" pitchFamily="2" charset="77"/>
              </a:rPr>
              <a:t>&gt;&gt;&gt;&gt;&gt;&gt;&gt; main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RU" sz="1800" dirty="0">
              <a:latin typeface="Monaco" pitchFamily="2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81957E-44C1-703E-8845-7A2EC9E5EF62}"/>
              </a:ext>
            </a:extLst>
          </p:cNvPr>
          <p:cNvSpPr txBox="1">
            <a:spLocks/>
          </p:cNvSpPr>
          <p:nvPr/>
        </p:nvSpPr>
        <p:spPr>
          <a:xfrm>
            <a:off x="6634163" y="1690688"/>
            <a:ext cx="3821935" cy="4903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GB" sz="1800" dirty="0">
                <a:latin typeface="Monaco" pitchFamily="2" charset="77"/>
              </a:rPr>
              <a:t>l</a:t>
            </a:r>
            <a:r>
              <a:rPr lang="en-RU" sz="1800">
                <a:latin typeface="Monaco" pitchFamily="2" charset="77"/>
              </a:rPr>
              <a:t>ibrary(tidyverse)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endParaRPr lang="en-GB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GB" sz="1800" dirty="0">
                <a:latin typeface="Monaco" pitchFamily="2" charset="77"/>
              </a:rPr>
              <a:t>s</a:t>
            </a:r>
            <a:r>
              <a:rPr lang="en-RU" sz="1800">
                <a:latin typeface="Monaco" pitchFamily="2" charset="77"/>
              </a:rPr>
              <a:t>ource("data.R")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endParaRPr lang="en-RU" sz="180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800" dirty="0">
                <a:solidFill>
                  <a:srgbClr val="0E9ED5"/>
                </a:solidFill>
                <a:latin typeface="Monaco" pitchFamily="2" charset="77"/>
              </a:rPr>
              <a:t>ggplot(top, aes(x)) +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Monaco" pitchFamily="2" charset="77"/>
              </a:rPr>
              <a:t>  </a:t>
            </a:r>
            <a:r>
              <a:rPr lang="en-US" sz="1800" dirty="0">
                <a:solidFill>
                  <a:srgbClr val="4DA72E"/>
                </a:solidFill>
                <a:latin typeface="Monaco" pitchFamily="2" charset="77"/>
              </a:rPr>
              <a:t>geom_density()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endParaRPr lang="en-RU" sz="1800" dirty="0">
              <a:latin typeface="Monaco" pitchFamily="2" charset="77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1C55E86-2F4E-8589-C3C1-41C106883401}"/>
              </a:ext>
            </a:extLst>
          </p:cNvPr>
          <p:cNvSpPr/>
          <p:nvPr/>
        </p:nvSpPr>
        <p:spPr>
          <a:xfrm>
            <a:off x="4243388" y="3971925"/>
            <a:ext cx="2097098" cy="55359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91241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51B7D-ED7E-5384-F643-4A044FFF9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9FF1-429A-4A4D-FC3D-B332D67CA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</a:t>
            </a:r>
            <a:r>
              <a:rPr lang="en-RU" dirty="0"/>
              <a:t>erge conflict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19CB4-54C5-8DD9-A05C-337AF3FE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3821935" cy="490378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latin typeface="Monaco" pitchFamily="2" charset="77"/>
              </a:rPr>
              <a:t>l</a:t>
            </a:r>
            <a:r>
              <a:rPr lang="en-RU" sz="1800" dirty="0">
                <a:latin typeface="Monaco" pitchFamily="2" charset="77"/>
              </a:rPr>
              <a:t>ibrary(tidyverse)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GB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latin typeface="Monaco" pitchFamily="2" charset="77"/>
              </a:rPr>
              <a:t>s</a:t>
            </a:r>
            <a:r>
              <a:rPr lang="en-RU" sz="1800" dirty="0">
                <a:latin typeface="Monaco" pitchFamily="2" charset="77"/>
              </a:rPr>
              <a:t>ource("data.R")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RU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>
                <a:solidFill>
                  <a:schemeClr val="accent6"/>
                </a:solidFill>
                <a:latin typeface="Monaco" pitchFamily="2" charset="77"/>
              </a:rPr>
              <a:t>&lt;&lt;&lt;&lt;&lt;&lt;&lt;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advanced-plots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solidFill>
                  <a:schemeClr val="accent6"/>
                </a:solidFill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6"/>
                </a:solidFill>
                <a:latin typeface="Monaco" pitchFamily="2" charset="77"/>
              </a:rPr>
              <a:t>plot(density(top$x))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=======</a:t>
            </a:r>
            <a:endParaRPr lang="en-US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solidFill>
                  <a:schemeClr val="accent4"/>
                </a:solidFill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ggplot(top, aes(x)) +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chemeClr val="accent4"/>
                </a:solidFill>
                <a:latin typeface="Monaco" pitchFamily="2" charset="77"/>
              </a:rPr>
              <a:t>  geom_histogram()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GB" sz="1800" dirty="0">
                <a:solidFill>
                  <a:schemeClr val="accent4"/>
                </a:solidFill>
                <a:latin typeface="Monaco" pitchFamily="2" charset="77"/>
              </a:rPr>
              <a:t>&gt;&gt;&gt;&gt;&gt;&gt;&gt; main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r>
              <a:rPr lang="en-RU" sz="1800" dirty="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None/>
            </a:pPr>
            <a:endParaRPr lang="en-RU" sz="1800" dirty="0">
              <a:latin typeface="Monaco" pitchFamily="2" charset="77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F467AD9-6D00-0553-3439-3C65E9CCFF5A}"/>
              </a:ext>
            </a:extLst>
          </p:cNvPr>
          <p:cNvSpPr txBox="1">
            <a:spLocks/>
          </p:cNvSpPr>
          <p:nvPr/>
        </p:nvSpPr>
        <p:spPr>
          <a:xfrm>
            <a:off x="6634163" y="1690688"/>
            <a:ext cx="3821935" cy="49037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GB" sz="1800" dirty="0">
                <a:latin typeface="Monaco" pitchFamily="2" charset="77"/>
              </a:rPr>
              <a:t>l</a:t>
            </a:r>
            <a:r>
              <a:rPr lang="en-RU" sz="1800">
                <a:latin typeface="Monaco" pitchFamily="2" charset="77"/>
              </a:rPr>
              <a:t>ibrary(tidyverse)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endParaRPr lang="en-GB" sz="1800" dirty="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GB" sz="1800" dirty="0">
                <a:latin typeface="Monaco" pitchFamily="2" charset="77"/>
              </a:rPr>
              <a:t>s</a:t>
            </a:r>
            <a:r>
              <a:rPr lang="en-RU" sz="1800">
                <a:latin typeface="Monaco" pitchFamily="2" charset="77"/>
              </a:rPr>
              <a:t>ource("data.R")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endParaRPr lang="en-RU" sz="1800">
              <a:latin typeface="Monaco" pitchFamily="2" charset="77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```{r}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Monaco" pitchFamily="2" charset="77"/>
              </a:rPr>
              <a:t>ggplot(top, aes(x)) +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800" dirty="0">
                <a:latin typeface="Monaco" pitchFamily="2" charset="77"/>
              </a:rPr>
              <a:t>  geom_density()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RU" sz="1800">
                <a:latin typeface="Monaco" pitchFamily="2" charset="77"/>
              </a:rPr>
              <a:t>```</a:t>
            </a: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None/>
            </a:pPr>
            <a:endParaRPr lang="en-RU" sz="1800" dirty="0">
              <a:latin typeface="Monaco" pitchFamily="2" charset="77"/>
            </a:endParaRP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06D4B1D-154B-1AD0-0668-9ECA9E27BDEF}"/>
              </a:ext>
            </a:extLst>
          </p:cNvPr>
          <p:cNvSpPr/>
          <p:nvPr/>
        </p:nvSpPr>
        <p:spPr>
          <a:xfrm>
            <a:off x="4243388" y="3971925"/>
            <a:ext cx="2097098" cy="55359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11825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Macintosh PowerPoint</Application>
  <PresentationFormat>Widescreen</PresentationFormat>
  <Paragraphs>105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Monaco</vt:lpstr>
      <vt:lpstr>Office Theme</vt:lpstr>
      <vt:lpstr>Что нужно сделать</vt:lpstr>
      <vt:lpstr>Адрес: https vs ssh</vt:lpstr>
      <vt:lpstr>amend – редактирует последний коммит</vt:lpstr>
      <vt:lpstr>push rejection</vt:lpstr>
      <vt:lpstr>merge conflict</vt:lpstr>
      <vt:lpstr>merge conflict</vt:lpstr>
      <vt:lpstr>merge conflict</vt:lpstr>
      <vt:lpstr>merge conflict</vt:lpstr>
      <vt:lpstr>merge conflict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Kirill Voronin</dc:creator>
  <cp:lastModifiedBy>Kirill Voronin</cp:lastModifiedBy>
  <cp:revision>4</cp:revision>
  <dcterms:created xsi:type="dcterms:W3CDTF">2025-04-04T19:53:00Z</dcterms:created>
  <dcterms:modified xsi:type="dcterms:W3CDTF">2025-04-10T08:26:34Z</dcterms:modified>
</cp:coreProperties>
</file>